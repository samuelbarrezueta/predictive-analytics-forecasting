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embeddedFontLst>
    <p:embeddedFont>
      <p:font typeface="Public Sans" pitchFamily="34" charset="0"/>
      <p:regular r:id="rId28"/>
      <p:bold r:id="rId29"/>
      <p:italic r:id="rId30"/>
      <p:boldItalic r:id="rId3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26120"/>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15213B"/>
                </a:solidFill>
                <a:latin typeface="Libre Baskerville" pitchFamily="34" charset="0"/>
                <a:ea typeface="Libre Baskerville" pitchFamily="34" charset="-122"/>
                <a:cs typeface="Libre Baskerville"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69070"/>
            <a:ext cx="10566400" cy="4276130"/>
          </a:xfrm>
          <a:prstGeom prst="rect">
            <a:avLst/>
          </a:prstGeom>
          <a:noFill/>
          <a:ln/>
        </p:spPr>
        <p:txBody>
          <a:bodyPr wrap="square" lIns="0" tIns="0" rIns="0" bIns="0" rtlCol="0" anchor="t"/>
          <a:lstStyle>
            <a:lvl1pPr algn="l" indent="0" marL="0">
              <a:lnSpc>
                <a:spcPct val="140000"/>
              </a:lnSpc>
              <a:buNone/>
              <a:defRPr lang="en-US" sz="1600" dirty="0">
                <a:solidFill>
                  <a:srgbClr val="15213B"/>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26120"/>
            <a:ext cx="10566400" cy="438150"/>
          </a:xfrm>
          <a:prstGeom prst="rect">
            <a:avLst/>
          </a:prstGeom>
          <a:noFill/>
          <a:ln/>
        </p:spPr>
        <p:txBody>
          <a:bodyPr wrap="square" lIns="0" tIns="0" rIns="0" bIns="0" rtlCol="0" anchor="t"/>
          <a:lstStyle>
            <a:lvl1pPr algn="l" indent="0" marL="0">
              <a:lnSpc>
                <a:spcPct val="115000"/>
              </a:lnSpc>
              <a:buNone/>
              <a:defRPr lang="en-US" sz="3000" dirty="0">
                <a:solidFill>
                  <a:srgbClr val="15213B"/>
                </a:solidFill>
                <a:latin typeface="Libre Baskerville" pitchFamily="34" charset="0"/>
                <a:ea typeface="Libre Baskerville" pitchFamily="34" charset="-122"/>
                <a:cs typeface="Libre Baskerville"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69070"/>
            <a:ext cx="10566400" cy="4276130"/>
          </a:xfrm>
          <a:prstGeom prst="rect">
            <a:avLst/>
          </a:prstGeom>
          <a:noFill/>
          <a:ln/>
        </p:spPr>
        <p:txBody>
          <a:bodyPr wrap="square" lIns="0" tIns="0" rIns="0" bIns="0" rtlCol="0" anchor="t"/>
          <a:lstStyle>
            <a:lvl1pPr algn="l" indent="0" marL="0">
              <a:lnSpc>
                <a:spcPct val="140000"/>
              </a:lnSpc>
              <a:buNone/>
              <a:defRPr lang="en-US" sz="1600" dirty="0">
                <a:solidFill>
                  <a:srgbClr val="15213B"/>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13B"/>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7CCDD"/>
                </a:solidFill>
                <a:latin typeface="Public Sans" pitchFamily="34" charset="0"/>
                <a:ea typeface="Public Sans" pitchFamily="34" charset="-122"/>
                <a:cs typeface="Public Sans" pitchFamily="34" charset="-120"/>
              </a:rPr>
              <a:t>PORTO BUSINESS SCHOOL · EMBAAI · PREDICTIVE ANALYTICS &amp; FORECASTING</a:t>
            </a:r>
            <a:endParaRPr lang="en-US" sz="1400" dirty="0"/>
          </a:p>
        </p:txBody>
      </p:sp>
      <p:sp>
        <p:nvSpPr>
          <p:cNvPr id="3" name="Text 1"/>
          <p:cNvSpPr/>
          <p:nvPr>
            <p:ph type="title"/>
          </p:nvPr>
        </p:nvSpPr>
        <p:spPr>
          <a:xfrm>
            <a:off x="812800" y="2529880"/>
            <a:ext cx="10883392" cy="1422400"/>
          </a:xfrm>
          <a:prstGeom prst="rect">
            <a:avLst/>
          </a:prstGeom>
          <a:noFill/>
          <a:ln/>
        </p:spPr>
        <p:txBody>
          <a:bodyPr wrap="square" lIns="0" tIns="0" rIns="0" bIns="0" rtlCol="0" anchor="t">
            <a:normAutofit/>
          </a:bodyPr>
          <a:lstStyle/>
          <a:p>
            <a:pPr algn="l" indent="0" marL="0">
              <a:lnSpc>
                <a:spcPts val="5500"/>
              </a:lnSpc>
              <a:buNone/>
            </a:pPr>
            <a:r>
              <a:rPr lang="en-US" sz="5000" b="1" i="0" dirty="0">
                <a:solidFill>
                  <a:srgbClr val="F4F1E8"/>
                </a:solidFill>
                <a:latin typeface="Libre Baskerville" pitchFamily="18" charset="0"/>
                <a:ea typeface="Libre Baskerville" pitchFamily="18" charset="-122"/>
                <a:cs typeface="Libre Baskerville" pitchFamily="18" charset="-120"/>
              </a:rPr>
              <a:t>Predictive Analytics</a:t>
            </a:r>
            <a:endParaRPr lang="en-US" sz="5000" dirty="0"/>
          </a:p>
          <a:p>
            <a:pPr algn="l" indent="0" marL="0">
              <a:lnSpc>
                <a:spcPts val="5500"/>
              </a:lnSpc>
              <a:buNone/>
            </a:pPr>
            <a:r>
              <a:rPr lang="en-US" sz="5000" b="1" i="0" dirty="0">
                <a:solidFill>
                  <a:srgbClr val="F4F1E8"/>
                </a:solidFill>
                <a:latin typeface="Libre Baskerville" pitchFamily="18" charset="0"/>
                <a:ea typeface="Libre Baskerville" pitchFamily="18" charset="-122"/>
                <a:cs typeface="Libre Baskerville" pitchFamily="18" charset="-120"/>
              </a:rPr>
              <a:t>for Road Safety</a:t>
            </a:r>
            <a:endParaRPr lang="en-US" sz="5000" dirty="0"/>
          </a:p>
        </p:txBody>
      </p:sp>
      <p:sp>
        <p:nvSpPr>
          <p:cNvPr id="4" name="Text 2"/>
          <p:cNvSpPr/>
          <p:nvPr/>
        </p:nvSpPr>
        <p:spPr>
          <a:xfrm>
            <a:off x="812800" y="407928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7CCDD"/>
                </a:solidFill>
                <a:latin typeface="Public Sans" pitchFamily="34" charset="0"/>
                <a:ea typeface="Public Sans" pitchFamily="34" charset="-122"/>
                <a:cs typeface="Public Sans" pitchFamily="34" charset="-120"/>
              </a:rPr>
              <a:t>Group project — draft outline</a:t>
            </a:r>
            <a:endParaRPr lang="en-US" sz="1600" dirty="0"/>
          </a:p>
        </p:txBody>
      </p:sp>
      <p:sp>
        <p:nvSpPr>
          <p:cNvPr id="5" name="Text 3"/>
          <p:cNvSpPr/>
          <p:nvPr/>
        </p:nvSpPr>
        <p:spPr>
          <a:xfrm>
            <a:off x="812800" y="5831880"/>
            <a:ext cx="20356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3AC"/>
                </a:solidFill>
                <a:latin typeface="Public Sans" pitchFamily="34" charset="0"/>
                <a:ea typeface="Public Sans" pitchFamily="34" charset="-122"/>
                <a:cs typeface="Public Sans" pitchFamily="34" charset="-120"/>
              </a:rPr>
              <a:t>[Member 1] · [Member 2]</a:t>
            </a:r>
            <a:endParaRPr lang="en-US" sz="1200" dirty="0"/>
          </a:p>
        </p:txBody>
      </p:sp>
      <p:sp>
        <p:nvSpPr>
          <p:cNvPr id="6" name="Text 4"/>
          <p:cNvSpPr/>
          <p:nvPr/>
        </p:nvSpPr>
        <p:spPr>
          <a:xfrm>
            <a:off x="6995795" y="5831880"/>
            <a:ext cx="4383405"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B93AC"/>
                </a:solidFill>
                <a:latin typeface="Public Sans" pitchFamily="34" charset="0"/>
                <a:ea typeface="Public Sans" pitchFamily="34" charset="-122"/>
                <a:cs typeface="Public Sans" pitchFamily="34" charset="-120"/>
              </a:rPr>
              <a:t>Presentation 20 Oct 2026 · Submission 27 Oct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5213B"/>
                </a:solidFill>
                <a:latin typeface="Libre Baskerville" pitchFamily="18" charset="0"/>
                <a:ea typeface="Libre Baskerville" pitchFamily="18" charset="-122"/>
                <a:cs typeface="Libre Baskerville" pitchFamily="18" charset="-120"/>
              </a:rPr>
              <a:t>Agenda — 10 minutes</a:t>
            </a:r>
            <a:endParaRPr lang="en-US" sz="3200" dirty="0"/>
          </a:p>
        </p:txBody>
      </p:sp>
      <p:sp>
        <p:nvSpPr>
          <p:cNvPr id="3" name="Shape 1"/>
          <p:cNvSpPr/>
          <p:nvPr/>
        </p:nvSpPr>
        <p:spPr>
          <a:xfrm>
            <a:off x="815975" y="1511895"/>
            <a:ext cx="10560050" cy="631180"/>
          </a:xfrm>
          <a:prstGeom prst="roundRect">
            <a:avLst>
              <a:gd name="adj" fmla="val 11570"/>
            </a:avLst>
          </a:prstGeom>
          <a:solidFill>
            <a:srgbClr val="FDFDFB"/>
          </a:solidFill>
          <a:ln w="6350">
            <a:solidFill>
              <a:srgbClr val="E2DFD6"/>
            </a:solidFill>
            <a:prstDash val="solid"/>
          </a:ln>
        </p:spPr>
      </p:sp>
      <p:sp>
        <p:nvSpPr>
          <p:cNvPr id="4" name="Text 2"/>
          <p:cNvSpPr/>
          <p:nvPr/>
        </p:nvSpPr>
        <p:spPr>
          <a:xfrm>
            <a:off x="1073150" y="1667470"/>
            <a:ext cx="558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B05A26"/>
                </a:solidFill>
                <a:latin typeface="Public Sans" pitchFamily="34" charset="0"/>
                <a:ea typeface="Public Sans" pitchFamily="34" charset="-122"/>
                <a:cs typeface="Public Sans" pitchFamily="34" charset="-120"/>
              </a:rPr>
              <a:t>01</a:t>
            </a:r>
            <a:endParaRPr lang="en-US" sz="1800" dirty="0"/>
          </a:p>
        </p:txBody>
      </p:sp>
      <p:sp>
        <p:nvSpPr>
          <p:cNvPr id="5" name="Text 3"/>
          <p:cNvSpPr/>
          <p:nvPr/>
        </p:nvSpPr>
        <p:spPr>
          <a:xfrm>
            <a:off x="1784350" y="1703040"/>
            <a:ext cx="881209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213B"/>
                </a:solidFill>
                <a:latin typeface="Public Sans" pitchFamily="34" charset="0"/>
                <a:ea typeface="Public Sans" pitchFamily="34" charset="-122"/>
                <a:cs typeface="Public Sans" pitchFamily="34" charset="-120"/>
              </a:rPr>
              <a:t>Problem definition</a:t>
            </a:r>
            <a:endParaRPr lang="en-US" sz="1400" dirty="0"/>
          </a:p>
        </p:txBody>
      </p:sp>
      <p:sp>
        <p:nvSpPr>
          <p:cNvPr id="6" name="Text 4"/>
          <p:cNvSpPr/>
          <p:nvPr/>
        </p:nvSpPr>
        <p:spPr>
          <a:xfrm>
            <a:off x="10542984" y="1720800"/>
            <a:ext cx="69103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~1.5 min</a:t>
            </a:r>
            <a:endParaRPr lang="en-US" sz="1200" dirty="0"/>
          </a:p>
        </p:txBody>
      </p:sp>
      <p:sp>
        <p:nvSpPr>
          <p:cNvPr id="7" name="Shape 5"/>
          <p:cNvSpPr/>
          <p:nvPr/>
        </p:nvSpPr>
        <p:spPr>
          <a:xfrm>
            <a:off x="815975" y="2238325"/>
            <a:ext cx="10560050" cy="631180"/>
          </a:xfrm>
          <a:prstGeom prst="roundRect">
            <a:avLst>
              <a:gd name="adj" fmla="val 11570"/>
            </a:avLst>
          </a:prstGeom>
          <a:solidFill>
            <a:srgbClr val="FDFDFB"/>
          </a:solidFill>
          <a:ln w="6350">
            <a:solidFill>
              <a:srgbClr val="E2DFD6"/>
            </a:solidFill>
            <a:prstDash val="solid"/>
          </a:ln>
        </p:spPr>
      </p:sp>
      <p:sp>
        <p:nvSpPr>
          <p:cNvPr id="8" name="Text 6"/>
          <p:cNvSpPr/>
          <p:nvPr/>
        </p:nvSpPr>
        <p:spPr>
          <a:xfrm>
            <a:off x="1073150" y="2393900"/>
            <a:ext cx="558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B05A26"/>
                </a:solidFill>
                <a:latin typeface="Public Sans" pitchFamily="34" charset="0"/>
                <a:ea typeface="Public Sans" pitchFamily="34" charset="-122"/>
                <a:cs typeface="Public Sans" pitchFamily="34" charset="-120"/>
              </a:rPr>
              <a:t>02</a:t>
            </a:r>
            <a:endParaRPr lang="en-US" sz="1800" dirty="0"/>
          </a:p>
        </p:txBody>
      </p:sp>
      <p:sp>
        <p:nvSpPr>
          <p:cNvPr id="9" name="Text 7"/>
          <p:cNvSpPr/>
          <p:nvPr/>
        </p:nvSpPr>
        <p:spPr>
          <a:xfrm>
            <a:off x="1784350" y="2429470"/>
            <a:ext cx="891817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213B"/>
                </a:solidFill>
                <a:latin typeface="Public Sans" pitchFamily="34" charset="0"/>
                <a:ea typeface="Public Sans" pitchFamily="34" charset="-122"/>
                <a:cs typeface="Public Sans" pitchFamily="34" charset="-120"/>
              </a:rPr>
              <a:t>Data understanding</a:t>
            </a:r>
            <a:endParaRPr lang="en-US" sz="1400" dirty="0"/>
          </a:p>
        </p:txBody>
      </p:sp>
      <p:sp>
        <p:nvSpPr>
          <p:cNvPr id="10" name="Text 8"/>
          <p:cNvSpPr/>
          <p:nvPr/>
        </p:nvSpPr>
        <p:spPr>
          <a:xfrm>
            <a:off x="10645973" y="2447230"/>
            <a:ext cx="5674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~2 min</a:t>
            </a:r>
            <a:endParaRPr lang="en-US" sz="1200" dirty="0"/>
          </a:p>
        </p:txBody>
      </p:sp>
      <p:sp>
        <p:nvSpPr>
          <p:cNvPr id="11" name="Shape 9"/>
          <p:cNvSpPr/>
          <p:nvPr/>
        </p:nvSpPr>
        <p:spPr>
          <a:xfrm>
            <a:off x="815975" y="2964755"/>
            <a:ext cx="10560050" cy="631180"/>
          </a:xfrm>
          <a:prstGeom prst="roundRect">
            <a:avLst>
              <a:gd name="adj" fmla="val 11570"/>
            </a:avLst>
          </a:prstGeom>
          <a:solidFill>
            <a:srgbClr val="FDFDFB"/>
          </a:solidFill>
          <a:ln w="6350">
            <a:solidFill>
              <a:srgbClr val="E2DFD6"/>
            </a:solidFill>
            <a:prstDash val="solid"/>
          </a:ln>
        </p:spPr>
      </p:sp>
      <p:sp>
        <p:nvSpPr>
          <p:cNvPr id="12" name="Text 10"/>
          <p:cNvSpPr/>
          <p:nvPr/>
        </p:nvSpPr>
        <p:spPr>
          <a:xfrm>
            <a:off x="1073150" y="3120330"/>
            <a:ext cx="558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B05A26"/>
                </a:solidFill>
                <a:latin typeface="Public Sans" pitchFamily="34" charset="0"/>
                <a:ea typeface="Public Sans" pitchFamily="34" charset="-122"/>
                <a:cs typeface="Public Sans" pitchFamily="34" charset="-120"/>
              </a:rPr>
              <a:t>03</a:t>
            </a:r>
            <a:endParaRPr lang="en-US" sz="1800" dirty="0"/>
          </a:p>
        </p:txBody>
      </p:sp>
      <p:sp>
        <p:nvSpPr>
          <p:cNvPr id="13" name="Text 11"/>
          <p:cNvSpPr/>
          <p:nvPr/>
        </p:nvSpPr>
        <p:spPr>
          <a:xfrm>
            <a:off x="1784350" y="3155900"/>
            <a:ext cx="881209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213B"/>
                </a:solidFill>
                <a:latin typeface="Public Sans" pitchFamily="34" charset="0"/>
                <a:ea typeface="Public Sans" pitchFamily="34" charset="-122"/>
                <a:cs typeface="Public Sans" pitchFamily="34" charset="-120"/>
              </a:rPr>
              <a:t>Data preparation</a:t>
            </a:r>
            <a:endParaRPr lang="en-US" sz="1400" dirty="0"/>
          </a:p>
        </p:txBody>
      </p:sp>
      <p:sp>
        <p:nvSpPr>
          <p:cNvPr id="14" name="Text 12"/>
          <p:cNvSpPr/>
          <p:nvPr/>
        </p:nvSpPr>
        <p:spPr>
          <a:xfrm>
            <a:off x="10542984" y="3173661"/>
            <a:ext cx="69103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~1.5 min</a:t>
            </a:r>
            <a:endParaRPr lang="en-US" sz="1200" dirty="0"/>
          </a:p>
        </p:txBody>
      </p:sp>
      <p:sp>
        <p:nvSpPr>
          <p:cNvPr id="15" name="Shape 13"/>
          <p:cNvSpPr/>
          <p:nvPr/>
        </p:nvSpPr>
        <p:spPr>
          <a:xfrm>
            <a:off x="815975" y="3691186"/>
            <a:ext cx="10560050" cy="631180"/>
          </a:xfrm>
          <a:prstGeom prst="roundRect">
            <a:avLst>
              <a:gd name="adj" fmla="val 11570"/>
            </a:avLst>
          </a:prstGeom>
          <a:solidFill>
            <a:srgbClr val="FDFDFB"/>
          </a:solidFill>
          <a:ln w="6350">
            <a:solidFill>
              <a:srgbClr val="E2DFD6"/>
            </a:solidFill>
            <a:prstDash val="solid"/>
          </a:ln>
        </p:spPr>
      </p:sp>
      <p:sp>
        <p:nvSpPr>
          <p:cNvPr id="16" name="Text 14"/>
          <p:cNvSpPr/>
          <p:nvPr/>
        </p:nvSpPr>
        <p:spPr>
          <a:xfrm>
            <a:off x="1073150" y="3846761"/>
            <a:ext cx="558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B05A26"/>
                </a:solidFill>
                <a:latin typeface="Public Sans" pitchFamily="34" charset="0"/>
                <a:ea typeface="Public Sans" pitchFamily="34" charset="-122"/>
                <a:cs typeface="Public Sans" pitchFamily="34" charset="-120"/>
              </a:rPr>
              <a:t>04</a:t>
            </a:r>
            <a:endParaRPr lang="en-US" sz="1800" dirty="0"/>
          </a:p>
        </p:txBody>
      </p:sp>
      <p:sp>
        <p:nvSpPr>
          <p:cNvPr id="17" name="Text 15"/>
          <p:cNvSpPr/>
          <p:nvPr/>
        </p:nvSpPr>
        <p:spPr>
          <a:xfrm>
            <a:off x="1784350" y="3882330"/>
            <a:ext cx="891286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213B"/>
                </a:solidFill>
                <a:latin typeface="Public Sans" pitchFamily="34" charset="0"/>
                <a:ea typeface="Public Sans" pitchFamily="34" charset="-122"/>
                <a:cs typeface="Public Sans" pitchFamily="34" charset="-120"/>
              </a:rPr>
              <a:t>Predictive modelling &amp; results</a:t>
            </a:r>
            <a:endParaRPr lang="en-US" sz="1400" dirty="0"/>
          </a:p>
        </p:txBody>
      </p:sp>
      <p:sp>
        <p:nvSpPr>
          <p:cNvPr id="18" name="Text 16"/>
          <p:cNvSpPr/>
          <p:nvPr/>
        </p:nvSpPr>
        <p:spPr>
          <a:xfrm>
            <a:off x="10640814" y="3900091"/>
            <a:ext cx="5736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~3 min</a:t>
            </a:r>
            <a:endParaRPr lang="en-US" sz="1200" dirty="0"/>
          </a:p>
        </p:txBody>
      </p:sp>
      <p:sp>
        <p:nvSpPr>
          <p:cNvPr id="19" name="Shape 17"/>
          <p:cNvSpPr/>
          <p:nvPr/>
        </p:nvSpPr>
        <p:spPr>
          <a:xfrm>
            <a:off x="815975" y="4417616"/>
            <a:ext cx="10560050" cy="631180"/>
          </a:xfrm>
          <a:prstGeom prst="roundRect">
            <a:avLst>
              <a:gd name="adj" fmla="val 11570"/>
            </a:avLst>
          </a:prstGeom>
          <a:solidFill>
            <a:srgbClr val="FDFDFB"/>
          </a:solidFill>
          <a:ln w="6350">
            <a:solidFill>
              <a:srgbClr val="E2DFD6"/>
            </a:solidFill>
            <a:prstDash val="solid"/>
          </a:ln>
        </p:spPr>
      </p:sp>
      <p:sp>
        <p:nvSpPr>
          <p:cNvPr id="20" name="Text 18"/>
          <p:cNvSpPr/>
          <p:nvPr/>
        </p:nvSpPr>
        <p:spPr>
          <a:xfrm>
            <a:off x="1073150" y="4573191"/>
            <a:ext cx="558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B05A26"/>
                </a:solidFill>
                <a:latin typeface="Public Sans" pitchFamily="34" charset="0"/>
                <a:ea typeface="Public Sans" pitchFamily="34" charset="-122"/>
                <a:cs typeface="Public Sans" pitchFamily="34" charset="-120"/>
              </a:rPr>
              <a:t>05</a:t>
            </a:r>
            <a:endParaRPr lang="en-US" sz="1800" dirty="0"/>
          </a:p>
        </p:txBody>
      </p:sp>
      <p:sp>
        <p:nvSpPr>
          <p:cNvPr id="21" name="Text 19"/>
          <p:cNvSpPr/>
          <p:nvPr/>
        </p:nvSpPr>
        <p:spPr>
          <a:xfrm>
            <a:off x="1784350" y="4608761"/>
            <a:ext cx="8812097"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213B"/>
                </a:solidFill>
                <a:latin typeface="Public Sans" pitchFamily="34" charset="0"/>
                <a:ea typeface="Public Sans" pitchFamily="34" charset="-122"/>
                <a:cs typeface="Public Sans" pitchFamily="34" charset="-120"/>
              </a:rPr>
              <a:t>Conclusions, limitations &amp; future work</a:t>
            </a:r>
            <a:endParaRPr lang="en-US" sz="1400" dirty="0"/>
          </a:p>
        </p:txBody>
      </p:sp>
      <p:sp>
        <p:nvSpPr>
          <p:cNvPr id="22" name="Text 20"/>
          <p:cNvSpPr/>
          <p:nvPr/>
        </p:nvSpPr>
        <p:spPr>
          <a:xfrm>
            <a:off x="10542984" y="4626521"/>
            <a:ext cx="69103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~1.5 min</a:t>
            </a:r>
            <a:endParaRPr lang="en-US" sz="1200" dirty="0"/>
          </a:p>
        </p:txBody>
      </p:sp>
      <p:sp>
        <p:nvSpPr>
          <p:cNvPr id="23" name="Shape 21"/>
          <p:cNvSpPr/>
          <p:nvPr/>
        </p:nvSpPr>
        <p:spPr>
          <a:xfrm>
            <a:off x="815975" y="5144046"/>
            <a:ext cx="10560050" cy="631180"/>
          </a:xfrm>
          <a:prstGeom prst="roundRect">
            <a:avLst>
              <a:gd name="adj" fmla="val 11570"/>
            </a:avLst>
          </a:prstGeom>
          <a:solidFill>
            <a:srgbClr val="FDFDFB"/>
          </a:solidFill>
          <a:ln w="6350">
            <a:solidFill>
              <a:srgbClr val="E2DFD6"/>
            </a:solidFill>
            <a:prstDash val="solid"/>
          </a:ln>
        </p:spPr>
      </p:sp>
      <p:sp>
        <p:nvSpPr>
          <p:cNvPr id="24" name="Text 22"/>
          <p:cNvSpPr/>
          <p:nvPr/>
        </p:nvSpPr>
        <p:spPr>
          <a:xfrm>
            <a:off x="1073150" y="5299621"/>
            <a:ext cx="5588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B05A26"/>
                </a:solidFill>
                <a:latin typeface="Public Sans" pitchFamily="34" charset="0"/>
                <a:ea typeface="Public Sans" pitchFamily="34" charset="-122"/>
                <a:cs typeface="Public Sans" pitchFamily="34" charset="-120"/>
              </a:rPr>
              <a:t>06</a:t>
            </a:r>
            <a:endParaRPr lang="en-US" sz="1800" dirty="0"/>
          </a:p>
        </p:txBody>
      </p:sp>
      <p:sp>
        <p:nvSpPr>
          <p:cNvPr id="25" name="Text 23"/>
          <p:cNvSpPr/>
          <p:nvPr/>
        </p:nvSpPr>
        <p:spPr>
          <a:xfrm>
            <a:off x="1784350" y="5335191"/>
            <a:ext cx="922992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213B"/>
                </a:solidFill>
                <a:latin typeface="Public Sans" pitchFamily="34" charset="0"/>
                <a:ea typeface="Public Sans" pitchFamily="34" charset="-122"/>
                <a:cs typeface="Public Sans" pitchFamily="34" charset="-120"/>
              </a:rPr>
              <a:t>Annexes (on request only)</a:t>
            </a:r>
            <a:endParaRPr lang="en-US" sz="1400" dirty="0"/>
          </a:p>
        </p:txBody>
      </p:sp>
      <p:sp>
        <p:nvSpPr>
          <p:cNvPr id="26" name="Text 24"/>
          <p:cNvSpPr/>
          <p:nvPr/>
        </p:nvSpPr>
        <p:spPr>
          <a:xfrm>
            <a:off x="10948640" y="5352951"/>
            <a:ext cx="2210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a:t>
            </a:r>
            <a:endParaRPr lang="en-US" sz="1200" dirty="0"/>
          </a:p>
        </p:txBody>
      </p:sp>
      <p:sp>
        <p:nvSpPr>
          <p:cNvPr id="27" name="Text 25"/>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Draft outline</a:t>
            </a:r>
            <a:endParaRPr lang="en-US" sz="1200" dirty="0"/>
          </a:p>
        </p:txBody>
      </p:sp>
      <p:sp>
        <p:nvSpPr>
          <p:cNvPr id="28" name="Text 26"/>
          <p:cNvSpPr/>
          <p:nvPr/>
        </p:nvSpPr>
        <p:spPr>
          <a:xfrm>
            <a:off x="11195100" y="6238280"/>
            <a:ext cx="234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3B"/>
                </a:solidFill>
                <a:latin typeface="Public Sans" pitchFamily="34" charset="0"/>
                <a:ea typeface="Public Sans" pitchFamily="34" charset="-122"/>
                <a:cs typeface="Public Sans" pitchFamily="34" charset="-120"/>
              </a:rPr>
              <a:t>THE BRIEF</a:t>
            </a:r>
            <a:endParaRPr lang="en-US" sz="1200" dirty="0"/>
          </a:p>
        </p:txBody>
      </p:sp>
      <p:sp>
        <p:nvSpPr>
          <p:cNvPr id="3" name="Text 1"/>
          <p:cNvSpPr/>
          <p:nvPr>
            <p:ph type="title"/>
          </p:nvPr>
        </p:nvSpPr>
        <p:spPr>
          <a:xfrm>
            <a:off x="812800" y="1026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5213B"/>
                </a:solidFill>
                <a:latin typeface="Libre Baskerville" pitchFamily="18" charset="0"/>
                <a:ea typeface="Libre Baskerville" pitchFamily="18" charset="-122"/>
                <a:cs typeface="Libre Baskerville" pitchFamily="18" charset="-120"/>
              </a:rPr>
              <a:t>A road-safety authority, learning from the past</a:t>
            </a:r>
            <a:endParaRPr lang="en-US" sz="3000" dirty="0"/>
          </a:p>
        </p:txBody>
      </p:sp>
      <p:sp>
        <p:nvSpPr>
          <p:cNvPr id="4" name="Text 2"/>
          <p:cNvSpPr/>
          <p:nvPr/>
        </p:nvSpPr>
        <p:spPr>
          <a:xfrm>
            <a:off x="896620" y="1718270"/>
            <a:ext cx="6815328" cy="4149130"/>
          </a:xfrm>
          <a:prstGeom prst="rect">
            <a:avLst/>
          </a:prstGeom>
          <a:noFill/>
          <a:ln/>
        </p:spPr>
        <p:txBody>
          <a:bodyPr wrap="square" lIns="0" tIns="0" rIns="0" bIns="0" rtlCol="0" anchor="t">
            <a:normAutofit/>
          </a:bodyPr>
          <a:lstStyle/>
          <a:p>
            <a:pPr algn="l" marL="170180" indent="-170180">
              <a:lnSpc>
                <a:spcPts val="2250"/>
              </a:lnSpc>
              <a:buSzPct val="100000"/>
              <a:buChar char="•"/>
            </a:pPr>
            <a:r>
              <a:rPr lang="en-US" sz="1500" dirty="0">
                <a:solidFill>
                  <a:srgbClr val="46516B"/>
                </a:solidFill>
                <a:latin typeface="Public Sans" pitchFamily="34" charset="0"/>
                <a:ea typeface="Public Sans" pitchFamily="34" charset="-122"/>
                <a:cs typeface="Public Sans" pitchFamily="34" charset="-120"/>
              </a:rPr>
              <a:t>A national road-safety authority wants to use historical accident data to support better decisions</a:t>
            </a:r>
            <a:endParaRPr lang="en-US" sz="1500" dirty="0"/>
          </a:p>
          <a:p>
            <a:pPr algn="l" marL="170180" indent="-170180">
              <a:lnSpc>
                <a:spcPts val="2250"/>
              </a:lnSpc>
              <a:buSzPct val="100000"/>
              <a:buChar char="•"/>
            </a:pPr>
            <a:r>
              <a:rPr lang="en-US" sz="1500" dirty="0">
                <a:solidFill>
                  <a:srgbClr val="46516B"/>
                </a:solidFill>
                <a:latin typeface="Public Sans" pitchFamily="34" charset="0"/>
                <a:ea typeface="Public Sans" pitchFamily="34" charset="-122"/>
                <a:cs typeface="Public Sans" pitchFamily="34" charset="-120"/>
              </a:rPr>
              <a:t>Our group acts as its analytics team</a:t>
            </a:r>
            <a:endParaRPr lang="en-US" sz="1500" dirty="0"/>
          </a:p>
          <a:p>
            <a:pPr algn="l" marL="170180" indent="-170180">
              <a:lnSpc>
                <a:spcPts val="2250"/>
              </a:lnSpc>
              <a:buSzPct val="100000"/>
              <a:buChar char="•"/>
            </a:pPr>
            <a:r>
              <a:rPr lang="en-US" sz="1500" dirty="0">
                <a:solidFill>
                  <a:srgbClr val="46516B"/>
                </a:solidFill>
                <a:latin typeface="Public Sans" pitchFamily="34" charset="0"/>
                <a:ea typeface="Public Sans" pitchFamily="34" charset="-122"/>
                <a:cs typeface="Public Sans" pitchFamily="34" charset="-120"/>
              </a:rPr>
              <a:t>The prediction task is intentionally not given to us — we define it ourselves (Task 1)</a:t>
            </a:r>
            <a:endParaRPr lang="en-US" sz="1500" dirty="0"/>
          </a:p>
        </p:txBody>
      </p:sp>
      <p:sp>
        <p:nvSpPr>
          <p:cNvPr id="5" name="Shape 3"/>
          <p:cNvSpPr/>
          <p:nvPr/>
        </p:nvSpPr>
        <p:spPr>
          <a:xfrm>
            <a:off x="7826375" y="1721445"/>
            <a:ext cx="3549650" cy="966391"/>
          </a:xfrm>
          <a:prstGeom prst="roundRect">
            <a:avLst>
              <a:gd name="adj" fmla="val 7556"/>
            </a:avLst>
          </a:prstGeom>
          <a:solidFill>
            <a:srgbClr val="FDFDFB"/>
          </a:solidFill>
          <a:ln w="6350">
            <a:solidFill>
              <a:srgbClr val="E2DFD6"/>
            </a:solidFill>
            <a:prstDash val="solid"/>
          </a:ln>
        </p:spPr>
      </p:sp>
      <p:sp>
        <p:nvSpPr>
          <p:cNvPr id="6" name="Text 4"/>
          <p:cNvSpPr/>
          <p:nvPr/>
        </p:nvSpPr>
        <p:spPr>
          <a:xfrm>
            <a:off x="8058150" y="1902420"/>
            <a:ext cx="3178683"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05A26"/>
                </a:solidFill>
                <a:latin typeface="Public Sans" pitchFamily="34" charset="0"/>
                <a:ea typeface="Public Sans" pitchFamily="34" charset="-122"/>
                <a:cs typeface="Public Sans" pitchFamily="34" charset="-120"/>
              </a:rPr>
              <a:t>150,000</a:t>
            </a:r>
            <a:endParaRPr lang="en-US" sz="2200" dirty="0"/>
          </a:p>
        </p:txBody>
      </p:sp>
      <p:sp>
        <p:nvSpPr>
          <p:cNvPr id="7" name="Text 5"/>
          <p:cNvSpPr/>
          <p:nvPr/>
        </p:nvSpPr>
        <p:spPr>
          <a:xfrm>
            <a:off x="8058150" y="2293541"/>
            <a:ext cx="31786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16B"/>
                </a:solidFill>
                <a:latin typeface="Public Sans" pitchFamily="34" charset="0"/>
                <a:ea typeface="Public Sans" pitchFamily="34" charset="-122"/>
                <a:cs typeface="Public Sans" pitchFamily="34" charset="-120"/>
              </a:rPr>
              <a:t>highway accidents, Brazil, 2007–2025</a:t>
            </a:r>
            <a:endParaRPr lang="en-US" sz="1200" dirty="0"/>
          </a:p>
        </p:txBody>
      </p:sp>
      <p:sp>
        <p:nvSpPr>
          <p:cNvPr id="8" name="Shape 6"/>
          <p:cNvSpPr/>
          <p:nvPr/>
        </p:nvSpPr>
        <p:spPr>
          <a:xfrm>
            <a:off x="7826375" y="2795786"/>
            <a:ext cx="3549650" cy="1179711"/>
          </a:xfrm>
          <a:prstGeom prst="roundRect">
            <a:avLst>
              <a:gd name="adj" fmla="val 6190"/>
            </a:avLst>
          </a:prstGeom>
          <a:solidFill>
            <a:srgbClr val="FDFDFB"/>
          </a:solidFill>
          <a:ln w="6350">
            <a:solidFill>
              <a:srgbClr val="E2DFD6"/>
            </a:solidFill>
            <a:prstDash val="solid"/>
          </a:ln>
        </p:spPr>
      </p:sp>
      <p:sp>
        <p:nvSpPr>
          <p:cNvPr id="9" name="Text 7"/>
          <p:cNvSpPr/>
          <p:nvPr/>
        </p:nvSpPr>
        <p:spPr>
          <a:xfrm>
            <a:off x="8058150" y="2976761"/>
            <a:ext cx="3178683"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B05A26"/>
                </a:solidFill>
                <a:latin typeface="Public Sans" pitchFamily="34" charset="0"/>
                <a:ea typeface="Public Sans" pitchFamily="34" charset="-122"/>
                <a:cs typeface="Public Sans" pitchFamily="34" charset="-120"/>
              </a:rPr>
              <a:t>23</a:t>
            </a:r>
            <a:endParaRPr lang="en-US" sz="2200" dirty="0"/>
          </a:p>
        </p:txBody>
      </p:sp>
      <p:sp>
        <p:nvSpPr>
          <p:cNvPr id="10" name="Text 8"/>
          <p:cNvSpPr/>
          <p:nvPr/>
        </p:nvSpPr>
        <p:spPr>
          <a:xfrm>
            <a:off x="8058150" y="3367881"/>
            <a:ext cx="31786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16B"/>
                </a:solidFill>
                <a:latin typeface="Public Sans" pitchFamily="34" charset="0"/>
                <a:ea typeface="Public Sans" pitchFamily="34" charset="-122"/>
                <a:cs typeface="Public Sans" pitchFamily="34" charset="-120"/>
              </a:rPr>
              <a:t>variables per accident — date, location, road infrastructure, severity</a:t>
            </a:r>
            <a:endParaRPr lang="en-US" sz="1200" dirty="0"/>
          </a:p>
        </p:txBody>
      </p:sp>
      <p:sp>
        <p:nvSpPr>
          <p:cNvPr id="11" name="Text 9"/>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Draft outline</a:t>
            </a:r>
            <a:endParaRPr lang="en-US" sz="1200" dirty="0"/>
          </a:p>
        </p:txBody>
      </p:sp>
      <p:sp>
        <p:nvSpPr>
          <p:cNvPr id="12" name="Text 10"/>
          <p:cNvSpPr/>
          <p:nvPr/>
        </p:nvSpPr>
        <p:spPr>
          <a:xfrm>
            <a:off x="11190883" y="6238280"/>
            <a:ext cx="2391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5213B"/>
        </a:solidFill>
      </p:bgPr>
    </p:bg>
    <p:spTree>
      <p:nvGrpSpPr>
        <p:cNvPr id="1" name=""/>
        <p:cNvGrpSpPr/>
        <p:nvPr/>
      </p:nvGrpSpPr>
      <p:grpSpPr>
        <a:xfrm>
          <a:off x="0" y="0"/>
          <a:ext cx="0" cy="0"/>
          <a:chOff x="0" y="0"/>
          <a:chExt cx="0" cy="0"/>
        </a:xfrm>
      </p:grpSpPr>
      <p:sp>
        <p:nvSpPr>
          <p:cNvPr id="2" name="Text 0"/>
          <p:cNvSpPr/>
          <p:nvPr/>
        </p:nvSpPr>
        <p:spPr>
          <a:xfrm>
            <a:off x="812800" y="267335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7CCDD"/>
                </a:solidFill>
                <a:latin typeface="Public Sans" pitchFamily="34" charset="0"/>
                <a:ea typeface="Public Sans" pitchFamily="34" charset="-122"/>
                <a:cs typeface="Public Sans" pitchFamily="34" charset="-120"/>
              </a:rPr>
              <a:t>01</a:t>
            </a:r>
            <a:endParaRPr lang="en-US" sz="2000" dirty="0"/>
          </a:p>
        </p:txBody>
      </p:sp>
      <p:sp>
        <p:nvSpPr>
          <p:cNvPr id="3" name="Text 1"/>
          <p:cNvSpPr/>
          <p:nvPr>
            <p:ph type="title"/>
          </p:nvPr>
        </p:nvSpPr>
        <p:spPr>
          <a:xfrm>
            <a:off x="812800" y="3181350"/>
            <a:ext cx="10883392" cy="609600"/>
          </a:xfrm>
          <a:prstGeom prst="rect">
            <a:avLst/>
          </a:prstGeom>
          <a:noFill/>
          <a:ln/>
        </p:spPr>
        <p:txBody>
          <a:bodyPr wrap="square" lIns="0" tIns="0" rIns="0" bIns="0" rtlCol="0" anchor="t">
            <a:normAutofit/>
          </a:bodyPr>
          <a:lstStyle/>
          <a:p>
            <a:pPr algn="l" indent="0" marL="0">
              <a:lnSpc>
                <a:spcPts val="4600"/>
              </a:lnSpc>
              <a:buNone/>
            </a:pPr>
            <a:r>
              <a:rPr lang="en-US" sz="4000" b="1" i="0" dirty="0">
                <a:solidFill>
                  <a:srgbClr val="F4F1E8"/>
                </a:solidFill>
                <a:latin typeface="Libre Baskerville" pitchFamily="18" charset="0"/>
                <a:ea typeface="Libre Baskerville" pitchFamily="18" charset="-122"/>
                <a:cs typeface="Libre Baskerville" pitchFamily="18" charset="-120"/>
              </a:rPr>
              <a:t>Problem definition</a:t>
            </a:r>
            <a:endParaRPr lang="en-US" sz="4000" dirty="0"/>
          </a:p>
        </p:txBody>
      </p:sp>
      <p:sp>
        <p:nvSpPr>
          <p:cNvPr id="4" name="Text 2"/>
          <p:cNvSpPr/>
          <p:nvPr/>
        </p:nvSpPr>
        <p:spPr>
          <a:xfrm>
            <a:off x="812800" y="3917950"/>
            <a:ext cx="850265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7CCDD"/>
                </a:solidFill>
                <a:latin typeface="Public Sans" pitchFamily="34" charset="0"/>
                <a:ea typeface="Public Sans" pitchFamily="34" charset="-122"/>
                <a:cs typeface="Public Sans" pitchFamily="34" charset="-120"/>
              </a:rPr>
              <a:t>Task 1 — 10% of the grade. Start from the decision, not the dataset.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3B"/>
                </a:solidFill>
                <a:latin typeface="Public Sans" pitchFamily="34" charset="0"/>
                <a:ea typeface="Public Sans" pitchFamily="34" charset="-122"/>
                <a:cs typeface="Public Sans" pitchFamily="34" charset="-120"/>
              </a:rPr>
              <a:t>01 · PROBLEM DEFINITION</a:t>
            </a:r>
            <a:endParaRPr lang="en-US" sz="1200" dirty="0"/>
          </a:p>
        </p:txBody>
      </p:sp>
      <p:sp>
        <p:nvSpPr>
          <p:cNvPr id="3" name="Text 1"/>
          <p:cNvSpPr/>
          <p:nvPr>
            <p:ph type="title"/>
          </p:nvPr>
        </p:nvSpPr>
        <p:spPr>
          <a:xfrm>
            <a:off x="812800" y="1026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5213B"/>
                </a:solidFill>
                <a:latin typeface="Libre Baskerville" pitchFamily="18" charset="0"/>
                <a:ea typeface="Libre Baskerville" pitchFamily="18" charset="-122"/>
                <a:cs typeface="Libre Baskerville" pitchFamily="18" charset="-120"/>
              </a:rPr>
              <a:t>Check the five gates before committing</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5570"/>
          <a:ext cx="10553700" cy="2387054"/>
        </p:xfrm>
        <a:graphic>
          <a:graphicData uri="http://schemas.openxmlformats.org/drawingml/2006/table">
            <a:tbl>
              <a:tblPr/>
              <a:tblGrid>
                <a:gridCol w="3166110"/>
                <a:gridCol w="7387590"/>
              </a:tblGrid>
              <a:tr h="359321">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Gate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Does our chosen problem pass?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r>
              <a:tr h="359321">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Repeated decision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[confirm once Task 1 is settled — e.g. patrol, emergency and roadworks allocation]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Actionable score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[who acts differently depending on the score?]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Past outcomes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Yes — 150,000 labelled accidents, 7,222 fatal (4.8%): enough positives, but heavily imbalanced</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590451">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Stable world</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Partly — severity mix shifts sharply in 2015–2017 (fatal 3.8% → 6.8%); recent years matter most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Positive balance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[is being right worth more than the modelling effort?]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bl>
          </a:graphicData>
        </a:graphic>
      </p:graphicFrame>
      <p:sp>
        <p:nvSpPr>
          <p:cNvPr id="5" name="Text 2"/>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Draft outline</a:t>
            </a:r>
            <a:endParaRPr lang="en-US" sz="1200" dirty="0"/>
          </a:p>
        </p:txBody>
      </p:sp>
      <p:sp>
        <p:nvSpPr>
          <p:cNvPr id="6" name="Text 3"/>
          <p:cNvSpPr/>
          <p:nvPr/>
        </p:nvSpPr>
        <p:spPr>
          <a:xfrm>
            <a:off x="11188353" y="6238280"/>
            <a:ext cx="2416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3B"/>
                </a:solidFill>
                <a:latin typeface="Public Sans" pitchFamily="34" charset="0"/>
                <a:ea typeface="Public Sans" pitchFamily="34" charset="-122"/>
                <a:cs typeface="Public Sans" pitchFamily="34" charset="-120"/>
              </a:rPr>
              <a:t>01 · PROBLEM DEFINITION</a:t>
            </a:r>
            <a:endParaRPr lang="en-US" sz="1200" dirty="0"/>
          </a:p>
        </p:txBody>
      </p:sp>
      <p:sp>
        <p:nvSpPr>
          <p:cNvPr id="3" name="Text 1"/>
          <p:cNvSpPr/>
          <p:nvPr>
            <p:ph type="title"/>
          </p:nvPr>
        </p:nvSpPr>
        <p:spPr>
          <a:xfrm>
            <a:off x="812800" y="1026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5213B"/>
                </a:solidFill>
                <a:latin typeface="Libre Baskerville" pitchFamily="18" charset="0"/>
                <a:ea typeface="Libre Baskerville" pitchFamily="18" charset="-122"/>
                <a:cs typeface="Libre Baskerville" pitchFamily="18" charset="-120"/>
              </a:rPr>
              <a:t>Candidate problem framings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5570"/>
          <a:ext cx="10553700" cy="1970683"/>
        </p:xfrm>
        <a:graphic>
          <a:graphicData uri="http://schemas.openxmlformats.org/drawingml/2006/table">
            <a:tbl>
              <a:tblPr/>
              <a:tblGrid>
                <a:gridCol w="2321814"/>
                <a:gridCol w="3166110"/>
                <a:gridCol w="1899666"/>
                <a:gridCol w="3166110"/>
              </a:tblGrid>
              <a:tr h="332680">
                <a:tc>
                  <a:txBody>
                    <a:bodyPr/>
                    <a:lstStyle/>
                    <a:p>
                      <a:pPr indent="0" marL="0">
                        <a:lnSpc>
                          <a:spcPts val="1680"/>
                        </a:lnSpc>
                        <a:buNone/>
                      </a:pPr>
                      <a:r>
                        <a:rPr lang="en-US" sz="1200" b="1" dirty="0">
                          <a:solidFill>
                            <a:srgbClr val="15213B"/>
                          </a:solidFill>
                          <a:latin typeface="Public Sans" pitchFamily="34" charset="0"/>
                          <a:ea typeface="Public Sans" pitchFamily="34" charset="-122"/>
                          <a:cs typeface="Public Sans" pitchFamily="34" charset="-120"/>
                        </a:rPr>
                        <a:t>Framing</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680"/>
                        </a:lnSpc>
                        <a:buNone/>
                      </a:pPr>
                      <a:r>
                        <a:rPr lang="en-US" sz="1200" b="1" dirty="0">
                          <a:solidFill>
                            <a:srgbClr val="15213B"/>
                          </a:solidFill>
                          <a:latin typeface="Public Sans" pitchFamily="34" charset="0"/>
                          <a:ea typeface="Public Sans" pitchFamily="34" charset="-122"/>
                          <a:cs typeface="Public Sans" pitchFamily="34" charset="-120"/>
                        </a:rPr>
                        <a:t>Target</a:t>
                      </a:r>
                      <a:endParaRPr lang="en-US" sz="1200" dirty="0">
                        <a:latin typeface="Public Sans" charset="0"/>
                        <a:ea typeface="Public Sans" charset="0"/>
                        <a:cs typeface="Public Sans" charset="0"/>
                      </a:endParaRPr>
                    </a:p>
                  </a:txBody>
                  <a:tcPr marL="53340" marR="53340" marT="53340" marB="5334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680"/>
                        </a:lnSpc>
                        <a:buNone/>
                      </a:pPr>
                      <a:r>
                        <a:rPr lang="en-US" sz="1200" b="1" dirty="0">
                          <a:solidFill>
                            <a:srgbClr val="15213B"/>
                          </a:solidFill>
                          <a:latin typeface="Public Sans" pitchFamily="34" charset="0"/>
                          <a:ea typeface="Public Sans" pitchFamily="34" charset="-122"/>
                          <a:cs typeface="Public Sans" pitchFamily="34" charset="-120"/>
                        </a:rPr>
                        <a:t>Type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680"/>
                        </a:lnSpc>
                        <a:buNone/>
                      </a:pPr>
                      <a:r>
                        <a:rPr lang="en-US" sz="1200" b="1" dirty="0">
                          <a:solidFill>
                            <a:srgbClr val="15213B"/>
                          </a:solidFill>
                          <a:latin typeface="Public Sans" pitchFamily="34" charset="0"/>
                          <a:ea typeface="Public Sans" pitchFamily="34" charset="-122"/>
                          <a:cs typeface="Public Sans" pitchFamily="34" charset="-120"/>
                        </a:rPr>
                        <a:t>Decision it supports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r>
              <a:tr h="546001">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Severity prediction</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No injuries / injuries / fatalities, per accident</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3-class classification</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Prioritise enforcement &amp; infrastructure fixes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546001">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Severe-accident hotspots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Share of injury or fatal accidents per highway-km stretch &amp; period</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Regression / ranking</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Where to invest in infrastructure first</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546001">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Fatality risk given accident</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Probability an accident, once it happens, is fatal</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Binary classification</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Emergency response prioritisation</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bl>
          </a:graphicData>
        </a:graphic>
      </p:graphicFrame>
      <p:sp>
        <p:nvSpPr>
          <p:cNvPr id="5" name="Text 2"/>
          <p:cNvSpPr/>
          <p:nvPr/>
        </p:nvSpPr>
        <p:spPr>
          <a:xfrm>
            <a:off x="812800" y="3904853"/>
            <a:ext cx="10566400" cy="535930"/>
          </a:xfrm>
          <a:prstGeom prst="roundRect">
            <a:avLst>
              <a:gd name="adj" fmla="val 14218"/>
            </a:avLst>
          </a:prstGeom>
          <a:solidFill>
            <a:srgbClr val="15213B"/>
          </a:solidFill>
          <a:ln/>
        </p:spPr>
        <p:txBody>
          <a:bodyPr wrap="square" lIns="206282" tIns="130082" rIns="0" bIns="104682" rtlCol="0" anchor="t">
            <a:normAutofit/>
          </a:bodyPr>
          <a:lstStyle/>
          <a:p>
            <a:pPr algn="l" indent="0" marL="0">
              <a:lnSpc>
                <a:spcPts val="1820"/>
              </a:lnSpc>
              <a:buNone/>
            </a:pPr>
            <a:r>
              <a:rPr lang="en-US" sz="1300" dirty="0">
                <a:solidFill>
                  <a:srgbClr val="F4F1E8"/>
                </a:solidFill>
                <a:latin typeface="Public Sans" pitchFamily="34" charset="0"/>
                <a:ea typeface="Public Sans" pitchFamily="34" charset="-122"/>
                <a:cs typeface="Public Sans" pitchFamily="34" charset="-120"/>
              </a:rPr>
              <a:t>The data holds only accidents — we can predict how severe an accident is, not whether one will happen.</a:t>
            </a:r>
            <a:endParaRPr lang="en-US" sz="1300" dirty="0"/>
          </a:p>
        </p:txBody>
      </p:sp>
      <p:sp>
        <p:nvSpPr>
          <p:cNvPr id="6" name="Text 3"/>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Draft outline</a:t>
            </a:r>
            <a:endParaRPr lang="en-US" sz="1200" dirty="0"/>
          </a:p>
        </p:txBody>
      </p:sp>
      <p:sp>
        <p:nvSpPr>
          <p:cNvPr id="7" name="Text 4"/>
          <p:cNvSpPr/>
          <p:nvPr/>
        </p:nvSpPr>
        <p:spPr>
          <a:xfrm>
            <a:off x="11192024" y="6238280"/>
            <a:ext cx="2379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3B"/>
                </a:solidFill>
                <a:latin typeface="Public Sans" pitchFamily="34" charset="0"/>
                <a:ea typeface="Public Sans" pitchFamily="34" charset="-122"/>
                <a:cs typeface="Public Sans" pitchFamily="34" charset="-120"/>
              </a:rPr>
              <a:t>01 · PROBLEM DEFINITION</a:t>
            </a:r>
            <a:endParaRPr lang="en-US" sz="1200" dirty="0"/>
          </a:p>
        </p:txBody>
      </p:sp>
      <p:sp>
        <p:nvSpPr>
          <p:cNvPr id="3" name="Text 1"/>
          <p:cNvSpPr/>
          <p:nvPr>
            <p:ph type="title"/>
          </p:nvPr>
        </p:nvSpPr>
        <p:spPr>
          <a:xfrm>
            <a:off x="812800" y="1026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5213B"/>
                </a:solidFill>
                <a:latin typeface="Libre Baskerville" pitchFamily="18" charset="0"/>
                <a:ea typeface="Libre Baskerville" pitchFamily="18" charset="-122"/>
                <a:cs typeface="Libre Baskerville" pitchFamily="18" charset="-120"/>
              </a:rPr>
              <a:t>Our chosen problem [placeholder]</a:t>
            </a:r>
            <a:endParaRPr lang="en-US" sz="3000" dirty="0"/>
          </a:p>
        </p:txBody>
      </p:sp>
      <p:sp>
        <p:nvSpPr>
          <p:cNvPr id="4" name="Shape 2"/>
          <p:cNvSpPr/>
          <p:nvPr/>
        </p:nvSpPr>
        <p:spPr>
          <a:xfrm>
            <a:off x="815975" y="1670645"/>
            <a:ext cx="10560050" cy="542280"/>
          </a:xfrm>
          <a:prstGeom prst="roundRect">
            <a:avLst>
              <a:gd name="adj" fmla="val 13466"/>
            </a:avLst>
          </a:prstGeom>
          <a:solidFill>
            <a:srgbClr val="FDFDFB"/>
          </a:solidFill>
          <a:ln w="6350">
            <a:solidFill>
              <a:srgbClr val="E2DFD6"/>
            </a:solidFill>
            <a:prstDash val="solid"/>
          </a:ln>
        </p:spPr>
      </p:sp>
      <p:sp>
        <p:nvSpPr>
          <p:cNvPr id="5" name="Text 3"/>
          <p:cNvSpPr/>
          <p:nvPr/>
        </p:nvSpPr>
        <p:spPr>
          <a:xfrm>
            <a:off x="1047750" y="1826220"/>
            <a:ext cx="27470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5A26"/>
                </a:solidFill>
                <a:latin typeface="Public Sans" pitchFamily="34" charset="0"/>
                <a:ea typeface="Public Sans" pitchFamily="34" charset="-122"/>
                <a:cs typeface="Public Sans" pitchFamily="34" charset="-120"/>
              </a:rPr>
              <a:t>Business question</a:t>
            </a:r>
            <a:endParaRPr lang="en-US" sz="1300" dirty="0"/>
          </a:p>
        </p:txBody>
      </p:sp>
      <p:sp>
        <p:nvSpPr>
          <p:cNvPr id="6" name="Text 4"/>
          <p:cNvSpPr/>
          <p:nvPr/>
        </p:nvSpPr>
        <p:spPr>
          <a:xfrm>
            <a:off x="3867150" y="1826220"/>
            <a:ext cx="749541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16B"/>
                </a:solidFill>
                <a:latin typeface="Public Sans" pitchFamily="34" charset="0"/>
                <a:ea typeface="Public Sans" pitchFamily="34" charset="-122"/>
                <a:cs typeface="Public Sans" pitchFamily="34" charset="-120"/>
              </a:rPr>
              <a:t>[what decision are we trying to improve?]</a:t>
            </a:r>
            <a:endParaRPr lang="en-US" sz="1300" dirty="0"/>
          </a:p>
        </p:txBody>
      </p:sp>
      <p:sp>
        <p:nvSpPr>
          <p:cNvPr id="7" name="Shape 5"/>
          <p:cNvSpPr/>
          <p:nvPr/>
        </p:nvSpPr>
        <p:spPr>
          <a:xfrm>
            <a:off x="815975" y="2308175"/>
            <a:ext cx="10560050" cy="542280"/>
          </a:xfrm>
          <a:prstGeom prst="roundRect">
            <a:avLst>
              <a:gd name="adj" fmla="val 13466"/>
            </a:avLst>
          </a:prstGeom>
          <a:solidFill>
            <a:srgbClr val="FDFDFB"/>
          </a:solidFill>
          <a:ln w="6350">
            <a:solidFill>
              <a:srgbClr val="E2DFD6"/>
            </a:solidFill>
            <a:prstDash val="solid"/>
          </a:ln>
        </p:spPr>
      </p:sp>
      <p:sp>
        <p:nvSpPr>
          <p:cNvPr id="8" name="Text 6"/>
          <p:cNvSpPr/>
          <p:nvPr/>
        </p:nvSpPr>
        <p:spPr>
          <a:xfrm>
            <a:off x="1047750" y="2463750"/>
            <a:ext cx="27470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5A26"/>
                </a:solidFill>
                <a:latin typeface="Public Sans" pitchFamily="34" charset="0"/>
                <a:ea typeface="Public Sans" pitchFamily="34" charset="-122"/>
                <a:cs typeface="Public Sans" pitchFamily="34" charset="-120"/>
              </a:rPr>
              <a:t>Decision supported</a:t>
            </a:r>
            <a:endParaRPr lang="en-US" sz="1300" dirty="0"/>
          </a:p>
        </p:txBody>
      </p:sp>
      <p:sp>
        <p:nvSpPr>
          <p:cNvPr id="9" name="Text 7"/>
          <p:cNvSpPr/>
          <p:nvPr/>
        </p:nvSpPr>
        <p:spPr>
          <a:xfrm>
            <a:off x="3867150" y="2463750"/>
            <a:ext cx="749541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16B"/>
                </a:solidFill>
                <a:latin typeface="Public Sans" pitchFamily="34" charset="0"/>
                <a:ea typeface="Public Sans" pitchFamily="34" charset="-122"/>
                <a:cs typeface="Public Sans" pitchFamily="34" charset="-120"/>
              </a:rPr>
              <a:t>[who acts on the score, and how?]</a:t>
            </a:r>
            <a:endParaRPr lang="en-US" sz="1300" dirty="0"/>
          </a:p>
        </p:txBody>
      </p:sp>
      <p:sp>
        <p:nvSpPr>
          <p:cNvPr id="10" name="Shape 8"/>
          <p:cNvSpPr/>
          <p:nvPr/>
        </p:nvSpPr>
        <p:spPr>
          <a:xfrm>
            <a:off x="815975" y="2945705"/>
            <a:ext cx="10560050" cy="542280"/>
          </a:xfrm>
          <a:prstGeom prst="roundRect">
            <a:avLst>
              <a:gd name="adj" fmla="val 13466"/>
            </a:avLst>
          </a:prstGeom>
          <a:solidFill>
            <a:srgbClr val="FDFDFB"/>
          </a:solidFill>
          <a:ln w="6350">
            <a:solidFill>
              <a:srgbClr val="E2DFD6"/>
            </a:solidFill>
            <a:prstDash val="solid"/>
          </a:ln>
        </p:spPr>
      </p:sp>
      <p:sp>
        <p:nvSpPr>
          <p:cNvPr id="11" name="Text 9"/>
          <p:cNvSpPr/>
          <p:nvPr/>
        </p:nvSpPr>
        <p:spPr>
          <a:xfrm>
            <a:off x="1047750" y="3101280"/>
            <a:ext cx="27470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5A26"/>
                </a:solidFill>
                <a:latin typeface="Public Sans" pitchFamily="34" charset="0"/>
                <a:ea typeface="Public Sans" pitchFamily="34" charset="-122"/>
                <a:cs typeface="Public Sans" pitchFamily="34" charset="-120"/>
              </a:rPr>
              <a:t>Target definition</a:t>
            </a:r>
            <a:endParaRPr lang="en-US" sz="1300" dirty="0"/>
          </a:p>
        </p:txBody>
      </p:sp>
      <p:sp>
        <p:nvSpPr>
          <p:cNvPr id="12" name="Text 10"/>
          <p:cNvSpPr/>
          <p:nvPr/>
        </p:nvSpPr>
        <p:spPr>
          <a:xfrm>
            <a:off x="3867150" y="3101280"/>
            <a:ext cx="749541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16B"/>
                </a:solidFill>
                <a:latin typeface="Public Sans" pitchFamily="34" charset="0"/>
                <a:ea typeface="Public Sans" pitchFamily="34" charset="-122"/>
                <a:cs typeface="Public Sans" pitchFamily="34" charset="-120"/>
              </a:rPr>
              <a:t>[timely, specific, valuable, actionable, novel]</a:t>
            </a:r>
            <a:endParaRPr lang="en-US" sz="1300" dirty="0"/>
          </a:p>
        </p:txBody>
      </p:sp>
      <p:sp>
        <p:nvSpPr>
          <p:cNvPr id="13" name="Shape 11"/>
          <p:cNvSpPr/>
          <p:nvPr/>
        </p:nvSpPr>
        <p:spPr>
          <a:xfrm>
            <a:off x="815975" y="3583236"/>
            <a:ext cx="10560050" cy="542280"/>
          </a:xfrm>
          <a:prstGeom prst="roundRect">
            <a:avLst>
              <a:gd name="adj" fmla="val 13466"/>
            </a:avLst>
          </a:prstGeom>
          <a:solidFill>
            <a:srgbClr val="FDFDFB"/>
          </a:solidFill>
          <a:ln w="6350">
            <a:solidFill>
              <a:srgbClr val="E2DFD6"/>
            </a:solidFill>
            <a:prstDash val="solid"/>
          </a:ln>
        </p:spPr>
      </p:sp>
      <p:sp>
        <p:nvSpPr>
          <p:cNvPr id="14" name="Text 12"/>
          <p:cNvSpPr/>
          <p:nvPr/>
        </p:nvSpPr>
        <p:spPr>
          <a:xfrm>
            <a:off x="1047750" y="3738811"/>
            <a:ext cx="27470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5A26"/>
                </a:solidFill>
                <a:latin typeface="Public Sans" pitchFamily="34" charset="0"/>
                <a:ea typeface="Public Sans" pitchFamily="34" charset="-122"/>
                <a:cs typeface="Public Sans" pitchFamily="34" charset="-120"/>
              </a:rPr>
              <a:t>Unit of analysis</a:t>
            </a:r>
            <a:endParaRPr lang="en-US" sz="1300" dirty="0"/>
          </a:p>
        </p:txBody>
      </p:sp>
      <p:sp>
        <p:nvSpPr>
          <p:cNvPr id="15" name="Text 13"/>
          <p:cNvSpPr/>
          <p:nvPr/>
        </p:nvSpPr>
        <p:spPr>
          <a:xfrm>
            <a:off x="3867150" y="3738811"/>
            <a:ext cx="749541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16B"/>
                </a:solidFill>
                <a:latin typeface="Public Sans" pitchFamily="34" charset="0"/>
                <a:ea typeface="Public Sans" pitchFamily="34" charset="-122"/>
                <a:cs typeface="Public Sans" pitchFamily="34" charset="-120"/>
              </a:rPr>
              <a:t>[one accident? one segment? one segment-month?]</a:t>
            </a:r>
            <a:endParaRPr lang="en-US" sz="1300" dirty="0"/>
          </a:p>
        </p:txBody>
      </p:sp>
      <p:sp>
        <p:nvSpPr>
          <p:cNvPr id="16" name="Shape 14"/>
          <p:cNvSpPr/>
          <p:nvPr/>
        </p:nvSpPr>
        <p:spPr>
          <a:xfrm>
            <a:off x="815975" y="4220766"/>
            <a:ext cx="10560050" cy="542280"/>
          </a:xfrm>
          <a:prstGeom prst="roundRect">
            <a:avLst>
              <a:gd name="adj" fmla="val 13466"/>
            </a:avLst>
          </a:prstGeom>
          <a:solidFill>
            <a:srgbClr val="FDFDFB"/>
          </a:solidFill>
          <a:ln w="6350">
            <a:solidFill>
              <a:srgbClr val="E2DFD6"/>
            </a:solidFill>
            <a:prstDash val="solid"/>
          </a:ln>
        </p:spPr>
      </p:sp>
      <p:sp>
        <p:nvSpPr>
          <p:cNvPr id="17" name="Text 15"/>
          <p:cNvSpPr/>
          <p:nvPr/>
        </p:nvSpPr>
        <p:spPr>
          <a:xfrm>
            <a:off x="1047750" y="4376341"/>
            <a:ext cx="274701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5A26"/>
                </a:solidFill>
                <a:latin typeface="Public Sans" pitchFamily="34" charset="0"/>
                <a:ea typeface="Public Sans" pitchFamily="34" charset="-122"/>
                <a:cs typeface="Public Sans" pitchFamily="34" charset="-120"/>
              </a:rPr>
              <a:t>Prediction horizon</a:t>
            </a:r>
            <a:endParaRPr lang="en-US" sz="1300" dirty="0"/>
          </a:p>
        </p:txBody>
      </p:sp>
      <p:sp>
        <p:nvSpPr>
          <p:cNvPr id="18" name="Text 16"/>
          <p:cNvSpPr/>
          <p:nvPr/>
        </p:nvSpPr>
        <p:spPr>
          <a:xfrm>
            <a:off x="3867150" y="4376341"/>
            <a:ext cx="7495413"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16B"/>
                </a:solidFill>
                <a:latin typeface="Public Sans" pitchFamily="34" charset="0"/>
                <a:ea typeface="Public Sans" pitchFamily="34" charset="-122"/>
                <a:cs typeface="Public Sans" pitchFamily="34" charset="-120"/>
              </a:rPr>
              <a:t>[at the moment of the accident? ahead of time, for a segment?]</a:t>
            </a:r>
            <a:endParaRPr lang="en-US" sz="1300" dirty="0"/>
          </a:p>
        </p:txBody>
      </p:sp>
      <p:sp>
        <p:nvSpPr>
          <p:cNvPr id="19" name="Text 17"/>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Draft outline</a:t>
            </a:r>
            <a:endParaRPr lang="en-US" sz="1200" dirty="0"/>
          </a:p>
        </p:txBody>
      </p:sp>
      <p:sp>
        <p:nvSpPr>
          <p:cNvPr id="20" name="Text 18"/>
          <p:cNvSpPr/>
          <p:nvPr/>
        </p:nvSpPr>
        <p:spPr>
          <a:xfrm>
            <a:off x="11197183" y="6238280"/>
            <a:ext cx="2328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5213B"/>
        </a:solidFill>
      </p:bgPr>
    </p:bg>
    <p:spTree>
      <p:nvGrpSpPr>
        <p:cNvPr id="1" name=""/>
        <p:cNvGrpSpPr/>
        <p:nvPr/>
      </p:nvGrpSpPr>
      <p:grpSpPr>
        <a:xfrm>
          <a:off x="0" y="0"/>
          <a:ext cx="0" cy="0"/>
          <a:chOff x="0" y="0"/>
          <a:chExt cx="0" cy="0"/>
        </a:xfrm>
      </p:grpSpPr>
      <p:sp>
        <p:nvSpPr>
          <p:cNvPr id="2" name="Text 0"/>
          <p:cNvSpPr/>
          <p:nvPr/>
        </p:nvSpPr>
        <p:spPr>
          <a:xfrm>
            <a:off x="812800" y="267335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7CCDD"/>
                </a:solidFill>
                <a:latin typeface="Public Sans" pitchFamily="34" charset="0"/>
                <a:ea typeface="Public Sans" pitchFamily="34" charset="-122"/>
                <a:cs typeface="Public Sans" pitchFamily="34" charset="-120"/>
              </a:rPr>
              <a:t>02</a:t>
            </a:r>
            <a:endParaRPr lang="en-US" sz="2000" dirty="0"/>
          </a:p>
        </p:txBody>
      </p:sp>
      <p:sp>
        <p:nvSpPr>
          <p:cNvPr id="3" name="Text 1"/>
          <p:cNvSpPr/>
          <p:nvPr>
            <p:ph type="title"/>
          </p:nvPr>
        </p:nvSpPr>
        <p:spPr>
          <a:xfrm>
            <a:off x="812800" y="3181350"/>
            <a:ext cx="10883392" cy="609600"/>
          </a:xfrm>
          <a:prstGeom prst="rect">
            <a:avLst/>
          </a:prstGeom>
          <a:noFill/>
          <a:ln/>
        </p:spPr>
        <p:txBody>
          <a:bodyPr wrap="square" lIns="0" tIns="0" rIns="0" bIns="0" rtlCol="0" anchor="t">
            <a:normAutofit/>
          </a:bodyPr>
          <a:lstStyle/>
          <a:p>
            <a:pPr algn="l" indent="0" marL="0">
              <a:lnSpc>
                <a:spcPts val="4600"/>
              </a:lnSpc>
              <a:buNone/>
            </a:pPr>
            <a:r>
              <a:rPr lang="en-US" sz="4000" b="1" i="0" dirty="0">
                <a:solidFill>
                  <a:srgbClr val="F4F1E8"/>
                </a:solidFill>
                <a:latin typeface="Libre Baskerville" pitchFamily="18" charset="0"/>
                <a:ea typeface="Libre Baskerville" pitchFamily="18" charset="-122"/>
                <a:cs typeface="Libre Baskerville" pitchFamily="18" charset="-120"/>
              </a:rPr>
              <a:t>Data understanding</a:t>
            </a:r>
            <a:endParaRPr lang="en-US" sz="4000" dirty="0"/>
          </a:p>
        </p:txBody>
      </p:sp>
      <p:sp>
        <p:nvSpPr>
          <p:cNvPr id="4" name="Text 2"/>
          <p:cNvSpPr/>
          <p:nvPr/>
        </p:nvSpPr>
        <p:spPr>
          <a:xfrm>
            <a:off x="812800" y="3917950"/>
            <a:ext cx="850265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7CCDD"/>
                </a:solidFill>
                <a:latin typeface="Public Sans" pitchFamily="34" charset="0"/>
                <a:ea typeface="Public Sans" pitchFamily="34" charset="-122"/>
                <a:cs typeface="Public Sans" pitchFamily="34" charset="-120"/>
              </a:rPr>
              <a:t>Task 2 — 15% of the grade. Know your data before you touch an algorithm.</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3B"/>
                </a:solidFill>
                <a:latin typeface="Public Sans" pitchFamily="34" charset="0"/>
                <a:ea typeface="Public Sans" pitchFamily="34" charset="-122"/>
                <a:cs typeface="Public Sans" pitchFamily="34" charset="-120"/>
              </a:rPr>
              <a:t>02 · DATA UNDERSTANDING</a:t>
            </a:r>
            <a:endParaRPr lang="en-US" sz="1200" dirty="0"/>
          </a:p>
        </p:txBody>
      </p:sp>
      <p:sp>
        <p:nvSpPr>
          <p:cNvPr id="3" name="Text 1"/>
          <p:cNvSpPr/>
          <p:nvPr>
            <p:ph type="title"/>
          </p:nvPr>
        </p:nvSpPr>
        <p:spPr>
          <a:xfrm>
            <a:off x="812800" y="1026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5213B"/>
                </a:solidFill>
                <a:latin typeface="Libre Baskerville" pitchFamily="18" charset="0"/>
                <a:ea typeface="Libre Baskerville" pitchFamily="18" charset="-122"/>
                <a:cs typeface="Libre Baskerville" pitchFamily="18" charset="-120"/>
              </a:rPr>
              <a:t>Dataset at a glance</a:t>
            </a:r>
            <a:endParaRPr lang="en-US" sz="3000" dirty="0"/>
          </a:p>
        </p:txBody>
      </p:sp>
      <p:sp>
        <p:nvSpPr>
          <p:cNvPr id="4" name="Shape 2"/>
          <p:cNvSpPr/>
          <p:nvPr/>
        </p:nvSpPr>
        <p:spPr>
          <a:xfrm>
            <a:off x="815975" y="1670645"/>
            <a:ext cx="2520950" cy="880070"/>
          </a:xfrm>
          <a:prstGeom prst="roundRect">
            <a:avLst>
              <a:gd name="adj" fmla="val 8298"/>
            </a:avLst>
          </a:prstGeom>
          <a:solidFill>
            <a:srgbClr val="FDFDFB"/>
          </a:solidFill>
          <a:ln w="6350">
            <a:solidFill>
              <a:srgbClr val="E2DFD6"/>
            </a:solidFill>
            <a:prstDash val="solid"/>
          </a:ln>
        </p:spPr>
      </p:sp>
      <p:sp>
        <p:nvSpPr>
          <p:cNvPr id="5" name="Text 3"/>
          <p:cNvSpPr/>
          <p:nvPr/>
        </p:nvSpPr>
        <p:spPr>
          <a:xfrm>
            <a:off x="1022350" y="1826220"/>
            <a:ext cx="217144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05A26"/>
                </a:solidFill>
                <a:latin typeface="Public Sans" pitchFamily="34" charset="0"/>
                <a:ea typeface="Public Sans" pitchFamily="34" charset="-122"/>
                <a:cs typeface="Public Sans" pitchFamily="34" charset="-120"/>
              </a:rPr>
              <a:t>150,000</a:t>
            </a:r>
            <a:endParaRPr lang="en-US" sz="2000" dirty="0"/>
          </a:p>
        </p:txBody>
      </p:sp>
      <p:sp>
        <p:nvSpPr>
          <p:cNvPr id="6" name="Text 4"/>
          <p:cNvSpPr/>
          <p:nvPr/>
        </p:nvSpPr>
        <p:spPr>
          <a:xfrm>
            <a:off x="1022350" y="218182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16B"/>
                </a:solidFill>
                <a:latin typeface="Public Sans" pitchFamily="34" charset="0"/>
                <a:ea typeface="Public Sans" pitchFamily="34" charset="-122"/>
                <a:cs typeface="Public Sans" pitchFamily="34" charset="-120"/>
              </a:rPr>
              <a:t>accidents</a:t>
            </a:r>
            <a:endParaRPr lang="en-US" sz="1200" dirty="0"/>
          </a:p>
        </p:txBody>
      </p:sp>
      <p:sp>
        <p:nvSpPr>
          <p:cNvPr id="7" name="Shape 5"/>
          <p:cNvSpPr/>
          <p:nvPr/>
        </p:nvSpPr>
        <p:spPr>
          <a:xfrm>
            <a:off x="3495675" y="1670645"/>
            <a:ext cx="2520950" cy="880070"/>
          </a:xfrm>
          <a:prstGeom prst="roundRect">
            <a:avLst>
              <a:gd name="adj" fmla="val 8298"/>
            </a:avLst>
          </a:prstGeom>
          <a:solidFill>
            <a:srgbClr val="FDFDFB"/>
          </a:solidFill>
          <a:ln w="6350">
            <a:solidFill>
              <a:srgbClr val="E2DFD6"/>
            </a:solidFill>
            <a:prstDash val="solid"/>
          </a:ln>
        </p:spPr>
      </p:sp>
      <p:sp>
        <p:nvSpPr>
          <p:cNvPr id="8" name="Text 6"/>
          <p:cNvSpPr/>
          <p:nvPr/>
        </p:nvSpPr>
        <p:spPr>
          <a:xfrm>
            <a:off x="3702050" y="1826220"/>
            <a:ext cx="217144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05A26"/>
                </a:solidFill>
                <a:latin typeface="Public Sans" pitchFamily="34" charset="0"/>
                <a:ea typeface="Public Sans" pitchFamily="34" charset="-122"/>
                <a:cs typeface="Public Sans" pitchFamily="34" charset="-120"/>
              </a:rPr>
              <a:t>2007–2025</a:t>
            </a:r>
            <a:endParaRPr lang="en-US" sz="2000" dirty="0"/>
          </a:p>
        </p:txBody>
      </p:sp>
      <p:sp>
        <p:nvSpPr>
          <p:cNvPr id="9" name="Text 7"/>
          <p:cNvSpPr/>
          <p:nvPr/>
        </p:nvSpPr>
        <p:spPr>
          <a:xfrm>
            <a:off x="3702050" y="218182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16B"/>
                </a:solidFill>
                <a:latin typeface="Public Sans" pitchFamily="34" charset="0"/>
                <a:ea typeface="Public Sans" pitchFamily="34" charset="-122"/>
                <a:cs typeface="Public Sans" pitchFamily="34" charset="-120"/>
              </a:rPr>
              <a:t>time span</a:t>
            </a:r>
            <a:endParaRPr lang="en-US" sz="1200" dirty="0"/>
          </a:p>
        </p:txBody>
      </p:sp>
      <p:sp>
        <p:nvSpPr>
          <p:cNvPr id="10" name="Shape 8"/>
          <p:cNvSpPr/>
          <p:nvPr/>
        </p:nvSpPr>
        <p:spPr>
          <a:xfrm>
            <a:off x="6175375" y="1670645"/>
            <a:ext cx="2520950" cy="880070"/>
          </a:xfrm>
          <a:prstGeom prst="roundRect">
            <a:avLst>
              <a:gd name="adj" fmla="val 8298"/>
            </a:avLst>
          </a:prstGeom>
          <a:solidFill>
            <a:srgbClr val="FDFDFB"/>
          </a:solidFill>
          <a:ln w="6350">
            <a:solidFill>
              <a:srgbClr val="E2DFD6"/>
            </a:solidFill>
            <a:prstDash val="solid"/>
          </a:ln>
        </p:spPr>
      </p:sp>
      <p:sp>
        <p:nvSpPr>
          <p:cNvPr id="11" name="Text 9"/>
          <p:cNvSpPr/>
          <p:nvPr/>
        </p:nvSpPr>
        <p:spPr>
          <a:xfrm>
            <a:off x="6381750" y="1826220"/>
            <a:ext cx="217144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05A26"/>
                </a:solidFill>
                <a:latin typeface="Public Sans" pitchFamily="34" charset="0"/>
                <a:ea typeface="Public Sans" pitchFamily="34" charset="-122"/>
                <a:cs typeface="Public Sans" pitchFamily="34" charset="-120"/>
              </a:rPr>
              <a:t>23</a:t>
            </a:r>
            <a:endParaRPr lang="en-US" sz="2000" dirty="0"/>
          </a:p>
        </p:txBody>
      </p:sp>
      <p:sp>
        <p:nvSpPr>
          <p:cNvPr id="12" name="Text 10"/>
          <p:cNvSpPr/>
          <p:nvPr/>
        </p:nvSpPr>
        <p:spPr>
          <a:xfrm>
            <a:off x="6381750" y="218182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16B"/>
                </a:solidFill>
                <a:latin typeface="Public Sans" pitchFamily="34" charset="0"/>
                <a:ea typeface="Public Sans" pitchFamily="34" charset="-122"/>
                <a:cs typeface="Public Sans" pitchFamily="34" charset="-120"/>
              </a:rPr>
              <a:t>variables</a:t>
            </a:r>
            <a:endParaRPr lang="en-US" sz="1200" dirty="0"/>
          </a:p>
        </p:txBody>
      </p:sp>
      <p:sp>
        <p:nvSpPr>
          <p:cNvPr id="13" name="Shape 11"/>
          <p:cNvSpPr/>
          <p:nvPr/>
        </p:nvSpPr>
        <p:spPr>
          <a:xfrm>
            <a:off x="8855075" y="1670645"/>
            <a:ext cx="2520950" cy="880070"/>
          </a:xfrm>
          <a:prstGeom prst="roundRect">
            <a:avLst>
              <a:gd name="adj" fmla="val 8298"/>
            </a:avLst>
          </a:prstGeom>
          <a:solidFill>
            <a:srgbClr val="FDFDFB"/>
          </a:solidFill>
          <a:ln w="6350">
            <a:solidFill>
              <a:srgbClr val="E2DFD6"/>
            </a:solidFill>
            <a:prstDash val="solid"/>
          </a:ln>
        </p:spPr>
      </p:sp>
      <p:sp>
        <p:nvSpPr>
          <p:cNvPr id="14" name="Text 12"/>
          <p:cNvSpPr/>
          <p:nvPr/>
        </p:nvSpPr>
        <p:spPr>
          <a:xfrm>
            <a:off x="9061450" y="1826220"/>
            <a:ext cx="2171446"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05A26"/>
                </a:solidFill>
                <a:latin typeface="Public Sans" pitchFamily="34" charset="0"/>
                <a:ea typeface="Public Sans" pitchFamily="34" charset="-122"/>
                <a:cs typeface="Public Sans" pitchFamily="34" charset="-120"/>
              </a:rPr>
              <a:t>4.8%</a:t>
            </a:r>
            <a:endParaRPr lang="en-US" sz="2000" dirty="0"/>
          </a:p>
        </p:txBody>
      </p:sp>
      <p:sp>
        <p:nvSpPr>
          <p:cNvPr id="15" name="Text 13"/>
          <p:cNvSpPr/>
          <p:nvPr/>
        </p:nvSpPr>
        <p:spPr>
          <a:xfrm>
            <a:off x="9061450" y="2181820"/>
            <a:ext cx="21714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16B"/>
                </a:solidFill>
                <a:latin typeface="Public Sans" pitchFamily="34" charset="0"/>
                <a:ea typeface="Public Sans" pitchFamily="34" charset="-122"/>
                <a:cs typeface="Public Sans" pitchFamily="34" charset="-120"/>
              </a:rPr>
              <a:t>fatal accidents</a:t>
            </a:r>
            <a:endParaRPr lang="en-US" sz="1200" dirty="0"/>
          </a:p>
        </p:txBody>
      </p:sp>
      <p:sp>
        <p:nvSpPr>
          <p:cNvPr id="16" name="Text 14"/>
          <p:cNvSpPr/>
          <p:nvPr/>
        </p:nvSpPr>
        <p:spPr>
          <a:xfrm>
            <a:off x="910844" y="2757091"/>
            <a:ext cx="10777728" cy="1263650"/>
          </a:xfrm>
          <a:prstGeom prst="rect">
            <a:avLst/>
          </a:prstGeom>
          <a:noFill/>
          <a:ln/>
        </p:spPr>
        <p:txBody>
          <a:bodyPr wrap="square" lIns="0" tIns="0" rIns="0" bIns="0" rtlCol="0" anchor="t">
            <a:normAutofit/>
          </a:bodyPr>
          <a:lstStyle/>
          <a:p>
            <a:pPr algn="l" marL="155956" indent="-155956">
              <a:lnSpc>
                <a:spcPts val="1950"/>
              </a:lnSpc>
              <a:buSzPct val="100000"/>
              <a:buChar char="•"/>
            </a:pPr>
            <a:r>
              <a:rPr lang="en-US" sz="1300" b="1" dirty="0">
                <a:solidFill>
                  <a:srgbClr val="46516B"/>
                </a:solidFill>
                <a:latin typeface="Public Sans" pitchFamily="34" charset="0"/>
                <a:ea typeface="Public Sans" pitchFamily="34" charset="-122"/>
                <a:cs typeface="Public Sans" pitchFamily="34" charset="-120"/>
              </a:rPr>
              <a:t>Target:</a:t>
            </a:r>
            <a:r>
              <a:rPr lang="en-US" sz="1300" dirty="0">
                <a:solidFill>
                  <a:srgbClr val="46516B"/>
                </a:solidFill>
                <a:latin typeface="Public Sans" pitchFamily="34" charset="0"/>
                <a:ea typeface="Public Sans" pitchFamily="34" charset="-122"/>
                <a:cs typeface="Public Sans" pitchFamily="34" charset="-120"/>
              </a:rPr>
              <a:t> 47.3% no injuries · 47.9% injuries · 4.8% fatalities — the fatal class is rare</a:t>
            </a:r>
            <a:endParaRPr lang="en-US" sz="1300" dirty="0"/>
          </a:p>
          <a:p>
            <a:pPr algn="l" marL="155956" indent="-155956">
              <a:lnSpc>
                <a:spcPts val="1950"/>
              </a:lnSpc>
              <a:buSzPct val="100000"/>
              <a:buChar char="•"/>
            </a:pPr>
            <a:r>
              <a:rPr lang="en-US" sz="1300" b="1" dirty="0">
                <a:solidFill>
                  <a:srgbClr val="46516B"/>
                </a:solidFill>
                <a:latin typeface="Public Sans" pitchFamily="34" charset="0"/>
                <a:ea typeface="Public Sans" pitchFamily="34" charset="-122"/>
                <a:cs typeface="Public Sans" pitchFamily="34" charset="-120"/>
              </a:rPr>
              <a:t>Missing:</a:t>
            </a:r>
            <a:r>
              <a:rPr lang="en-US" sz="1300" dirty="0">
                <a:solidFill>
                  <a:srgbClr val="46516B"/>
                </a:solidFill>
                <a:latin typeface="Public Sans" pitchFamily="34" charset="0"/>
                <a:ea typeface="Public Sans" pitchFamily="34" charset="-122"/>
                <a:cs typeface="Public Sans" pitchFamily="34" charset="-120"/>
              </a:rPr>
              <a:t> latitude/longitude 71% missing (absent 2007–2016, complete from 2017); road_direction 90 rows; 1 row with every road flag empty</a:t>
            </a:r>
            <a:endParaRPr lang="en-US" sz="1300" dirty="0"/>
          </a:p>
          <a:p>
            <a:pPr algn="l" marL="155956" indent="-155956">
              <a:lnSpc>
                <a:spcPts val="1950"/>
              </a:lnSpc>
              <a:buSzPct val="100000"/>
              <a:buChar char="•"/>
            </a:pPr>
            <a:r>
              <a:rPr lang="en-US" sz="1300" b="1" dirty="0">
                <a:solidFill>
                  <a:srgbClr val="46516B"/>
                </a:solidFill>
                <a:latin typeface="Public Sans" pitchFamily="34" charset="0"/>
                <a:ea typeface="Public Sans" pitchFamily="34" charset="-122"/>
                <a:cs typeface="Public Sans" pitchFamily="34" charset="-120"/>
              </a:rPr>
              <a:t>Unusual:</a:t>
            </a:r>
            <a:r>
              <a:rPr lang="en-US" sz="1300" dirty="0">
                <a:solidFill>
                  <a:srgbClr val="46516B"/>
                </a:solidFill>
                <a:latin typeface="Public Sans" pitchFamily="34" charset="0"/>
                <a:ea typeface="Public Sans" pitchFamily="34" charset="-122"/>
                <a:cs typeface="Public Sans" pitchFamily="34" charset="-120"/>
              </a:rPr>
              <a:t> 248 accidents at km &gt; 1,000 (max 8,280); 3 coordinates outside Brazil; 49 exact duplicate rows</a:t>
            </a:r>
            <a:endParaRPr lang="en-US" sz="1300" dirty="0"/>
          </a:p>
          <a:p>
            <a:pPr algn="l" marL="155956" indent="-155956">
              <a:lnSpc>
                <a:spcPts val="1950"/>
              </a:lnSpc>
              <a:buSzPct val="100000"/>
              <a:buChar char="•"/>
            </a:pPr>
            <a:r>
              <a:rPr lang="en-US" sz="1300" b="1" dirty="0">
                <a:solidFill>
                  <a:srgbClr val="46516B"/>
                </a:solidFill>
                <a:latin typeface="Public Sans" pitchFamily="34" charset="0"/>
                <a:ea typeface="Public Sans" pitchFamily="34" charset="-122"/>
                <a:cs typeface="Public Sans" pitchFamily="34" charset="-120"/>
              </a:rPr>
              <a:t>Near-empty:</a:t>
            </a:r>
            <a:r>
              <a:rPr lang="en-US" sz="1300" dirty="0">
                <a:solidFill>
                  <a:srgbClr val="46516B"/>
                </a:solidFill>
                <a:latin typeface="Public Sans" pitchFamily="34" charset="0"/>
                <a:ea typeface="Public Sans" pitchFamily="34" charset="-122"/>
                <a:cs typeface="Public Sans" pitchFamily="34" charset="-120"/>
              </a:rPr>
              <a:t> Tunnel (22 accidents), Temporary_Detour (144), Bridge (379)</a:t>
            </a:r>
            <a:endParaRPr lang="en-US" sz="1300" dirty="0"/>
          </a:p>
        </p:txBody>
      </p:sp>
      <p:sp>
        <p:nvSpPr>
          <p:cNvPr id="17" name="Text 15"/>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Draft outline</a:t>
            </a:r>
            <a:endParaRPr lang="en-US" sz="1200" dirty="0"/>
          </a:p>
        </p:txBody>
      </p:sp>
      <p:sp>
        <p:nvSpPr>
          <p:cNvPr id="18" name="Text 16"/>
          <p:cNvSpPr/>
          <p:nvPr/>
        </p:nvSpPr>
        <p:spPr>
          <a:xfrm>
            <a:off x="11191776" y="6238280"/>
            <a:ext cx="2382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3B"/>
                </a:solidFill>
                <a:latin typeface="Public Sans" pitchFamily="34" charset="0"/>
                <a:ea typeface="Public Sans" pitchFamily="34" charset="-122"/>
                <a:cs typeface="Public Sans" pitchFamily="34" charset="-120"/>
              </a:rPr>
              <a:t>02 · DATA UNDERSTANDING</a:t>
            </a:r>
            <a:endParaRPr lang="en-US" sz="1200" dirty="0"/>
          </a:p>
        </p:txBody>
      </p:sp>
      <p:sp>
        <p:nvSpPr>
          <p:cNvPr id="3" name="Text 1"/>
          <p:cNvSpPr/>
          <p:nvPr>
            <p:ph type="title"/>
          </p:nvPr>
        </p:nvSpPr>
        <p:spPr>
          <a:xfrm>
            <a:off x="812800" y="1026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5213B"/>
                </a:solidFill>
                <a:latin typeface="Libre Baskerville" pitchFamily="18" charset="0"/>
                <a:ea typeface="Libre Baskerville" pitchFamily="18" charset="-122"/>
                <a:cs typeface="Libre Baskerville" pitchFamily="18" charset="-120"/>
              </a:rPr>
              <a:t>The data changes regime around 2015–2017</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80170"/>
          <a:ext cx="10553700" cy="1437283"/>
        </p:xfrm>
        <a:graphic>
          <a:graphicData uri="http://schemas.openxmlformats.org/drawingml/2006/table">
            <a:tbl>
              <a:tblPr/>
              <a:tblGrid>
                <a:gridCol w="1899666"/>
                <a:gridCol w="2110740"/>
                <a:gridCol w="1688592"/>
                <a:gridCol w="1688592"/>
                <a:gridCol w="1477518"/>
                <a:gridCol w="1688592"/>
              </a:tblGrid>
              <a:tr h="359321">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Period</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Accidents / year</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No injuries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Injuries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Fatal</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GPS coords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r>
              <a:tr h="359321">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2007–2014</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~11,400</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61.0%</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35.2%</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3.8%</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None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2015–2016</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~7,500</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43.2%</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51.7%</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5.1%</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None</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2017–2025</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~4,900</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20.2%</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72.9%</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6.8%</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All</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bl>
          </a:graphicData>
        </a:graphic>
      </p:graphicFrame>
      <p:sp>
        <p:nvSpPr>
          <p:cNvPr id="5" name="Text 2"/>
          <p:cNvSpPr/>
          <p:nvPr/>
        </p:nvSpPr>
        <p:spPr>
          <a:xfrm>
            <a:off x="812800" y="3320653"/>
            <a:ext cx="10566400" cy="853380"/>
          </a:xfrm>
          <a:prstGeom prst="roundRect">
            <a:avLst>
              <a:gd name="adj" fmla="val 8929"/>
            </a:avLst>
          </a:prstGeom>
          <a:solidFill>
            <a:srgbClr val="15213B"/>
          </a:solidFill>
          <a:ln/>
        </p:spPr>
        <p:txBody>
          <a:bodyPr wrap="square" lIns="206282" tIns="155482" rIns="0" bIns="130082" rtlCol="0" anchor="t">
            <a:normAutofit/>
          </a:bodyPr>
          <a:lstStyle/>
          <a:p>
            <a:pPr algn="l" indent="0" marL="0">
              <a:lnSpc>
                <a:spcPts val="1960"/>
              </a:lnSpc>
              <a:buNone/>
            </a:pPr>
            <a:r>
              <a:rPr lang="en-US" sz="1400" dirty="0">
                <a:solidFill>
                  <a:srgbClr val="F4F1E8"/>
                </a:solidFill>
                <a:latin typeface="Public Sans" pitchFamily="34" charset="0"/>
                <a:ea typeface="Public Sans" pitchFamily="34" charset="-122"/>
                <a:cs typeface="Public Sans" pitchFamily="34" charset="-120"/>
              </a:rPr>
              <a:t>Fewer accidents recorded, but each one more severe — most likely a change in </a:t>
            </a:r>
            <a:r>
              <a:rPr lang="en-US" sz="1400" i="1" dirty="0">
                <a:solidFill>
                  <a:srgbClr val="F4F1E8"/>
                </a:solidFill>
                <a:latin typeface="Public Sans" pitchFamily="34" charset="0"/>
                <a:ea typeface="Public Sans" pitchFamily="34" charset="-122"/>
                <a:cs typeface="Public Sans" pitchFamily="34" charset="-120"/>
              </a:rPr>
              <a:t>what gets recorded</a:t>
            </a:r>
            <a:r>
              <a:rPr lang="en-US" sz="1400" dirty="0">
                <a:solidFill>
                  <a:srgbClr val="F4F1E8"/>
                </a:solidFill>
                <a:latin typeface="Public Sans" pitchFamily="34" charset="0"/>
                <a:ea typeface="Public Sans" pitchFamily="34" charset="-122"/>
                <a:cs typeface="Public Sans" pitchFamily="34" charset="-120"/>
              </a:rPr>
              <a:t>, not in road safety itself [to verify]. A model trained on 2007–2014 learns a world that no longer exists.</a:t>
            </a:r>
            <a:endParaRPr lang="en-US" sz="1400" dirty="0"/>
          </a:p>
        </p:txBody>
      </p:sp>
      <p:sp>
        <p:nvSpPr>
          <p:cNvPr id="6" name="Text 3"/>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Draft outline</a:t>
            </a:r>
            <a:endParaRPr lang="en-US" sz="1200" dirty="0"/>
          </a:p>
        </p:txBody>
      </p:sp>
      <p:sp>
        <p:nvSpPr>
          <p:cNvPr id="7" name="Text 4"/>
          <p:cNvSpPr/>
          <p:nvPr/>
        </p:nvSpPr>
        <p:spPr>
          <a:xfrm>
            <a:off x="11223923" y="6238280"/>
            <a:ext cx="2060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3B"/>
                </a:solidFill>
                <a:latin typeface="Public Sans" pitchFamily="34" charset="0"/>
                <a:ea typeface="Public Sans" pitchFamily="34" charset="-122"/>
                <a:cs typeface="Public Sans" pitchFamily="34" charset="-120"/>
              </a:rPr>
              <a:t>02 · DATA UNDERSTANDING</a:t>
            </a:r>
            <a:endParaRPr lang="en-US" sz="1200" dirty="0"/>
          </a:p>
        </p:txBody>
      </p:sp>
      <p:sp>
        <p:nvSpPr>
          <p:cNvPr id="3" name="Text 1"/>
          <p:cNvSpPr/>
          <p:nvPr>
            <p:ph type="title"/>
          </p:nvPr>
        </p:nvSpPr>
        <p:spPr>
          <a:xfrm>
            <a:off x="812800" y="1026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5213B"/>
                </a:solidFill>
                <a:latin typeface="Libre Baskerville" pitchFamily="18" charset="0"/>
                <a:ea typeface="Libre Baskerville" pitchFamily="18" charset="-122"/>
                <a:cs typeface="Libre Baskerville" pitchFamily="18" charset="-120"/>
              </a:rPr>
              <a:t>Leakage check — the one test</a:t>
            </a:r>
            <a:endParaRPr lang="en-US" sz="3000" dirty="0"/>
          </a:p>
        </p:txBody>
      </p:sp>
      <p:sp>
        <p:nvSpPr>
          <p:cNvPr id="4" name="Text 2"/>
          <p:cNvSpPr/>
          <p:nvPr/>
        </p:nvSpPr>
        <p:spPr>
          <a:xfrm>
            <a:off x="812800" y="1642070"/>
            <a:ext cx="10566400" cy="640060"/>
          </a:xfrm>
          <a:prstGeom prst="roundRect">
            <a:avLst>
              <a:gd name="adj" fmla="val 11905"/>
            </a:avLst>
          </a:prstGeom>
          <a:solidFill>
            <a:srgbClr val="15213B"/>
          </a:solidFill>
          <a:ln/>
        </p:spPr>
        <p:txBody>
          <a:bodyPr wrap="square" lIns="231682" tIns="155482" rIns="0" bIns="130082" rtlCol="0" anchor="t">
            <a:normAutofit/>
          </a:bodyPr>
          <a:lstStyle/>
          <a:p>
            <a:pPr algn="l" indent="0" marL="0">
              <a:lnSpc>
                <a:spcPts val="2240"/>
              </a:lnSpc>
              <a:buNone/>
            </a:pPr>
            <a:r>
              <a:rPr lang="en-US" sz="1600" b="1" dirty="0">
                <a:solidFill>
                  <a:srgbClr val="F4F1E8"/>
                </a:solidFill>
                <a:latin typeface="Public Sans" pitchFamily="34" charset="0"/>
                <a:ea typeface="Public Sans" pitchFamily="34" charset="-122"/>
                <a:cs typeface="Public Sans" pitchFamily="34" charset="-120"/>
              </a:rPr>
              <a:t>Would I know this value on the date the score is used?</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472630"/>
          <a:ext cx="10553700" cy="2090043"/>
        </p:xfrm>
        <a:graphic>
          <a:graphicData uri="http://schemas.openxmlformats.org/drawingml/2006/table">
            <a:tbl>
              <a:tblPr/>
              <a:tblGrid>
                <a:gridCol w="3166110"/>
                <a:gridCol w="2955036"/>
                <a:gridCol w="4432554"/>
              </a:tblGrid>
              <a:tr h="332680">
                <a:tc>
                  <a:txBody>
                    <a:bodyPr/>
                    <a:lstStyle/>
                    <a:p>
                      <a:pPr indent="0" marL="0">
                        <a:lnSpc>
                          <a:spcPts val="1680"/>
                        </a:lnSpc>
                        <a:buNone/>
                      </a:pPr>
                      <a:r>
                        <a:rPr lang="en-US" sz="1200" b="1" dirty="0">
                          <a:solidFill>
                            <a:srgbClr val="15213B"/>
                          </a:solidFill>
                          <a:latin typeface="Public Sans" pitchFamily="34" charset="0"/>
                          <a:ea typeface="Public Sans" pitchFamily="34" charset="-122"/>
                          <a:cs typeface="Public Sans" pitchFamily="34" charset="-120"/>
                        </a:rPr>
                        <a:t>Candidate feature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680"/>
                        </a:lnSpc>
                        <a:buNone/>
                      </a:pPr>
                      <a:r>
                        <a:rPr lang="en-US" sz="1200" b="1" dirty="0">
                          <a:solidFill>
                            <a:srgbClr val="15213B"/>
                          </a:solidFill>
                          <a:latin typeface="Public Sans" pitchFamily="34" charset="0"/>
                          <a:ea typeface="Public Sans" pitchFamily="34" charset="-122"/>
                          <a:cs typeface="Public Sans" pitchFamily="34" charset="-120"/>
                        </a:rPr>
                        <a:t>Known at prediction time?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680"/>
                        </a:lnSpc>
                        <a:buNone/>
                      </a:pPr>
                      <a:r>
                        <a:rPr lang="en-US" sz="1200" b="1" dirty="0">
                          <a:solidFill>
                            <a:srgbClr val="15213B"/>
                          </a:solidFill>
                          <a:latin typeface="Public Sans" pitchFamily="34" charset="0"/>
                          <a:ea typeface="Public Sans" pitchFamily="34" charset="-122"/>
                          <a:cs typeface="Public Sans" pitchFamily="34" charset="-120"/>
                        </a:rPr>
                        <a:t>Verdict</a:t>
                      </a:r>
                      <a:endParaRPr lang="en-US" sz="1200" dirty="0">
                        <a:latin typeface="Public Sans" charset="0"/>
                        <a:ea typeface="Public Sans" charset="0"/>
                        <a:cs typeface="Public Sans" charset="0"/>
                      </a:endParaRPr>
                    </a:p>
                  </a:txBody>
                  <a:tcPr marL="53340" marR="53340" marT="53340" marB="53340"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r>
              <a:tr h="546001">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Road &amp; infrastructure flags, km, highway type, area, time of day</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Yes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Keep</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546001">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Latitude / longitude</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Yes, but only from 2017</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Drop — its missingness is a calendar flag that leaks the period</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Date / year</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Yes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Keep for context; split train/test by time, never randomly</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32680">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Post-accident details (victims, vehicles)</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No</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680"/>
                        </a:lnSpc>
                        <a:buNone/>
                      </a:pPr>
                      <a:r>
                        <a:rPr lang="en-US" sz="1200" dirty="0">
                          <a:solidFill>
                            <a:srgbClr val="15213B"/>
                          </a:solidFill>
                          <a:latin typeface="Public Sans" pitchFamily="34" charset="0"/>
                          <a:ea typeface="Public Sans" pitchFamily="34" charset="-122"/>
                          <a:cs typeface="Public Sans" pitchFamily="34" charset="-120"/>
                        </a:rPr>
                        <a:t>Not in this dataset — no direct target leakage found</a:t>
                      </a:r>
                      <a:endParaRPr lang="en-US" sz="1200" dirty="0">
                        <a:latin typeface="Public Sans" charset="0"/>
                        <a:ea typeface="Public Sans" charset="0"/>
                        <a:cs typeface="Public Sans" charset="0"/>
                      </a:endParaRPr>
                    </a:p>
                  </a:txBody>
                  <a:tcPr marL="53340" marR="53340" marT="53340" marB="53340"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bl>
          </a:graphicData>
        </a:graphic>
      </p:graphicFrame>
      <p:sp>
        <p:nvSpPr>
          <p:cNvPr id="6" name="Text 3"/>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Draft outline</a:t>
            </a:r>
            <a:endParaRPr lang="en-US" sz="1200" dirty="0"/>
          </a:p>
        </p:txBody>
      </p:sp>
      <p:sp>
        <p:nvSpPr>
          <p:cNvPr id="7" name="Text 4"/>
          <p:cNvSpPr/>
          <p:nvPr/>
        </p:nvSpPr>
        <p:spPr>
          <a:xfrm>
            <a:off x="11255177" y="6238280"/>
            <a:ext cx="1748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5213B"/>
        </a:solidFill>
      </p:bgPr>
    </p:bg>
    <p:spTree>
      <p:nvGrpSpPr>
        <p:cNvPr id="1" name=""/>
        <p:cNvGrpSpPr/>
        <p:nvPr/>
      </p:nvGrpSpPr>
      <p:grpSpPr>
        <a:xfrm>
          <a:off x="0" y="0"/>
          <a:ext cx="0" cy="0"/>
          <a:chOff x="0" y="0"/>
          <a:chExt cx="0" cy="0"/>
        </a:xfrm>
      </p:grpSpPr>
      <p:sp>
        <p:nvSpPr>
          <p:cNvPr id="2" name="Text 0"/>
          <p:cNvSpPr/>
          <p:nvPr/>
        </p:nvSpPr>
        <p:spPr>
          <a:xfrm>
            <a:off x="812800" y="267335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7CCDD"/>
                </a:solidFill>
                <a:latin typeface="Public Sans" pitchFamily="34" charset="0"/>
                <a:ea typeface="Public Sans" pitchFamily="34" charset="-122"/>
                <a:cs typeface="Public Sans" pitchFamily="34" charset="-120"/>
              </a:rPr>
              <a:t>03</a:t>
            </a:r>
            <a:endParaRPr lang="en-US" sz="2000" dirty="0"/>
          </a:p>
        </p:txBody>
      </p:sp>
      <p:sp>
        <p:nvSpPr>
          <p:cNvPr id="3" name="Text 1"/>
          <p:cNvSpPr/>
          <p:nvPr>
            <p:ph type="title"/>
          </p:nvPr>
        </p:nvSpPr>
        <p:spPr>
          <a:xfrm>
            <a:off x="812800" y="3181350"/>
            <a:ext cx="10883392" cy="609600"/>
          </a:xfrm>
          <a:prstGeom prst="rect">
            <a:avLst/>
          </a:prstGeom>
          <a:noFill/>
          <a:ln/>
        </p:spPr>
        <p:txBody>
          <a:bodyPr wrap="square" lIns="0" tIns="0" rIns="0" bIns="0" rtlCol="0" anchor="t">
            <a:normAutofit/>
          </a:bodyPr>
          <a:lstStyle/>
          <a:p>
            <a:pPr algn="l" indent="0" marL="0">
              <a:lnSpc>
                <a:spcPts val="4600"/>
              </a:lnSpc>
              <a:buNone/>
            </a:pPr>
            <a:r>
              <a:rPr lang="en-US" sz="4000" b="1" i="0" dirty="0">
                <a:solidFill>
                  <a:srgbClr val="F4F1E8"/>
                </a:solidFill>
                <a:latin typeface="Libre Baskerville" pitchFamily="18" charset="0"/>
                <a:ea typeface="Libre Baskerville" pitchFamily="18" charset="-122"/>
                <a:cs typeface="Libre Baskerville" pitchFamily="18" charset="-120"/>
              </a:rPr>
              <a:t>Data preparation</a:t>
            </a:r>
            <a:endParaRPr lang="en-US" sz="4000" dirty="0"/>
          </a:p>
        </p:txBody>
      </p:sp>
      <p:sp>
        <p:nvSpPr>
          <p:cNvPr id="4" name="Text 2"/>
          <p:cNvSpPr/>
          <p:nvPr/>
        </p:nvSpPr>
        <p:spPr>
          <a:xfrm>
            <a:off x="812800" y="3917950"/>
            <a:ext cx="850265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7CCDD"/>
                </a:solidFill>
                <a:latin typeface="Public Sans" pitchFamily="34" charset="0"/>
                <a:ea typeface="Public Sans" pitchFamily="34" charset="-122"/>
                <a:cs typeface="Public Sans" pitchFamily="34" charset="-120"/>
              </a:rPr>
              <a:t>Task 2, continued. Turn raw rows into a trainable, leakage-free table.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3B"/>
                </a:solidFill>
                <a:latin typeface="Public Sans" pitchFamily="34" charset="0"/>
                <a:ea typeface="Public Sans" pitchFamily="34" charset="-122"/>
                <a:cs typeface="Public Sans" pitchFamily="34" charset="-120"/>
              </a:rPr>
              <a:t>03 · DATA PREPARATION</a:t>
            </a:r>
            <a:endParaRPr lang="en-US" sz="1200" dirty="0"/>
          </a:p>
        </p:txBody>
      </p:sp>
      <p:sp>
        <p:nvSpPr>
          <p:cNvPr id="3" name="Text 1"/>
          <p:cNvSpPr/>
          <p:nvPr>
            <p:ph type="title"/>
          </p:nvPr>
        </p:nvSpPr>
        <p:spPr>
          <a:xfrm>
            <a:off x="812800" y="1026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5213B"/>
                </a:solidFill>
                <a:latin typeface="Libre Baskerville" pitchFamily="18" charset="0"/>
                <a:ea typeface="Libre Baskerville" pitchFamily="18" charset="-122"/>
                <a:cs typeface="Libre Baskerville" pitchFamily="18" charset="-120"/>
              </a:rPr>
              <a:t>Planned operations</a:t>
            </a:r>
            <a:endParaRPr lang="en-US" sz="3000" dirty="0"/>
          </a:p>
        </p:txBody>
      </p:sp>
      <p:sp>
        <p:nvSpPr>
          <p:cNvPr id="4" name="Text 2"/>
          <p:cNvSpPr/>
          <p:nvPr/>
        </p:nvSpPr>
        <p:spPr>
          <a:xfrm>
            <a:off x="910844" y="1642070"/>
            <a:ext cx="10777728" cy="2006600"/>
          </a:xfrm>
          <a:prstGeom prst="rect">
            <a:avLst/>
          </a:prstGeom>
          <a:noFill/>
          <a:ln/>
        </p:spPr>
        <p:txBody>
          <a:bodyPr wrap="square" lIns="0" tIns="0" rIns="0" bIns="0" rtlCol="0" anchor="t">
            <a:normAutofit/>
          </a:bodyPr>
          <a:lstStyle/>
          <a:p>
            <a:pPr algn="l" marL="155956" indent="-155956">
              <a:lnSpc>
                <a:spcPts val="1950"/>
              </a:lnSpc>
              <a:buSzPct val="100000"/>
              <a:buChar char="•"/>
            </a:pPr>
            <a:r>
              <a:rPr lang="en-US" sz="1300" dirty="0">
                <a:solidFill>
                  <a:srgbClr val="46516B"/>
                </a:solidFill>
                <a:latin typeface="Public Sans" pitchFamily="34" charset="0"/>
                <a:ea typeface="Public Sans" pitchFamily="34" charset="-122"/>
                <a:cs typeface="Public Sans" pitchFamily="34" charset="-120"/>
              </a:rPr>
              <a:t>Remove 49 duplicate rows and the 1 row with every road flag missing</a:t>
            </a:r>
            <a:endParaRPr lang="en-US" sz="1300" dirty="0"/>
          </a:p>
          <a:p>
            <a:pPr algn="l" marL="155956" indent="-155956">
              <a:lnSpc>
                <a:spcPts val="1950"/>
              </a:lnSpc>
              <a:buSzPct val="100000"/>
              <a:buChar char="•"/>
            </a:pPr>
            <a:r>
              <a:rPr lang="en-US" sz="1300" dirty="0">
                <a:solidFill>
                  <a:srgbClr val="46516B"/>
                </a:solidFill>
                <a:latin typeface="Public Sans" pitchFamily="34" charset="0"/>
                <a:ea typeface="Public Sans" pitchFamily="34" charset="-122"/>
                <a:cs typeface="Public Sans" pitchFamily="34" charset="-120"/>
              </a:rPr>
              <a:t>road_direction: 90 missing (0.06%) — drop or impute with the most common value</a:t>
            </a:r>
            <a:endParaRPr lang="en-US" sz="1300" dirty="0"/>
          </a:p>
          <a:p>
            <a:pPr algn="l" marL="155956" indent="-155956">
              <a:lnSpc>
                <a:spcPts val="1950"/>
              </a:lnSpc>
              <a:buSzPct val="100000"/>
              <a:buChar char="•"/>
            </a:pPr>
            <a:r>
              <a:rPr lang="en-US" sz="1300" dirty="0">
                <a:solidFill>
                  <a:srgbClr val="46516B"/>
                </a:solidFill>
                <a:latin typeface="Public Sans" pitchFamily="34" charset="0"/>
                <a:ea typeface="Public Sans" pitchFamily="34" charset="-122"/>
                <a:cs typeface="Public Sans" pitchFamily="34" charset="-120"/>
              </a:rPr>
              <a:t>Drop latitude/longitude (71% missing, period-dependent); use km + highway_type for location</a:t>
            </a:r>
            <a:endParaRPr lang="en-US" sz="1300" dirty="0"/>
          </a:p>
          <a:p>
            <a:pPr algn="l" marL="155956" indent="-155956">
              <a:lnSpc>
                <a:spcPts val="1950"/>
              </a:lnSpc>
              <a:buSzPct val="100000"/>
              <a:buChar char="•"/>
            </a:pPr>
            <a:r>
              <a:rPr lang="en-US" sz="1300" dirty="0">
                <a:solidFill>
                  <a:srgbClr val="46516B"/>
                </a:solidFill>
                <a:latin typeface="Public Sans" pitchFamily="34" charset="0"/>
                <a:ea typeface="Public Sans" pitchFamily="34" charset="-122"/>
                <a:cs typeface="Public Sans" pitchFamily="34" charset="-120"/>
              </a:rPr>
              <a:t>Check the 248 rows at km &gt; 1,000 against highway length — cap or drop</a:t>
            </a:r>
            <a:endParaRPr lang="en-US" sz="1300" dirty="0"/>
          </a:p>
          <a:p>
            <a:pPr algn="l" marL="155956" indent="-155956">
              <a:lnSpc>
                <a:spcPts val="1950"/>
              </a:lnSpc>
              <a:buSzPct val="100000"/>
              <a:buChar char="•"/>
            </a:pPr>
            <a:r>
              <a:rPr lang="en-US" sz="1300" dirty="0">
                <a:solidFill>
                  <a:srgbClr val="46516B"/>
                </a:solidFill>
                <a:latin typeface="Public Sans" pitchFamily="34" charset="0"/>
                <a:ea typeface="Public Sans" pitchFamily="34" charset="-122"/>
                <a:cs typeface="Public Sans" pitchFamily="34" charset="-120"/>
              </a:rPr>
              <a:t>Treat coded categories (time_of_day, highway_type, roadway_type) as categorical, not ordered numbers</a:t>
            </a:r>
            <a:endParaRPr lang="en-US" sz="1300" dirty="0"/>
          </a:p>
          <a:p>
            <a:pPr algn="l" marL="155956" indent="-155956">
              <a:lnSpc>
                <a:spcPts val="1950"/>
              </a:lnSpc>
              <a:buSzPct val="100000"/>
              <a:buChar char="•"/>
            </a:pPr>
            <a:r>
              <a:rPr lang="en-US" sz="1300" dirty="0">
                <a:solidFill>
                  <a:srgbClr val="46516B"/>
                </a:solidFill>
                <a:latin typeface="Public Sans" pitchFamily="34" charset="0"/>
                <a:ea typeface="Public Sans" pitchFamily="34" charset="-122"/>
                <a:cs typeface="Public Sans" pitchFamily="34" charset="-120"/>
              </a:rPr>
              <a:t>Group sparse flags (Tunnel, Temporary_Detour, Bridge, Overpass) into one "special structure" flag</a:t>
            </a:r>
            <a:endParaRPr lang="en-US" sz="1300" dirty="0"/>
          </a:p>
          <a:p>
            <a:pPr algn="l" marL="155956" indent="-155956">
              <a:lnSpc>
                <a:spcPts val="1950"/>
              </a:lnSpc>
              <a:buSzPct val="100000"/>
              <a:buChar char="•"/>
            </a:pPr>
            <a:r>
              <a:rPr lang="en-US" sz="1300" dirty="0">
                <a:solidFill>
                  <a:srgbClr val="46516B"/>
                </a:solidFill>
                <a:latin typeface="Public Sans" pitchFamily="34" charset="0"/>
                <a:ea typeface="Public Sans" pitchFamily="34" charset="-122"/>
                <a:cs typeface="Public Sans" pitchFamily="34" charset="-120"/>
              </a:rPr>
              <a:t>Split </a:t>
            </a:r>
            <a:r>
              <a:rPr lang="en-US" sz="1300" b="1" dirty="0">
                <a:solidFill>
                  <a:srgbClr val="46516B"/>
                </a:solidFill>
                <a:latin typeface="Public Sans" pitchFamily="34" charset="0"/>
                <a:ea typeface="Public Sans" pitchFamily="34" charset="-122"/>
                <a:cs typeface="Public Sans" pitchFamily="34" charset="-120"/>
              </a:rPr>
              <a:t>by time</a:t>
            </a:r>
            <a:r>
              <a:rPr lang="en-US" sz="1300" dirty="0">
                <a:solidFill>
                  <a:srgbClr val="46516B"/>
                </a:solidFill>
                <a:latin typeface="Public Sans" pitchFamily="34" charset="0"/>
                <a:ea typeface="Public Sans" pitchFamily="34" charset="-122"/>
                <a:cs typeface="Public Sans" pitchFamily="34" charset="-120"/>
              </a:rPr>
              <a:t>, not randomly — e.g. train 2017–2023, validate 2024, test 2025 [to confirm]</a:t>
            </a:r>
            <a:endParaRPr lang="en-US" sz="1300" dirty="0"/>
          </a:p>
          <a:p>
            <a:pPr algn="l" marL="155956" indent="-155956">
              <a:lnSpc>
                <a:spcPts val="1950"/>
              </a:lnSpc>
              <a:buSzPct val="100000"/>
              <a:buChar char="•"/>
            </a:pPr>
            <a:r>
              <a:rPr lang="en-US" sz="1300" dirty="0">
                <a:solidFill>
                  <a:srgbClr val="46516B"/>
                </a:solidFill>
                <a:latin typeface="Public Sans" pitchFamily="34" charset="0"/>
                <a:ea typeface="Public Sans" pitchFamily="34" charset="-122"/>
                <a:cs typeface="Public Sans" pitchFamily="34" charset="-120"/>
              </a:rPr>
              <a:t>Handle the rare fatal class — class weights or threshold tuning, not blind oversampling</a:t>
            </a:r>
            <a:endParaRPr lang="en-US" sz="1300" dirty="0"/>
          </a:p>
        </p:txBody>
      </p:sp>
      <p:sp>
        <p:nvSpPr>
          <p:cNvPr id="5" name="Text 3"/>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Draft outline</a:t>
            </a:r>
            <a:endParaRPr lang="en-US" sz="1200" dirty="0"/>
          </a:p>
        </p:txBody>
      </p:sp>
      <p:sp>
        <p:nvSpPr>
          <p:cNvPr id="6" name="Text 4"/>
          <p:cNvSpPr/>
          <p:nvPr/>
        </p:nvSpPr>
        <p:spPr>
          <a:xfrm>
            <a:off x="11221145" y="6238280"/>
            <a:ext cx="2088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5213B"/>
        </a:solidFill>
      </p:bgPr>
    </p:bg>
    <p:spTree>
      <p:nvGrpSpPr>
        <p:cNvPr id="1" name=""/>
        <p:cNvGrpSpPr/>
        <p:nvPr/>
      </p:nvGrpSpPr>
      <p:grpSpPr>
        <a:xfrm>
          <a:off x="0" y="0"/>
          <a:ext cx="0" cy="0"/>
          <a:chOff x="0" y="0"/>
          <a:chExt cx="0" cy="0"/>
        </a:xfrm>
      </p:grpSpPr>
      <p:sp>
        <p:nvSpPr>
          <p:cNvPr id="2" name="Text 0"/>
          <p:cNvSpPr/>
          <p:nvPr/>
        </p:nvSpPr>
        <p:spPr>
          <a:xfrm>
            <a:off x="812800" y="267335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7CCDD"/>
                </a:solidFill>
                <a:latin typeface="Public Sans" pitchFamily="34" charset="0"/>
                <a:ea typeface="Public Sans" pitchFamily="34" charset="-122"/>
                <a:cs typeface="Public Sans" pitchFamily="34" charset="-120"/>
              </a:rPr>
              <a:t>04</a:t>
            </a:r>
            <a:endParaRPr lang="en-US" sz="2000" dirty="0"/>
          </a:p>
        </p:txBody>
      </p:sp>
      <p:sp>
        <p:nvSpPr>
          <p:cNvPr id="3" name="Text 1"/>
          <p:cNvSpPr/>
          <p:nvPr>
            <p:ph type="title"/>
          </p:nvPr>
        </p:nvSpPr>
        <p:spPr>
          <a:xfrm>
            <a:off x="812800" y="3181350"/>
            <a:ext cx="10883392" cy="609600"/>
          </a:xfrm>
          <a:prstGeom prst="rect">
            <a:avLst/>
          </a:prstGeom>
          <a:noFill/>
          <a:ln/>
        </p:spPr>
        <p:txBody>
          <a:bodyPr wrap="square" lIns="0" tIns="0" rIns="0" bIns="0" rtlCol="0" anchor="t">
            <a:normAutofit/>
          </a:bodyPr>
          <a:lstStyle/>
          <a:p>
            <a:pPr algn="l" indent="0" marL="0">
              <a:lnSpc>
                <a:spcPts val="4600"/>
              </a:lnSpc>
              <a:buNone/>
            </a:pPr>
            <a:r>
              <a:rPr lang="en-US" sz="4000" b="1" i="0" dirty="0">
                <a:solidFill>
                  <a:srgbClr val="F4F1E8"/>
                </a:solidFill>
                <a:latin typeface="Libre Baskerville" pitchFamily="18" charset="0"/>
                <a:ea typeface="Libre Baskerville" pitchFamily="18" charset="-122"/>
                <a:cs typeface="Libre Baskerville" pitchFamily="18" charset="-120"/>
              </a:rPr>
              <a:t>Predictive modelling</a:t>
            </a:r>
            <a:endParaRPr lang="en-US" sz="4000" dirty="0"/>
          </a:p>
        </p:txBody>
      </p:sp>
      <p:sp>
        <p:nvSpPr>
          <p:cNvPr id="4" name="Text 2"/>
          <p:cNvSpPr/>
          <p:nvPr/>
        </p:nvSpPr>
        <p:spPr>
          <a:xfrm>
            <a:off x="812800" y="3917950"/>
            <a:ext cx="850265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7CCDD"/>
                </a:solidFill>
                <a:latin typeface="Public Sans" pitchFamily="34" charset="0"/>
                <a:ea typeface="Public Sans" pitchFamily="34" charset="-122"/>
                <a:cs typeface="Public Sans" pitchFamily="34" charset="-120"/>
              </a:rPr>
              <a:t>Task 3 — 25% of the grade. Beat a baseline, on data the model has never seen.</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3B"/>
                </a:solidFill>
                <a:latin typeface="Public Sans" pitchFamily="34" charset="0"/>
                <a:ea typeface="Public Sans" pitchFamily="34" charset="-122"/>
                <a:cs typeface="Public Sans" pitchFamily="34" charset="-120"/>
              </a:rPr>
              <a:t>04 · PREDICTIVE MODELLING</a:t>
            </a:r>
            <a:endParaRPr lang="en-US" sz="1200" dirty="0"/>
          </a:p>
        </p:txBody>
      </p:sp>
      <p:sp>
        <p:nvSpPr>
          <p:cNvPr id="3" name="Text 1"/>
          <p:cNvSpPr/>
          <p:nvPr>
            <p:ph type="title"/>
          </p:nvPr>
        </p:nvSpPr>
        <p:spPr>
          <a:xfrm>
            <a:off x="812800" y="1026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5213B"/>
                </a:solidFill>
                <a:latin typeface="Libre Baskerville" pitchFamily="18" charset="0"/>
                <a:ea typeface="Libre Baskerville" pitchFamily="18" charset="-122"/>
                <a:cs typeface="Libre Baskerville" pitchFamily="18" charset="-120"/>
              </a:rPr>
              <a:t>Benchmark ladder — what must we beat?</a:t>
            </a:r>
            <a:endParaRPr lang="en-US" sz="3000" dirty="0"/>
          </a:p>
        </p:txBody>
      </p:sp>
      <p:sp>
        <p:nvSpPr>
          <p:cNvPr id="4" name="Shape 2"/>
          <p:cNvSpPr/>
          <p:nvPr/>
        </p:nvSpPr>
        <p:spPr>
          <a:xfrm>
            <a:off x="812800" y="1642070"/>
            <a:ext cx="10566400" cy="485130"/>
          </a:xfrm>
          <a:prstGeom prst="roundRect">
            <a:avLst>
              <a:gd name="adj" fmla="val 13089"/>
            </a:avLst>
          </a:prstGeom>
          <a:solidFill>
            <a:srgbClr val="15213B"/>
          </a:solidFill>
          <a:ln/>
        </p:spPr>
      </p:sp>
      <p:sp>
        <p:nvSpPr>
          <p:cNvPr id="5" name="Text 3"/>
          <p:cNvSpPr/>
          <p:nvPr/>
        </p:nvSpPr>
        <p:spPr>
          <a:xfrm>
            <a:off x="1016000" y="1769070"/>
            <a:ext cx="300863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4F1E8"/>
                </a:solidFill>
                <a:latin typeface="Public Sans" pitchFamily="34" charset="0"/>
                <a:ea typeface="Public Sans" pitchFamily="34" charset="-122"/>
                <a:cs typeface="Public Sans" pitchFamily="34" charset="-120"/>
              </a:rPr>
              <a:t>Our model (target)</a:t>
            </a:r>
            <a:endParaRPr lang="en-US" sz="1300" dirty="0"/>
          </a:p>
        </p:txBody>
      </p:sp>
      <p:sp>
        <p:nvSpPr>
          <p:cNvPr id="6" name="Text 4"/>
          <p:cNvSpPr/>
          <p:nvPr/>
        </p:nvSpPr>
        <p:spPr>
          <a:xfrm>
            <a:off x="4114800" y="1777950"/>
            <a:ext cx="72730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7CCDD"/>
                </a:solidFill>
                <a:latin typeface="Public Sans" pitchFamily="34" charset="0"/>
                <a:ea typeface="Public Sans" pitchFamily="34" charset="-122"/>
                <a:cs typeface="Public Sans" pitchFamily="34" charset="-120"/>
              </a:rPr>
              <a:t>[result once trained]</a:t>
            </a:r>
            <a:endParaRPr lang="en-US" sz="1200" dirty="0"/>
          </a:p>
        </p:txBody>
      </p:sp>
      <p:sp>
        <p:nvSpPr>
          <p:cNvPr id="7" name="Shape 5"/>
          <p:cNvSpPr/>
          <p:nvPr/>
        </p:nvSpPr>
        <p:spPr>
          <a:xfrm>
            <a:off x="815975" y="2193875"/>
            <a:ext cx="10560050" cy="491480"/>
          </a:xfrm>
          <a:prstGeom prst="roundRect">
            <a:avLst>
              <a:gd name="adj" fmla="val 12274"/>
            </a:avLst>
          </a:prstGeom>
          <a:solidFill>
            <a:srgbClr val="FDFDFB"/>
          </a:solidFill>
          <a:ln w="6350">
            <a:solidFill>
              <a:srgbClr val="E2DFD6"/>
            </a:solidFill>
            <a:prstDash val="solid"/>
          </a:ln>
        </p:spPr>
      </p:sp>
      <p:sp>
        <p:nvSpPr>
          <p:cNvPr id="8" name="Text 6"/>
          <p:cNvSpPr/>
          <p:nvPr/>
        </p:nvSpPr>
        <p:spPr>
          <a:xfrm>
            <a:off x="1022350" y="2324050"/>
            <a:ext cx="300863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Business rule / expert heuristic</a:t>
            </a:r>
            <a:endParaRPr lang="en-US" sz="1300" dirty="0"/>
          </a:p>
        </p:txBody>
      </p:sp>
      <p:sp>
        <p:nvSpPr>
          <p:cNvPr id="9" name="Text 7"/>
          <p:cNvSpPr/>
          <p:nvPr/>
        </p:nvSpPr>
        <p:spPr>
          <a:xfrm>
            <a:off x="4121150" y="2332930"/>
            <a:ext cx="72599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16B"/>
                </a:solidFill>
                <a:latin typeface="Public Sans" pitchFamily="34" charset="0"/>
                <a:ea typeface="Public Sans" pitchFamily="34" charset="-122"/>
                <a:cs typeface="Public Sans" pitchFamily="34" charset="-120"/>
              </a:rPr>
              <a:t>e.g. flag rural, multi-lane, night-time accidents as high severity [to test]</a:t>
            </a:r>
            <a:endParaRPr lang="en-US" sz="1200" dirty="0"/>
          </a:p>
        </p:txBody>
      </p:sp>
      <p:sp>
        <p:nvSpPr>
          <p:cNvPr id="10" name="Shape 8"/>
          <p:cNvSpPr/>
          <p:nvPr/>
        </p:nvSpPr>
        <p:spPr>
          <a:xfrm>
            <a:off x="815975" y="2755205"/>
            <a:ext cx="10560050" cy="491480"/>
          </a:xfrm>
          <a:prstGeom prst="roundRect">
            <a:avLst>
              <a:gd name="adj" fmla="val 12274"/>
            </a:avLst>
          </a:prstGeom>
          <a:solidFill>
            <a:srgbClr val="FDFDFB"/>
          </a:solidFill>
          <a:ln w="6350">
            <a:solidFill>
              <a:srgbClr val="E2DFD6"/>
            </a:solidFill>
            <a:prstDash val="solid"/>
          </a:ln>
        </p:spPr>
      </p:sp>
      <p:sp>
        <p:nvSpPr>
          <p:cNvPr id="11" name="Text 9"/>
          <p:cNvSpPr/>
          <p:nvPr/>
        </p:nvSpPr>
        <p:spPr>
          <a:xfrm>
            <a:off x="1022350" y="2885380"/>
            <a:ext cx="300863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Minimally viable</a:t>
            </a:r>
            <a:endParaRPr lang="en-US" sz="1300" dirty="0"/>
          </a:p>
        </p:txBody>
      </p:sp>
      <p:sp>
        <p:nvSpPr>
          <p:cNvPr id="12" name="Text 10"/>
          <p:cNvSpPr/>
          <p:nvPr/>
        </p:nvSpPr>
        <p:spPr>
          <a:xfrm>
            <a:off x="4121150" y="2894261"/>
            <a:ext cx="72599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16B"/>
                </a:solidFill>
                <a:latin typeface="Public Sans" pitchFamily="34" charset="0"/>
                <a:ea typeface="Public Sans" pitchFamily="34" charset="-122"/>
                <a:cs typeface="Public Sans" pitchFamily="34" charset="-120"/>
              </a:rPr>
              <a:t>Single most informative feature alone</a:t>
            </a:r>
            <a:endParaRPr lang="en-US" sz="1200" dirty="0"/>
          </a:p>
        </p:txBody>
      </p:sp>
      <p:sp>
        <p:nvSpPr>
          <p:cNvPr id="13" name="Shape 11"/>
          <p:cNvSpPr/>
          <p:nvPr/>
        </p:nvSpPr>
        <p:spPr>
          <a:xfrm>
            <a:off x="815975" y="3316536"/>
            <a:ext cx="10560050" cy="491480"/>
          </a:xfrm>
          <a:prstGeom prst="roundRect">
            <a:avLst>
              <a:gd name="adj" fmla="val 12274"/>
            </a:avLst>
          </a:prstGeom>
          <a:solidFill>
            <a:srgbClr val="FDFDFB"/>
          </a:solidFill>
          <a:ln w="6350">
            <a:solidFill>
              <a:srgbClr val="E2DFD6"/>
            </a:solidFill>
            <a:prstDash val="solid"/>
          </a:ln>
        </p:spPr>
      </p:sp>
      <p:sp>
        <p:nvSpPr>
          <p:cNvPr id="14" name="Text 12"/>
          <p:cNvSpPr/>
          <p:nvPr/>
        </p:nvSpPr>
        <p:spPr>
          <a:xfrm>
            <a:off x="1022350" y="3446711"/>
            <a:ext cx="300863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Dumb baseline</a:t>
            </a:r>
            <a:endParaRPr lang="en-US" sz="1300" dirty="0"/>
          </a:p>
        </p:txBody>
      </p:sp>
      <p:sp>
        <p:nvSpPr>
          <p:cNvPr id="15" name="Text 13"/>
          <p:cNvSpPr/>
          <p:nvPr/>
        </p:nvSpPr>
        <p:spPr>
          <a:xfrm>
            <a:off x="4121150" y="3455591"/>
            <a:ext cx="72599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16B"/>
                </a:solidFill>
                <a:latin typeface="Public Sans" pitchFamily="34" charset="0"/>
                <a:ea typeface="Public Sans" pitchFamily="34" charset="-122"/>
                <a:cs typeface="Public Sans" pitchFamily="34" charset="-120"/>
              </a:rPr>
              <a:t>Class-majority classifier — catches 0% of fatal accidents</a:t>
            </a:r>
            <a:endParaRPr lang="en-US" sz="1200" dirty="0"/>
          </a:p>
        </p:txBody>
      </p:sp>
      <p:sp>
        <p:nvSpPr>
          <p:cNvPr id="16" name="Shape 14"/>
          <p:cNvSpPr/>
          <p:nvPr/>
        </p:nvSpPr>
        <p:spPr>
          <a:xfrm>
            <a:off x="815975" y="3877866"/>
            <a:ext cx="10560050" cy="491480"/>
          </a:xfrm>
          <a:prstGeom prst="roundRect">
            <a:avLst>
              <a:gd name="adj" fmla="val 12274"/>
            </a:avLst>
          </a:prstGeom>
          <a:solidFill>
            <a:srgbClr val="FDFDFB"/>
          </a:solidFill>
          <a:ln w="6350">
            <a:solidFill>
              <a:srgbClr val="E2DFD6"/>
            </a:solidFill>
            <a:prstDash val="solid"/>
          </a:ln>
        </p:spPr>
      </p:sp>
      <p:sp>
        <p:nvSpPr>
          <p:cNvPr id="17" name="Text 15"/>
          <p:cNvSpPr/>
          <p:nvPr/>
        </p:nvSpPr>
        <p:spPr>
          <a:xfrm>
            <a:off x="1022350" y="4008041"/>
            <a:ext cx="300863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Random</a:t>
            </a:r>
            <a:endParaRPr lang="en-US" sz="1300" dirty="0"/>
          </a:p>
        </p:txBody>
      </p:sp>
      <p:sp>
        <p:nvSpPr>
          <p:cNvPr id="18" name="Text 16"/>
          <p:cNvSpPr/>
          <p:nvPr/>
        </p:nvSpPr>
        <p:spPr>
          <a:xfrm>
            <a:off x="4121150" y="4016921"/>
            <a:ext cx="72599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16B"/>
                </a:solidFill>
                <a:latin typeface="Public Sans" pitchFamily="34" charset="0"/>
                <a:ea typeface="Public Sans" pitchFamily="34" charset="-122"/>
                <a:cs typeface="Public Sans" pitchFamily="34" charset="-120"/>
              </a:rPr>
              <a:t>Minimal rung — anyone can beat this</a:t>
            </a:r>
            <a:endParaRPr lang="en-US" sz="1200" dirty="0"/>
          </a:p>
        </p:txBody>
      </p:sp>
      <p:sp>
        <p:nvSpPr>
          <p:cNvPr id="19" name="Text 17"/>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Draft outline</a:t>
            </a:r>
            <a:endParaRPr lang="en-US" sz="1200" dirty="0"/>
          </a:p>
        </p:txBody>
      </p:sp>
      <p:sp>
        <p:nvSpPr>
          <p:cNvPr id="20" name="Text 18"/>
          <p:cNvSpPr/>
          <p:nvPr/>
        </p:nvSpPr>
        <p:spPr>
          <a:xfrm>
            <a:off x="11219607" y="6238280"/>
            <a:ext cx="2103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3B"/>
                </a:solidFill>
                <a:latin typeface="Public Sans" pitchFamily="34" charset="0"/>
                <a:ea typeface="Public Sans" pitchFamily="34" charset="-122"/>
                <a:cs typeface="Public Sans" pitchFamily="34" charset="-120"/>
              </a:rPr>
              <a:t>04 · PREDICTIVE MODELLING</a:t>
            </a:r>
            <a:endParaRPr lang="en-US" sz="1200" dirty="0"/>
          </a:p>
        </p:txBody>
      </p:sp>
      <p:sp>
        <p:nvSpPr>
          <p:cNvPr id="3" name="Text 1"/>
          <p:cNvSpPr/>
          <p:nvPr>
            <p:ph type="title"/>
          </p:nvPr>
        </p:nvSpPr>
        <p:spPr>
          <a:xfrm>
            <a:off x="812800" y="1026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5213B"/>
                </a:solidFill>
                <a:latin typeface="Libre Baskerville" pitchFamily="18" charset="0"/>
                <a:ea typeface="Libre Baskerville" pitchFamily="18" charset="-122"/>
                <a:cs typeface="Libre Baskerville" pitchFamily="18" charset="-120"/>
              </a:rPr>
              <a:t>Models to compare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80170"/>
          <a:ext cx="10553700" cy="1437283"/>
        </p:xfrm>
        <a:graphic>
          <a:graphicData uri="http://schemas.openxmlformats.org/drawingml/2006/table">
            <a:tbl>
              <a:tblPr/>
              <a:tblGrid>
                <a:gridCol w="2743962"/>
                <a:gridCol w="4643628"/>
                <a:gridCol w="3166110"/>
              </a:tblGrid>
              <a:tr h="359321">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Approach</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Why include it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1820"/>
                        </a:lnSpc>
                        <a:buNone/>
                      </a:pPr>
                      <a:r>
                        <a:rPr lang="en-US" sz="1300" b="1" dirty="0">
                          <a:solidFill>
                            <a:srgbClr val="15213B"/>
                          </a:solidFill>
                          <a:latin typeface="Public Sans" pitchFamily="34" charset="0"/>
                          <a:ea typeface="Public Sans" pitchFamily="34" charset="-122"/>
                          <a:cs typeface="Public Sans" pitchFamily="34" charset="-120"/>
                        </a:rPr>
                        <a:t>Status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r>
              <a:tr h="359321">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Baseline (majority class)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Establishes the floor every model must beat</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 ]</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Logistic regression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Simple, interpretable, fast to explain to the authority</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 ]</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9321">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Gradient-boosted trees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Captures non-linear patterns in road/time features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1820"/>
                        </a:lnSpc>
                        <a:buNone/>
                      </a:pPr>
                      <a:r>
                        <a:rPr lang="en-US" sz="1300" dirty="0">
                          <a:solidFill>
                            <a:srgbClr val="15213B"/>
                          </a:solidFill>
                          <a:latin typeface="Public Sans" pitchFamily="34" charset="0"/>
                          <a:ea typeface="Public Sans" pitchFamily="34" charset="-122"/>
                          <a:cs typeface="Public Sans" pitchFamily="34" charset="-120"/>
                        </a:rPr>
                        <a:t>[ ]</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bl>
          </a:graphicData>
        </a:graphic>
      </p:graphicFrame>
      <p:sp>
        <p:nvSpPr>
          <p:cNvPr id="5" name="Text 2"/>
          <p:cNvSpPr/>
          <p:nvPr/>
        </p:nvSpPr>
        <p:spPr>
          <a:xfrm>
            <a:off x="812800" y="3320653"/>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16B"/>
                </a:solidFill>
                <a:latin typeface="Public Sans" pitchFamily="34" charset="0"/>
                <a:ea typeface="Public Sans" pitchFamily="34" charset="-122"/>
                <a:cs typeface="Public Sans" pitchFamily="34" charset="-120"/>
              </a:rPr>
              <a:t>Metrics matched to the decision, not accuracy: with 4.8% fatal, "never fatal" scores ~95% accuracy and is useless — use recall and PR-AUC on the fatal class.</a:t>
            </a:r>
            <a:endParaRPr lang="en-US" sz="1400" dirty="0"/>
          </a:p>
        </p:txBody>
      </p:sp>
      <p:sp>
        <p:nvSpPr>
          <p:cNvPr id="6" name="Text 3"/>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Draft outline</a:t>
            </a:r>
            <a:endParaRPr lang="en-US" sz="1200" dirty="0"/>
          </a:p>
        </p:txBody>
      </p:sp>
      <p:sp>
        <p:nvSpPr>
          <p:cNvPr id="7" name="Text 4"/>
          <p:cNvSpPr/>
          <p:nvPr/>
        </p:nvSpPr>
        <p:spPr>
          <a:xfrm>
            <a:off x="11222286" y="6238280"/>
            <a:ext cx="2077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5213B"/>
        </a:solidFill>
      </p:bgPr>
    </p:bg>
    <p:spTree>
      <p:nvGrpSpPr>
        <p:cNvPr id="1" name=""/>
        <p:cNvGrpSpPr/>
        <p:nvPr/>
      </p:nvGrpSpPr>
      <p:grpSpPr>
        <a:xfrm>
          <a:off x="0" y="0"/>
          <a:ext cx="0" cy="0"/>
          <a:chOff x="0" y="0"/>
          <a:chExt cx="0" cy="0"/>
        </a:xfrm>
      </p:grpSpPr>
      <p:sp>
        <p:nvSpPr>
          <p:cNvPr id="2" name="Text 0"/>
          <p:cNvSpPr/>
          <p:nvPr/>
        </p:nvSpPr>
        <p:spPr>
          <a:xfrm>
            <a:off x="812800" y="267335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7CCDD"/>
                </a:solidFill>
                <a:latin typeface="Public Sans" pitchFamily="34" charset="0"/>
                <a:ea typeface="Public Sans" pitchFamily="34" charset="-122"/>
                <a:cs typeface="Public Sans" pitchFamily="34" charset="-120"/>
              </a:rPr>
              <a:t>05</a:t>
            </a:r>
            <a:endParaRPr lang="en-US" sz="2000" dirty="0"/>
          </a:p>
        </p:txBody>
      </p:sp>
      <p:sp>
        <p:nvSpPr>
          <p:cNvPr id="3" name="Text 1"/>
          <p:cNvSpPr/>
          <p:nvPr>
            <p:ph type="title"/>
          </p:nvPr>
        </p:nvSpPr>
        <p:spPr>
          <a:xfrm>
            <a:off x="812800" y="3181350"/>
            <a:ext cx="10883392" cy="609600"/>
          </a:xfrm>
          <a:prstGeom prst="rect">
            <a:avLst/>
          </a:prstGeom>
          <a:noFill/>
          <a:ln/>
        </p:spPr>
        <p:txBody>
          <a:bodyPr wrap="square" lIns="0" tIns="0" rIns="0" bIns="0" rtlCol="0" anchor="t">
            <a:normAutofit/>
          </a:bodyPr>
          <a:lstStyle/>
          <a:p>
            <a:pPr algn="l" indent="0" marL="0">
              <a:lnSpc>
                <a:spcPts val="4600"/>
              </a:lnSpc>
              <a:buNone/>
            </a:pPr>
            <a:r>
              <a:rPr lang="en-US" sz="4000" b="1" i="0" dirty="0">
                <a:solidFill>
                  <a:srgbClr val="F4F1E8"/>
                </a:solidFill>
                <a:latin typeface="Libre Baskerville" pitchFamily="18" charset="0"/>
                <a:ea typeface="Libre Baskerville" pitchFamily="18" charset="-122"/>
                <a:cs typeface="Libre Baskerville" pitchFamily="18" charset="-120"/>
              </a:rPr>
              <a:t>Conclusions</a:t>
            </a:r>
            <a:endParaRPr lang="en-US" sz="4000" dirty="0"/>
          </a:p>
        </p:txBody>
      </p:sp>
      <p:sp>
        <p:nvSpPr>
          <p:cNvPr id="4" name="Text 2"/>
          <p:cNvSpPr/>
          <p:nvPr/>
        </p:nvSpPr>
        <p:spPr>
          <a:xfrm>
            <a:off x="812800" y="3917950"/>
            <a:ext cx="850265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7CCDD"/>
                </a:solidFill>
                <a:latin typeface="Public Sans" pitchFamily="34" charset="0"/>
                <a:ea typeface="Public Sans" pitchFamily="34" charset="-122"/>
                <a:cs typeface="Public Sans" pitchFamily="34" charset="-120"/>
              </a:rPr>
              <a:t>What we found, what we'd still need, and what comes next.</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3B"/>
                </a:solidFill>
                <a:latin typeface="Public Sans" pitchFamily="34" charset="0"/>
                <a:ea typeface="Public Sans" pitchFamily="34" charset="-122"/>
                <a:cs typeface="Public Sans" pitchFamily="34" charset="-120"/>
              </a:rPr>
              <a:t>05 · CONCLUSIONS</a:t>
            </a:r>
            <a:endParaRPr lang="en-US" sz="1200" dirty="0"/>
          </a:p>
        </p:txBody>
      </p:sp>
      <p:sp>
        <p:nvSpPr>
          <p:cNvPr id="3" name="Text 1"/>
          <p:cNvSpPr/>
          <p:nvPr>
            <p:ph type="title"/>
          </p:nvPr>
        </p:nvSpPr>
        <p:spPr>
          <a:xfrm>
            <a:off x="812800" y="10261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5213B"/>
                </a:solidFill>
                <a:latin typeface="Libre Baskerville" pitchFamily="18" charset="0"/>
                <a:ea typeface="Libre Baskerville" pitchFamily="18" charset="-122"/>
                <a:cs typeface="Libre Baskerville" pitchFamily="18" charset="-120"/>
              </a:rPr>
              <a:t>Findings, limitations &amp; future work</a:t>
            </a:r>
            <a:endParaRPr lang="en-US" sz="2800" dirty="0"/>
          </a:p>
        </p:txBody>
      </p:sp>
      <p:sp>
        <p:nvSpPr>
          <p:cNvPr id="4" name="Shape 2"/>
          <p:cNvSpPr/>
          <p:nvPr/>
        </p:nvSpPr>
        <p:spPr>
          <a:xfrm>
            <a:off x="815975" y="1552525"/>
            <a:ext cx="10560050" cy="516880"/>
          </a:xfrm>
          <a:prstGeom prst="roundRect">
            <a:avLst>
              <a:gd name="adj" fmla="val 14128"/>
            </a:avLst>
          </a:prstGeom>
          <a:solidFill>
            <a:srgbClr val="FDFDFB"/>
          </a:solidFill>
          <a:ln w="6350">
            <a:solidFill>
              <a:srgbClr val="E2DFD6"/>
            </a:solidFill>
            <a:prstDash val="solid"/>
          </a:ln>
        </p:spPr>
      </p:sp>
      <p:sp>
        <p:nvSpPr>
          <p:cNvPr id="5" name="Text 3"/>
          <p:cNvSpPr/>
          <p:nvPr/>
        </p:nvSpPr>
        <p:spPr>
          <a:xfrm>
            <a:off x="1022350" y="1695400"/>
            <a:ext cx="222377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5A26"/>
                </a:solidFill>
                <a:latin typeface="Public Sans" pitchFamily="34" charset="0"/>
                <a:ea typeface="Public Sans" pitchFamily="34" charset="-122"/>
                <a:cs typeface="Public Sans" pitchFamily="34" charset="-120"/>
              </a:rPr>
              <a:t>Key finding</a:t>
            </a:r>
            <a:endParaRPr lang="en-US" sz="1300" dirty="0"/>
          </a:p>
        </p:txBody>
      </p:sp>
      <p:sp>
        <p:nvSpPr>
          <p:cNvPr id="6" name="Text 4"/>
          <p:cNvSpPr/>
          <p:nvPr/>
        </p:nvSpPr>
        <p:spPr>
          <a:xfrm>
            <a:off x="3333750" y="1695400"/>
            <a:ext cx="807097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16B"/>
                </a:solidFill>
                <a:latin typeface="Public Sans" pitchFamily="34" charset="0"/>
                <a:ea typeface="Public Sans" pitchFamily="34" charset="-122"/>
                <a:cs typeface="Public Sans" pitchFamily="34" charset="-120"/>
              </a:rPr>
              <a:t>[the one result worth remembering]</a:t>
            </a:r>
            <a:endParaRPr lang="en-US" sz="1300" dirty="0"/>
          </a:p>
        </p:txBody>
      </p:sp>
      <p:sp>
        <p:nvSpPr>
          <p:cNvPr id="7" name="Shape 5"/>
          <p:cNvSpPr/>
          <p:nvPr/>
        </p:nvSpPr>
        <p:spPr>
          <a:xfrm>
            <a:off x="815975" y="2151955"/>
            <a:ext cx="10560050" cy="516880"/>
          </a:xfrm>
          <a:prstGeom prst="roundRect">
            <a:avLst>
              <a:gd name="adj" fmla="val 14128"/>
            </a:avLst>
          </a:prstGeom>
          <a:solidFill>
            <a:srgbClr val="FDFDFB"/>
          </a:solidFill>
          <a:ln w="6350">
            <a:solidFill>
              <a:srgbClr val="E2DFD6"/>
            </a:solidFill>
            <a:prstDash val="solid"/>
          </a:ln>
        </p:spPr>
      </p:sp>
      <p:sp>
        <p:nvSpPr>
          <p:cNvPr id="8" name="Text 6"/>
          <p:cNvSpPr/>
          <p:nvPr/>
        </p:nvSpPr>
        <p:spPr>
          <a:xfrm>
            <a:off x="1022350" y="2294830"/>
            <a:ext cx="222377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5A26"/>
                </a:solidFill>
                <a:latin typeface="Public Sans" pitchFamily="34" charset="0"/>
                <a:ea typeface="Public Sans" pitchFamily="34" charset="-122"/>
                <a:cs typeface="Public Sans" pitchFamily="34" charset="-120"/>
              </a:rPr>
              <a:t>Actionable insight</a:t>
            </a:r>
            <a:endParaRPr lang="en-US" sz="1300" dirty="0"/>
          </a:p>
        </p:txBody>
      </p:sp>
      <p:sp>
        <p:nvSpPr>
          <p:cNvPr id="9" name="Text 7"/>
          <p:cNvSpPr/>
          <p:nvPr/>
        </p:nvSpPr>
        <p:spPr>
          <a:xfrm>
            <a:off x="3333750" y="2294830"/>
            <a:ext cx="807097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16B"/>
                </a:solidFill>
                <a:latin typeface="Public Sans" pitchFamily="34" charset="0"/>
                <a:ea typeface="Public Sans" pitchFamily="34" charset="-122"/>
                <a:cs typeface="Public Sans" pitchFamily="34" charset="-120"/>
              </a:rPr>
              <a:t>[what the road-safety authority should actually do]</a:t>
            </a:r>
            <a:endParaRPr lang="en-US" sz="1300" dirty="0"/>
          </a:p>
        </p:txBody>
      </p:sp>
      <p:sp>
        <p:nvSpPr>
          <p:cNvPr id="10" name="Shape 8"/>
          <p:cNvSpPr/>
          <p:nvPr/>
        </p:nvSpPr>
        <p:spPr>
          <a:xfrm>
            <a:off x="815975" y="2751386"/>
            <a:ext cx="10560050" cy="748010"/>
          </a:xfrm>
          <a:prstGeom prst="roundRect">
            <a:avLst>
              <a:gd name="adj" fmla="val 9763"/>
            </a:avLst>
          </a:prstGeom>
          <a:solidFill>
            <a:srgbClr val="FDFDFB"/>
          </a:solidFill>
          <a:ln w="6350">
            <a:solidFill>
              <a:srgbClr val="E2DFD6"/>
            </a:solidFill>
            <a:prstDash val="solid"/>
          </a:ln>
        </p:spPr>
      </p:sp>
      <p:sp>
        <p:nvSpPr>
          <p:cNvPr id="11" name="Text 9"/>
          <p:cNvSpPr/>
          <p:nvPr/>
        </p:nvSpPr>
        <p:spPr>
          <a:xfrm>
            <a:off x="1022350" y="2894261"/>
            <a:ext cx="2223770"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5A26"/>
                </a:solidFill>
                <a:latin typeface="Public Sans" pitchFamily="34" charset="0"/>
                <a:ea typeface="Public Sans" pitchFamily="34" charset="-122"/>
                <a:cs typeface="Public Sans" pitchFamily="34" charset="-120"/>
              </a:rPr>
              <a:t>Limitations</a:t>
            </a:r>
            <a:endParaRPr lang="en-US" sz="1300" dirty="0"/>
          </a:p>
        </p:txBody>
      </p:sp>
      <p:sp>
        <p:nvSpPr>
          <p:cNvPr id="12" name="Text 10"/>
          <p:cNvSpPr/>
          <p:nvPr/>
        </p:nvSpPr>
        <p:spPr>
          <a:xfrm>
            <a:off x="3333750" y="2894261"/>
            <a:ext cx="8070977"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16B"/>
                </a:solidFill>
                <a:latin typeface="Public Sans" pitchFamily="34" charset="0"/>
                <a:ea typeface="Public Sans" pitchFamily="34" charset="-122"/>
                <a:cs typeface="Public Sans" pitchFamily="34" charset="-120"/>
              </a:rPr>
              <a:t>Recording regime shift around 2015–2017 limits older data · no traffic-volume data, so no risk per vehicle-km · GPS only from 2017 · a 150,000-row sample of a larger dataset</a:t>
            </a:r>
            <a:endParaRPr lang="en-US" sz="1300" dirty="0"/>
          </a:p>
        </p:txBody>
      </p:sp>
      <p:sp>
        <p:nvSpPr>
          <p:cNvPr id="13" name="Shape 11"/>
          <p:cNvSpPr/>
          <p:nvPr/>
        </p:nvSpPr>
        <p:spPr>
          <a:xfrm>
            <a:off x="815975" y="3581946"/>
            <a:ext cx="10560050" cy="516880"/>
          </a:xfrm>
          <a:prstGeom prst="roundRect">
            <a:avLst>
              <a:gd name="adj" fmla="val 14128"/>
            </a:avLst>
          </a:prstGeom>
          <a:solidFill>
            <a:srgbClr val="FDFDFB"/>
          </a:solidFill>
          <a:ln w="6350">
            <a:solidFill>
              <a:srgbClr val="E2DFD6"/>
            </a:solidFill>
            <a:prstDash val="solid"/>
          </a:ln>
        </p:spPr>
      </p:sp>
      <p:sp>
        <p:nvSpPr>
          <p:cNvPr id="14" name="Text 12"/>
          <p:cNvSpPr/>
          <p:nvPr/>
        </p:nvSpPr>
        <p:spPr>
          <a:xfrm>
            <a:off x="1022350" y="3724821"/>
            <a:ext cx="222377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5A26"/>
                </a:solidFill>
                <a:latin typeface="Public Sans" pitchFamily="34" charset="0"/>
                <a:ea typeface="Public Sans" pitchFamily="34" charset="-122"/>
                <a:cs typeface="Public Sans" pitchFamily="34" charset="-120"/>
              </a:rPr>
              <a:t>Future work</a:t>
            </a:r>
            <a:endParaRPr lang="en-US" sz="1300" dirty="0"/>
          </a:p>
        </p:txBody>
      </p:sp>
      <p:sp>
        <p:nvSpPr>
          <p:cNvPr id="15" name="Text 13"/>
          <p:cNvSpPr/>
          <p:nvPr/>
        </p:nvSpPr>
        <p:spPr>
          <a:xfrm>
            <a:off x="3333750" y="3724821"/>
            <a:ext cx="8070977"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6516B"/>
                </a:solidFill>
                <a:latin typeface="Public Sans" pitchFamily="34" charset="0"/>
                <a:ea typeface="Public Sans" pitchFamily="34" charset="-122"/>
                <a:cs typeface="Public Sans" pitchFamily="34" charset="-120"/>
              </a:rPr>
              <a:t>[what we'd build next — e.g. add traffic volume or weather data]</a:t>
            </a:r>
            <a:endParaRPr lang="en-US" sz="1300" dirty="0"/>
          </a:p>
        </p:txBody>
      </p:sp>
      <p:sp>
        <p:nvSpPr>
          <p:cNvPr id="16" name="Text 14"/>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Draft outline</a:t>
            </a:r>
            <a:endParaRPr lang="en-US" sz="1200" dirty="0"/>
          </a:p>
        </p:txBody>
      </p:sp>
      <p:sp>
        <p:nvSpPr>
          <p:cNvPr id="17" name="Text 15"/>
          <p:cNvSpPr/>
          <p:nvPr/>
        </p:nvSpPr>
        <p:spPr>
          <a:xfrm>
            <a:off x="11218466" y="6238280"/>
            <a:ext cx="2115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3B"/>
                </a:solidFill>
                <a:latin typeface="Public Sans" pitchFamily="34" charset="0"/>
                <a:ea typeface="Public Sans" pitchFamily="34" charset="-122"/>
                <a:cs typeface="Public Sans" pitchFamily="34" charset="-120"/>
              </a:rPr>
              <a:t>PROJECT LOGISTICS</a:t>
            </a:r>
            <a:endParaRPr lang="en-US" sz="1200" dirty="0"/>
          </a:p>
        </p:txBody>
      </p:sp>
      <p:sp>
        <p:nvSpPr>
          <p:cNvPr id="3" name="Text 1"/>
          <p:cNvSpPr/>
          <p:nvPr>
            <p:ph type="title"/>
          </p:nvPr>
        </p:nvSpPr>
        <p:spPr>
          <a:xfrm>
            <a:off x="812800" y="1026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5213B"/>
                </a:solidFill>
                <a:latin typeface="Libre Baskerville" pitchFamily="18" charset="0"/>
                <a:ea typeface="Libre Baskerville" pitchFamily="18" charset="-122"/>
                <a:cs typeface="Libre Baskerville" pitchFamily="18" charset="-120"/>
              </a:rPr>
              <a:t>Timeline</a:t>
            </a:r>
            <a:endParaRPr lang="en-US" sz="3000" dirty="0"/>
          </a:p>
        </p:txBody>
      </p:sp>
      <p:sp>
        <p:nvSpPr>
          <p:cNvPr id="4" name="Shape 2"/>
          <p:cNvSpPr/>
          <p:nvPr/>
        </p:nvSpPr>
        <p:spPr>
          <a:xfrm>
            <a:off x="815975" y="1670645"/>
            <a:ext cx="10560050" cy="534640"/>
          </a:xfrm>
          <a:prstGeom prst="roundRect">
            <a:avLst>
              <a:gd name="adj" fmla="val 11283"/>
            </a:avLst>
          </a:prstGeom>
          <a:solidFill>
            <a:srgbClr val="FDFDFB"/>
          </a:solidFill>
          <a:ln w="6350">
            <a:solidFill>
              <a:srgbClr val="E2DFD6"/>
            </a:solidFill>
            <a:prstDash val="solid"/>
          </a:ln>
        </p:spPr>
      </p:sp>
      <p:sp>
        <p:nvSpPr>
          <p:cNvPr id="5" name="Text 3"/>
          <p:cNvSpPr/>
          <p:nvPr/>
        </p:nvSpPr>
        <p:spPr>
          <a:xfrm>
            <a:off x="1022350" y="1813520"/>
            <a:ext cx="183134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05A26"/>
                </a:solidFill>
                <a:latin typeface="Public Sans" pitchFamily="34" charset="0"/>
                <a:ea typeface="Public Sans" pitchFamily="34" charset="-122"/>
                <a:cs typeface="Public Sans" pitchFamily="34" charset="-120"/>
              </a:rPr>
              <a:t>8 Oct</a:t>
            </a:r>
            <a:endParaRPr lang="en-US" sz="1400" dirty="0"/>
          </a:p>
        </p:txBody>
      </p:sp>
      <p:sp>
        <p:nvSpPr>
          <p:cNvPr id="6" name="Text 4"/>
          <p:cNvSpPr/>
          <p:nvPr/>
        </p:nvSpPr>
        <p:spPr>
          <a:xfrm>
            <a:off x="2978150" y="1813520"/>
            <a:ext cx="843724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213B"/>
                </a:solidFill>
                <a:latin typeface="Public Sans" pitchFamily="34" charset="0"/>
                <a:ea typeface="Public Sans" pitchFamily="34" charset="-122"/>
                <a:cs typeface="Public Sans" pitchFamily="34" charset="-120"/>
              </a:rPr>
              <a:t>First data exploration done — problem definition (Task 1) still to agree</a:t>
            </a:r>
            <a:endParaRPr lang="en-US" sz="1400" dirty="0"/>
          </a:p>
        </p:txBody>
      </p:sp>
      <p:sp>
        <p:nvSpPr>
          <p:cNvPr id="7" name="Shape 5"/>
          <p:cNvSpPr/>
          <p:nvPr/>
        </p:nvSpPr>
        <p:spPr>
          <a:xfrm>
            <a:off x="815975" y="2287836"/>
            <a:ext cx="10560050" cy="534640"/>
          </a:xfrm>
          <a:prstGeom prst="roundRect">
            <a:avLst>
              <a:gd name="adj" fmla="val 11283"/>
            </a:avLst>
          </a:prstGeom>
          <a:solidFill>
            <a:srgbClr val="FDFDFB"/>
          </a:solidFill>
          <a:ln w="6350">
            <a:solidFill>
              <a:srgbClr val="E2DFD6"/>
            </a:solidFill>
            <a:prstDash val="solid"/>
          </a:ln>
        </p:spPr>
      </p:sp>
      <p:sp>
        <p:nvSpPr>
          <p:cNvPr id="8" name="Text 6"/>
          <p:cNvSpPr/>
          <p:nvPr/>
        </p:nvSpPr>
        <p:spPr>
          <a:xfrm>
            <a:off x="1022350" y="2430711"/>
            <a:ext cx="183134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05A26"/>
                </a:solidFill>
                <a:latin typeface="Public Sans" pitchFamily="34" charset="0"/>
                <a:ea typeface="Public Sans" pitchFamily="34" charset="-122"/>
                <a:cs typeface="Public Sans" pitchFamily="34" charset="-120"/>
              </a:rPr>
              <a:t>[date]</a:t>
            </a:r>
            <a:endParaRPr lang="en-US" sz="1400" dirty="0"/>
          </a:p>
        </p:txBody>
      </p:sp>
      <p:sp>
        <p:nvSpPr>
          <p:cNvPr id="9" name="Text 7"/>
          <p:cNvSpPr/>
          <p:nvPr/>
        </p:nvSpPr>
        <p:spPr>
          <a:xfrm>
            <a:off x="2978150" y="2430711"/>
            <a:ext cx="843724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213B"/>
                </a:solidFill>
                <a:latin typeface="Public Sans" pitchFamily="34" charset="0"/>
                <a:ea typeface="Public Sans" pitchFamily="34" charset="-122"/>
                <a:cs typeface="Public Sans" pitchFamily="34" charset="-120"/>
              </a:rPr>
              <a:t>Data understanding &amp; preparation notebook (Task 2)</a:t>
            </a:r>
            <a:endParaRPr lang="en-US" sz="1400" dirty="0"/>
          </a:p>
        </p:txBody>
      </p:sp>
      <p:sp>
        <p:nvSpPr>
          <p:cNvPr id="10" name="Shape 8"/>
          <p:cNvSpPr/>
          <p:nvPr/>
        </p:nvSpPr>
        <p:spPr>
          <a:xfrm>
            <a:off x="815975" y="2905026"/>
            <a:ext cx="10560050" cy="534640"/>
          </a:xfrm>
          <a:prstGeom prst="roundRect">
            <a:avLst>
              <a:gd name="adj" fmla="val 11283"/>
            </a:avLst>
          </a:prstGeom>
          <a:solidFill>
            <a:srgbClr val="FDFDFB"/>
          </a:solidFill>
          <a:ln w="6350">
            <a:solidFill>
              <a:srgbClr val="E2DFD6"/>
            </a:solidFill>
            <a:prstDash val="solid"/>
          </a:ln>
        </p:spPr>
      </p:sp>
      <p:sp>
        <p:nvSpPr>
          <p:cNvPr id="11" name="Text 9"/>
          <p:cNvSpPr/>
          <p:nvPr/>
        </p:nvSpPr>
        <p:spPr>
          <a:xfrm>
            <a:off x="1022350" y="3047901"/>
            <a:ext cx="183134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05A26"/>
                </a:solidFill>
                <a:latin typeface="Public Sans" pitchFamily="34" charset="0"/>
                <a:ea typeface="Public Sans" pitchFamily="34" charset="-122"/>
                <a:cs typeface="Public Sans" pitchFamily="34" charset="-120"/>
              </a:rPr>
              <a:t>[date]</a:t>
            </a:r>
            <a:endParaRPr lang="en-US" sz="1400" dirty="0"/>
          </a:p>
        </p:txBody>
      </p:sp>
      <p:sp>
        <p:nvSpPr>
          <p:cNvPr id="12" name="Text 10"/>
          <p:cNvSpPr/>
          <p:nvPr/>
        </p:nvSpPr>
        <p:spPr>
          <a:xfrm>
            <a:off x="2978150" y="3047901"/>
            <a:ext cx="843724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5213B"/>
                </a:solidFill>
                <a:latin typeface="Public Sans" pitchFamily="34" charset="0"/>
                <a:ea typeface="Public Sans" pitchFamily="34" charset="-122"/>
                <a:cs typeface="Public Sans" pitchFamily="34" charset="-120"/>
              </a:rPr>
              <a:t>Modelling notebook &amp; results (Task 3)</a:t>
            </a:r>
            <a:endParaRPr lang="en-US" sz="1400" dirty="0"/>
          </a:p>
        </p:txBody>
      </p:sp>
      <p:sp>
        <p:nvSpPr>
          <p:cNvPr id="13" name="Shape 11"/>
          <p:cNvSpPr/>
          <p:nvPr/>
        </p:nvSpPr>
        <p:spPr>
          <a:xfrm>
            <a:off x="812800" y="3519041"/>
            <a:ext cx="10566400" cy="528290"/>
          </a:xfrm>
          <a:prstGeom prst="roundRect">
            <a:avLst>
              <a:gd name="adj" fmla="val 12020"/>
            </a:avLst>
          </a:prstGeom>
          <a:solidFill>
            <a:srgbClr val="15213B"/>
          </a:solidFill>
          <a:ln/>
        </p:spPr>
      </p:sp>
      <p:sp>
        <p:nvSpPr>
          <p:cNvPr id="14" name="Text 12"/>
          <p:cNvSpPr/>
          <p:nvPr/>
        </p:nvSpPr>
        <p:spPr>
          <a:xfrm>
            <a:off x="1016000" y="3658741"/>
            <a:ext cx="183134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1E8"/>
                </a:solidFill>
                <a:latin typeface="Public Sans" pitchFamily="34" charset="0"/>
                <a:ea typeface="Public Sans" pitchFamily="34" charset="-122"/>
                <a:cs typeface="Public Sans" pitchFamily="34" charset="-120"/>
              </a:rPr>
              <a:t>20 Oct</a:t>
            </a:r>
            <a:endParaRPr lang="en-US" sz="1400" dirty="0"/>
          </a:p>
        </p:txBody>
      </p:sp>
      <p:sp>
        <p:nvSpPr>
          <p:cNvPr id="15" name="Text 13"/>
          <p:cNvSpPr/>
          <p:nvPr/>
        </p:nvSpPr>
        <p:spPr>
          <a:xfrm>
            <a:off x="2971800" y="3658741"/>
            <a:ext cx="845032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1E8"/>
                </a:solidFill>
                <a:latin typeface="Public Sans" pitchFamily="34" charset="0"/>
                <a:ea typeface="Public Sans" pitchFamily="34" charset="-122"/>
                <a:cs typeface="Public Sans" pitchFamily="34" charset="-120"/>
              </a:rPr>
              <a:t>Presentation — 10 minutes, max 40 slides, 40% of the grade</a:t>
            </a:r>
            <a:endParaRPr lang="en-US" sz="1400" dirty="0"/>
          </a:p>
        </p:txBody>
      </p:sp>
      <p:sp>
        <p:nvSpPr>
          <p:cNvPr id="16" name="Shape 14"/>
          <p:cNvSpPr/>
          <p:nvPr/>
        </p:nvSpPr>
        <p:spPr>
          <a:xfrm>
            <a:off x="812800" y="4123531"/>
            <a:ext cx="10566400" cy="528290"/>
          </a:xfrm>
          <a:prstGeom prst="roundRect">
            <a:avLst>
              <a:gd name="adj" fmla="val 12020"/>
            </a:avLst>
          </a:prstGeom>
          <a:solidFill>
            <a:srgbClr val="15213B"/>
          </a:solidFill>
          <a:ln/>
        </p:spPr>
      </p:sp>
      <p:sp>
        <p:nvSpPr>
          <p:cNvPr id="17" name="Text 15"/>
          <p:cNvSpPr/>
          <p:nvPr/>
        </p:nvSpPr>
        <p:spPr>
          <a:xfrm>
            <a:off x="1016000" y="4263231"/>
            <a:ext cx="183134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4F1E8"/>
                </a:solidFill>
                <a:latin typeface="Public Sans" pitchFamily="34" charset="0"/>
                <a:ea typeface="Public Sans" pitchFamily="34" charset="-122"/>
                <a:cs typeface="Public Sans" pitchFamily="34" charset="-120"/>
              </a:rPr>
              <a:t>27 Oct</a:t>
            </a:r>
            <a:endParaRPr lang="en-US" sz="1400" dirty="0"/>
          </a:p>
        </p:txBody>
      </p:sp>
      <p:sp>
        <p:nvSpPr>
          <p:cNvPr id="18" name="Text 16"/>
          <p:cNvSpPr/>
          <p:nvPr/>
        </p:nvSpPr>
        <p:spPr>
          <a:xfrm>
            <a:off x="2971800" y="4263231"/>
            <a:ext cx="845032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1E8"/>
                </a:solidFill>
                <a:latin typeface="Public Sans" pitchFamily="34" charset="0"/>
                <a:ea typeface="Public Sans" pitchFamily="34" charset="-122"/>
                <a:cs typeface="Public Sans" pitchFamily="34" charset="-120"/>
              </a:rPr>
              <a:t>Moodle: one compressed file — slides (PDF) + 2 runnable notebooks + data</a:t>
            </a:r>
            <a:endParaRPr lang="en-US" sz="1400" dirty="0"/>
          </a:p>
        </p:txBody>
      </p:sp>
      <p:sp>
        <p:nvSpPr>
          <p:cNvPr id="19" name="Text 17"/>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Draft outline</a:t>
            </a:r>
            <a:endParaRPr lang="en-US" sz="1200" dirty="0"/>
          </a:p>
        </p:txBody>
      </p:sp>
      <p:sp>
        <p:nvSpPr>
          <p:cNvPr id="20" name="Text 18"/>
          <p:cNvSpPr/>
          <p:nvPr/>
        </p:nvSpPr>
        <p:spPr>
          <a:xfrm>
            <a:off x="11222038" y="6238280"/>
            <a:ext cx="2079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B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5213B"/>
                </a:solidFill>
                <a:latin typeface="Public Sans" pitchFamily="34" charset="0"/>
                <a:ea typeface="Public Sans" pitchFamily="34" charset="-122"/>
                <a:cs typeface="Public Sans" pitchFamily="34" charset="-120"/>
              </a:rPr>
              <a:t>PROJECT LOGISTICS</a:t>
            </a:r>
            <a:endParaRPr lang="en-US" sz="1200" dirty="0"/>
          </a:p>
        </p:txBody>
      </p:sp>
      <p:sp>
        <p:nvSpPr>
          <p:cNvPr id="3" name="Text 1"/>
          <p:cNvSpPr/>
          <p:nvPr>
            <p:ph type="title"/>
          </p:nvPr>
        </p:nvSpPr>
        <p:spPr>
          <a:xfrm>
            <a:off x="812800" y="1026120"/>
            <a:ext cx="10883392"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5213B"/>
                </a:solidFill>
                <a:latin typeface="Libre Baskerville" pitchFamily="18" charset="0"/>
                <a:ea typeface="Libre Baskerville" pitchFamily="18" charset="-122"/>
                <a:cs typeface="Libre Baskerville" pitchFamily="18" charset="-120"/>
              </a:rPr>
              <a:t>What's actually graded</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80170"/>
          <a:ext cx="10553700" cy="2476500"/>
        </p:xfrm>
        <a:graphic>
          <a:graphicData uri="http://schemas.openxmlformats.org/drawingml/2006/table">
            <a:tbl>
              <a:tblPr/>
              <a:tblGrid>
                <a:gridCol w="7387590"/>
                <a:gridCol w="3166110"/>
              </a:tblGrid>
              <a:tr h="412750">
                <a:tc>
                  <a:txBody>
                    <a:bodyPr/>
                    <a:lstStyle/>
                    <a:p>
                      <a:pPr indent="0" marL="0">
                        <a:lnSpc>
                          <a:spcPts val="2100"/>
                        </a:lnSpc>
                        <a:buNone/>
                      </a:pPr>
                      <a:r>
                        <a:rPr lang="en-US" sz="1500" b="1" dirty="0">
                          <a:solidFill>
                            <a:srgbClr val="15213B"/>
                          </a:solidFill>
                          <a:latin typeface="Public Sans" pitchFamily="34" charset="0"/>
                          <a:ea typeface="Public Sans" pitchFamily="34" charset="-122"/>
                          <a:cs typeface="Public Sans" pitchFamily="34" charset="-120"/>
                        </a:rPr>
                        <a:t>Component</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indent="0" marL="0">
                        <a:lnSpc>
                          <a:spcPts val="2100"/>
                        </a:lnSpc>
                        <a:buNone/>
                      </a:pPr>
                      <a:r>
                        <a:rPr lang="en-US" sz="1500" b="1" dirty="0">
                          <a:solidFill>
                            <a:srgbClr val="15213B"/>
                          </a:solidFill>
                          <a:latin typeface="Public Sans" pitchFamily="34" charset="0"/>
                          <a:ea typeface="Public Sans" pitchFamily="34" charset="-122"/>
                          <a:cs typeface="Public Sans" pitchFamily="34" charset="-120"/>
                        </a:rPr>
                        <a:t>Weight</a:t>
                      </a:r>
                      <a:endParaRPr lang="en-US" sz="1500" dirty="0">
                        <a:latin typeface="Public Sans" charset="0"/>
                        <a:ea typeface="Public Sans" charset="0"/>
                        <a:cs typeface="Public Sans" charset="0"/>
                      </a:endParaRPr>
                    </a:p>
                  </a:txBody>
                  <a:tcPr marL="66675" marR="66675" marT="66675" marB="66675" anchor="t">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r>
              <a:tr h="412750">
                <a:tc>
                  <a:txBody>
                    <a:bodyPr/>
                    <a:lstStyle/>
                    <a:p>
                      <a:pPr indent="0" marL="0">
                        <a:lnSpc>
                          <a:spcPts val="2100"/>
                        </a:lnSpc>
                        <a:buNone/>
                      </a:pPr>
                      <a:r>
                        <a:rPr lang="en-US" sz="1500" dirty="0">
                          <a:solidFill>
                            <a:srgbClr val="15213B"/>
                          </a:solidFill>
                          <a:latin typeface="Public Sans" pitchFamily="34" charset="0"/>
                          <a:ea typeface="Public Sans" pitchFamily="34" charset="-122"/>
                          <a:cs typeface="Public Sans" pitchFamily="34" charset="-120"/>
                        </a:rPr>
                        <a:t>Task 1 — Problem definition</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2100"/>
                        </a:lnSpc>
                        <a:buNone/>
                      </a:pPr>
                      <a:r>
                        <a:rPr lang="en-US" sz="1500" dirty="0">
                          <a:solidFill>
                            <a:srgbClr val="15213B"/>
                          </a:solidFill>
                          <a:latin typeface="Public Sans" pitchFamily="34" charset="0"/>
                          <a:ea typeface="Public Sans" pitchFamily="34" charset="-122"/>
                          <a:cs typeface="Public Sans" pitchFamily="34" charset="-120"/>
                        </a:rPr>
                        <a:t>10%</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412750">
                <a:tc>
                  <a:txBody>
                    <a:bodyPr/>
                    <a:lstStyle/>
                    <a:p>
                      <a:pPr indent="0" marL="0">
                        <a:lnSpc>
                          <a:spcPts val="2100"/>
                        </a:lnSpc>
                        <a:buNone/>
                      </a:pPr>
                      <a:r>
                        <a:rPr lang="en-US" sz="1500" dirty="0">
                          <a:solidFill>
                            <a:srgbClr val="15213B"/>
                          </a:solidFill>
                          <a:latin typeface="Public Sans" pitchFamily="34" charset="0"/>
                          <a:ea typeface="Public Sans" pitchFamily="34" charset="-122"/>
                          <a:cs typeface="Public Sans" pitchFamily="34" charset="-120"/>
                        </a:rPr>
                        <a:t>Task 2 — Data understanding &amp; preparation</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2100"/>
                        </a:lnSpc>
                        <a:buNone/>
                      </a:pPr>
                      <a:r>
                        <a:rPr lang="en-US" sz="1500" dirty="0">
                          <a:solidFill>
                            <a:srgbClr val="15213B"/>
                          </a:solidFill>
                          <a:latin typeface="Public Sans" pitchFamily="34" charset="0"/>
                          <a:ea typeface="Public Sans" pitchFamily="34" charset="-122"/>
                          <a:cs typeface="Public Sans" pitchFamily="34" charset="-120"/>
                        </a:rPr>
                        <a:t>15%</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412750">
                <a:tc>
                  <a:txBody>
                    <a:bodyPr/>
                    <a:lstStyle/>
                    <a:p>
                      <a:pPr indent="0" marL="0">
                        <a:lnSpc>
                          <a:spcPts val="2100"/>
                        </a:lnSpc>
                        <a:buNone/>
                      </a:pPr>
                      <a:r>
                        <a:rPr lang="en-US" sz="1500" dirty="0">
                          <a:solidFill>
                            <a:srgbClr val="15213B"/>
                          </a:solidFill>
                          <a:latin typeface="Public Sans" pitchFamily="34" charset="0"/>
                          <a:ea typeface="Public Sans" pitchFamily="34" charset="-122"/>
                          <a:cs typeface="Public Sans" pitchFamily="34" charset="-120"/>
                        </a:rPr>
                        <a:t>Task 3 — Predictive modelling</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2100"/>
                        </a:lnSpc>
                        <a:buNone/>
                      </a:pPr>
                      <a:r>
                        <a:rPr lang="en-US" sz="1500" dirty="0">
                          <a:solidFill>
                            <a:srgbClr val="15213B"/>
                          </a:solidFill>
                          <a:latin typeface="Public Sans" pitchFamily="34" charset="0"/>
                          <a:ea typeface="Public Sans" pitchFamily="34" charset="-122"/>
                          <a:cs typeface="Public Sans" pitchFamily="34" charset="-120"/>
                        </a:rPr>
                        <a:t>25%</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412750">
                <a:tc>
                  <a:txBody>
                    <a:bodyPr/>
                    <a:lstStyle/>
                    <a:p>
                      <a:pPr indent="0" marL="0">
                        <a:lnSpc>
                          <a:spcPts val="2100"/>
                        </a:lnSpc>
                        <a:buNone/>
                      </a:pPr>
                      <a:r>
                        <a:rPr lang="en-US" sz="1500" dirty="0">
                          <a:solidFill>
                            <a:srgbClr val="15213B"/>
                          </a:solidFill>
                          <a:latin typeface="Public Sans" pitchFamily="34" charset="0"/>
                          <a:ea typeface="Public Sans" pitchFamily="34" charset="-122"/>
                          <a:cs typeface="Public Sans" pitchFamily="34" charset="-120"/>
                        </a:rPr>
                        <a:t>Originality</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2100"/>
                        </a:lnSpc>
                        <a:buNone/>
                      </a:pPr>
                      <a:r>
                        <a:rPr lang="en-US" sz="1500" dirty="0">
                          <a:solidFill>
                            <a:srgbClr val="15213B"/>
                          </a:solidFill>
                          <a:latin typeface="Public Sans" pitchFamily="34" charset="0"/>
                          <a:ea typeface="Public Sans" pitchFamily="34" charset="-122"/>
                          <a:cs typeface="Public Sans" pitchFamily="34" charset="-120"/>
                        </a:rPr>
                        <a:t>10%</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412750">
                <a:tc>
                  <a:txBody>
                    <a:bodyPr/>
                    <a:lstStyle/>
                    <a:p>
                      <a:pPr indent="0" marL="0">
                        <a:lnSpc>
                          <a:spcPts val="2100"/>
                        </a:lnSpc>
                        <a:buNone/>
                      </a:pPr>
                      <a:r>
                        <a:rPr lang="en-US" sz="1500" dirty="0">
                          <a:solidFill>
                            <a:srgbClr val="15213B"/>
                          </a:solidFill>
                          <a:latin typeface="Public Sans" pitchFamily="34" charset="0"/>
                          <a:ea typeface="Public Sans" pitchFamily="34" charset="-122"/>
                          <a:cs typeface="Public Sans" pitchFamily="34" charset="-120"/>
                        </a:rPr>
                        <a:t>Presentation &amp; discussion (mandatory)</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indent="0" marL="0">
                        <a:lnSpc>
                          <a:spcPts val="2100"/>
                        </a:lnSpc>
                        <a:buNone/>
                      </a:pPr>
                      <a:r>
                        <a:rPr lang="en-US" sz="1500" dirty="0">
                          <a:solidFill>
                            <a:srgbClr val="15213B"/>
                          </a:solidFill>
                          <a:latin typeface="Public Sans" pitchFamily="34" charset="0"/>
                          <a:ea typeface="Public Sans" pitchFamily="34" charset="-122"/>
                          <a:cs typeface="Public Sans" pitchFamily="34" charset="-120"/>
                        </a:rPr>
                        <a:t>40%</a:t>
                      </a:r>
                      <a:endParaRPr lang="en-US" sz="1500" dirty="0">
                        <a:latin typeface="Public Sans" charset="0"/>
                        <a:ea typeface="Public Sans" charset="0"/>
                        <a:cs typeface="Public Sans" charset="0"/>
                      </a:endParaRPr>
                    </a:p>
                  </a:txBody>
                  <a:tcPr marL="66675" marR="66675" marT="66675" marB="6667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bl>
          </a:graphicData>
        </a:graphic>
      </p:graphicFrame>
      <p:sp>
        <p:nvSpPr>
          <p:cNvPr id="5" name="Text 2"/>
          <p:cNvSpPr/>
          <p:nvPr/>
        </p:nvSpPr>
        <p:spPr>
          <a:xfrm>
            <a:off x="812800" y="4359870"/>
            <a:ext cx="10566400" cy="604490"/>
          </a:xfrm>
          <a:prstGeom prst="roundRect">
            <a:avLst>
              <a:gd name="adj" fmla="val 12606"/>
            </a:avLst>
          </a:prstGeom>
          <a:solidFill>
            <a:srgbClr val="15213B"/>
          </a:solidFill>
          <a:ln/>
        </p:spPr>
        <p:txBody>
          <a:bodyPr wrap="square" lIns="206282" tIns="155482" rIns="0" bIns="130082" rtlCol="0" anchor="t">
            <a:normAutofit/>
          </a:bodyPr>
          <a:lstStyle/>
          <a:p>
            <a:pPr algn="l" indent="0" marL="0">
              <a:lnSpc>
                <a:spcPts val="1960"/>
              </a:lnSpc>
              <a:buNone/>
            </a:pPr>
            <a:r>
              <a:rPr lang="en-US" sz="1400" dirty="0">
                <a:solidFill>
                  <a:srgbClr val="F4F1E8"/>
                </a:solidFill>
                <a:latin typeface="Public Sans" pitchFamily="34" charset="0"/>
                <a:ea typeface="Public Sans" pitchFamily="34" charset="-122"/>
                <a:cs typeface="Public Sans" pitchFamily="34" charset="-120"/>
              </a:rPr>
              <a:t>Presentation is the single biggest component — rehearse it, not just the notebooks.</a:t>
            </a:r>
            <a:endParaRPr lang="en-US" sz="1400" dirty="0"/>
          </a:p>
        </p:txBody>
      </p:sp>
      <p:sp>
        <p:nvSpPr>
          <p:cNvPr id="6" name="Text 3"/>
          <p:cNvSpPr/>
          <p:nvPr/>
        </p:nvSpPr>
        <p:spPr>
          <a:xfrm>
            <a:off x="812800" y="6238280"/>
            <a:ext cx="40571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Road Safety Predictive Analytics — Draft outline</a:t>
            </a:r>
            <a:endParaRPr lang="en-US" sz="1200" dirty="0"/>
          </a:p>
        </p:txBody>
      </p:sp>
      <p:sp>
        <p:nvSpPr>
          <p:cNvPr id="7" name="Text 4"/>
          <p:cNvSpPr/>
          <p:nvPr/>
        </p:nvSpPr>
        <p:spPr>
          <a:xfrm>
            <a:off x="11195100" y="6238280"/>
            <a:ext cx="234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099"/>
                </a:solidFill>
                <a:latin typeface="Public Sans" pitchFamily="34" charset="0"/>
                <a:ea typeface="Public Sans" pitchFamily="34" charset="-122"/>
                <a:cs typeface="Public Sans"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5213B"/>
        </a:solidFill>
      </p:bgPr>
    </p:bg>
    <p:spTree>
      <p:nvGrpSpPr>
        <p:cNvPr id="1" name=""/>
        <p:cNvGrpSpPr/>
        <p:nvPr/>
      </p:nvGrpSpPr>
      <p:grpSpPr>
        <a:xfrm>
          <a:off x="0" y="0"/>
          <a:ext cx="0" cy="0"/>
          <a:chOff x="0" y="0"/>
          <a:chExt cx="0" cy="0"/>
        </a:xfrm>
      </p:grpSpPr>
      <p:sp>
        <p:nvSpPr>
          <p:cNvPr id="2" name="Text 0"/>
          <p:cNvSpPr/>
          <p:nvPr>
            <p:ph type="title"/>
          </p:nvPr>
        </p:nvSpPr>
        <p:spPr>
          <a:xfrm>
            <a:off x="3915494" y="2644180"/>
            <a:ext cx="4360962" cy="723900"/>
          </a:xfrm>
          <a:prstGeom prst="rect">
            <a:avLst/>
          </a:prstGeom>
          <a:noFill/>
          <a:ln/>
        </p:spPr>
        <p:txBody>
          <a:bodyPr wrap="square" lIns="0" tIns="0" rIns="0" bIns="0" rtlCol="0" anchor="t">
            <a:normAutofit/>
          </a:bodyPr>
          <a:lstStyle/>
          <a:p>
            <a:pPr algn="ctr" indent="0" marL="0">
              <a:lnSpc>
                <a:spcPts val="5500"/>
              </a:lnSpc>
              <a:buNone/>
            </a:pPr>
            <a:r>
              <a:rPr lang="en-US" sz="5000" b="1" i="0" dirty="0">
                <a:solidFill>
                  <a:srgbClr val="F4F1E8"/>
                </a:solidFill>
                <a:latin typeface="Libre Baskerville" pitchFamily="18" charset="0"/>
                <a:ea typeface="Libre Baskerville" pitchFamily="18" charset="-122"/>
                <a:cs typeface="Libre Baskerville" pitchFamily="18" charset="-120"/>
              </a:rPr>
              <a:t>Thank you</a:t>
            </a:r>
            <a:endParaRPr lang="en-US" sz="5000" dirty="0"/>
          </a:p>
        </p:txBody>
      </p:sp>
      <p:sp>
        <p:nvSpPr>
          <p:cNvPr id="3" name="Text 1"/>
          <p:cNvSpPr/>
          <p:nvPr/>
        </p:nvSpPr>
        <p:spPr>
          <a:xfrm>
            <a:off x="4707081" y="3520480"/>
            <a:ext cx="2777788" cy="327620"/>
          </a:xfrm>
          <a:prstGeom prst="rect">
            <a:avLst/>
          </a:prstGeom>
          <a:noFill/>
          <a:ln/>
        </p:spPr>
        <p:txBody>
          <a:bodyPr wrap="square" lIns="0" tIns="0" rIns="0" bIns="0" rtlCol="0" anchor="t">
            <a:normAutofit/>
          </a:bodyPr>
          <a:lstStyle/>
          <a:p>
            <a:pPr algn="ctr" indent="0" marL="0">
              <a:lnSpc>
                <a:spcPts val="2380"/>
              </a:lnSpc>
              <a:buNone/>
            </a:pPr>
            <a:r>
              <a:rPr lang="en-US" sz="1700" dirty="0">
                <a:solidFill>
                  <a:srgbClr val="C7CCDD"/>
                </a:solidFill>
                <a:latin typeface="Public Sans" pitchFamily="34" charset="0"/>
                <a:ea typeface="Public Sans" pitchFamily="34" charset="-122"/>
                <a:cs typeface="Public Sans" pitchFamily="34" charset="-120"/>
              </a:rPr>
              <a:t>Questions &amp; discussion</a:t>
            </a:r>
            <a:endParaRPr lang="en-US" sz="1700" dirty="0"/>
          </a:p>
        </p:txBody>
      </p:sp>
      <p:sp>
        <p:nvSpPr>
          <p:cNvPr id="4" name="Text 2"/>
          <p:cNvSpPr/>
          <p:nvPr/>
        </p:nvSpPr>
        <p:spPr>
          <a:xfrm>
            <a:off x="3581643" y="4000500"/>
            <a:ext cx="502866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8B93AC"/>
                </a:solidFill>
                <a:latin typeface="Public Sans" pitchFamily="34" charset="0"/>
                <a:ea typeface="Public Sans" pitchFamily="34" charset="-122"/>
                <a:cs typeface="Public Sans" pitchFamily="34" charset="-120"/>
              </a:rPr>
              <a:t>[Group name] · Predictive Analytics &amp; Forecasting · EMBAAI</a:t>
            </a:r>
            <a:endParaRPr lang="en-US" sz="1200" dirty="0"/>
          </a:p>
        </p:txBody>
      </p:sp>
    </p:spTree>
  </p:cSld>
  <p:clrMapOvr>
    <a:masterClrMapping/>
  </p:clrMapOvr>
</p:sld>
</file>

<file path=ppt/theme/theme1.xml><?xml version="1.0" encoding="utf-8"?>
<a:theme xmlns:a="http://schemas.openxmlformats.org/drawingml/2006/main" name="Road Safety Predictive Analytics — Group Project Outline">
  <a:themeElements>
    <a:clrScheme name="Road Safety Predictive Analytics — Group Project Outline">
      <a:dk1>
        <a:srgbClr val="15213B"/>
      </a:dk1>
      <a:lt1>
        <a:srgbClr val="FBFBF8"/>
      </a:lt1>
      <a:dk2>
        <a:srgbClr val="4F586A"/>
      </a:dk2>
      <a:lt2>
        <a:srgbClr val="E4E5E5"/>
      </a:lt2>
      <a:accent1>
        <a:srgbClr val="B05A26"/>
      </a:accent1>
      <a:accent2>
        <a:srgbClr val="8B9099"/>
      </a:accent2>
      <a:accent3>
        <a:srgbClr val="46516B"/>
      </a:accent3>
      <a:accent4>
        <a:srgbClr val="C7CCDD"/>
      </a:accent4>
      <a:accent5>
        <a:srgbClr val="8B93AC"/>
      </a:accent5>
      <a:accent6>
        <a:srgbClr val="9AA0A6"/>
      </a:accent6>
      <a:hlink>
        <a:srgbClr val="0563C1"/>
      </a:hlink>
      <a:folHlink>
        <a:srgbClr val="954F72"/>
      </a:folHlink>
    </a:clrScheme>
    <a:fontScheme name="Road Safety Predictive Analytics — Group Project Outline">
      <a:majorFont>
        <a:latin typeface="Libre Baskervil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Road Safety Predictive Analytics — Group Project Outline</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Public Sans
Copyright 2015 The Public Sans Project Authors (https://github.com/uswds/public-sans)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2026-10-24T14:21:49Z</dcterms:created>
  <dcterms:modified xsi:type="dcterms:W3CDTF">2026-10-24T14:21:49Z</dcterms:modified>
</cp:coreProperties>
</file>