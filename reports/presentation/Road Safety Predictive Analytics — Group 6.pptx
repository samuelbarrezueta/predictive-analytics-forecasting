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77" r:id="rId32"/>
    <p:sldId id="263" r:id="rId9"/>
    <p:sldId id="264" r:id="rId10"/>
    <p:sldId id="265" r:id="rId11"/>
    <p:sldId id="266" r:id="rId12"/>
    <p:sldId id="267" r:id="rId13"/>
    <p:sldId id="268" r:id="rId14"/>
    <p:sldId id="278" r:id="rId33"/>
    <p:sldId id="269" r:id="rId15"/>
    <p:sldId id="270" r:id="rId16"/>
    <p:sldId id="271" r:id="rId17"/>
    <p:sldId id="279" r:id="rId34"/>
    <p:sldId id="280" r:id="rId35"/>
    <p:sldId id="281" r:id="rId36"/>
    <p:sldId id="282" r:id="rId37"/>
    <p:sldId id="272" r:id="rId18"/>
    <p:sldId id="273" r:id="rId19"/>
    <p:sldId id="283" r:id="rId38"/>
    <p:sldId id="274" r:id="rId20"/>
    <p:sldId id="275" r:id="rId21"/>
    <p:sldId id="276" r:id="rId22"/>
  </p:sldIdLst>
  <p:notesMasterIdLst>
    <p:notesMasterId r:id="rId23"/>
  </p:notesMasterIdLst>
  <p:sldSz cx="12192000" cy="6858000"/>
  <p:notesSz cx="6858000" cy="12192000"/>
  <p:embeddedFontLst>
    <p:embeddedFont>
      <p:font typeface="Public Sans" pitchFamily="34" charset="0"/>
      <p:regular r:id="rId28"/>
      <p:bold r:id="rId29"/>
      <p:italic r:id="rId30"/>
      <p:boldItalic r:id="rId3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6.xml"/><Relationship Id="rId16" Type="http://schemas.openxmlformats.org/officeDocument/2006/relationships/slide" Target="slides/slide17.xml"/><Relationship Id="rId17" Type="http://schemas.openxmlformats.org/officeDocument/2006/relationships/slide" Target="slides/slide18.xml"/><Relationship Id="rId18" Type="http://schemas.openxmlformats.org/officeDocument/2006/relationships/slide" Target="slides/slide23.xml"/><Relationship Id="rId19" Type="http://schemas.openxmlformats.org/officeDocument/2006/relationships/slide" Target="slides/slide24.xml"/><Relationship Id="rId20" Type="http://schemas.openxmlformats.org/officeDocument/2006/relationships/slide" Target="slides/slide26.xml"/><Relationship Id="rId21" Type="http://schemas.openxmlformats.org/officeDocument/2006/relationships/slide" Target="slides/slide27.xml"/><Relationship Id="rId22" Type="http://schemas.openxmlformats.org/officeDocument/2006/relationships/slide" Target="slides/slide28.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openxmlformats.org/officeDocument/2006/relationships/font" Target="fonts/font1.fntdata"/><Relationship Id="rId29" Type="http://schemas.openxmlformats.org/officeDocument/2006/relationships/font" Target="fonts/font2.fntdata"/><Relationship Id="rId30" Type="http://schemas.openxmlformats.org/officeDocument/2006/relationships/font" Target="fonts/font3.fntdata"/><Relationship Id="rId31" Type="http://schemas.openxmlformats.org/officeDocument/2006/relationships/font" Target="fonts/font4.fntdata"/><Relationship Id="rId32" Type="http://schemas.openxmlformats.org/officeDocument/2006/relationships/slide" Target="slides/slide8.xml"/><Relationship Id="rId33" Type="http://schemas.openxmlformats.org/officeDocument/2006/relationships/slide" Target="slides/slide15.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26120"/>
            <a:ext cx="10566400" cy="438150"/>
          </a:xfrm>
          <a:prstGeom prst="rect">
            <a:avLst/>
          </a:prstGeom>
          <a:noFill/>
          <a:ln/>
        </p:spPr>
        <p:txBody>
          <a:bodyPr wrap="square" lIns="0" tIns="0" rIns="0" bIns="0" rtlCol="0" anchor="t"/>
          <a:lstStyle>
            <a:lvl1pPr algn="l" indent="0" marL="0">
              <a:lnSpc>
                <a:spcPct val="115000"/>
              </a:lnSpc>
              <a:buNone/>
              <a:defRPr lang="en-US" sz="3000" dirty="0">
                <a:solidFill>
                  <a:srgbClr val="15213B"/>
                </a:solidFill>
                <a:latin typeface="Libre Baskerville" pitchFamily="34" charset="0"/>
                <a:ea typeface="Libre Baskerville" pitchFamily="34" charset="-122"/>
                <a:cs typeface="Libre Baskerville"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769070"/>
            <a:ext cx="10566400" cy="4276130"/>
          </a:xfrm>
          <a:prstGeom prst="rect">
            <a:avLst/>
          </a:prstGeom>
          <a:noFill/>
          <a:ln/>
        </p:spPr>
        <p:txBody>
          <a:bodyPr wrap="square" lIns="0" tIns="0" rIns="0" bIns="0" rtlCol="0" anchor="t"/>
          <a:lstStyle>
            <a:lvl1pPr algn="l" indent="0" marL="0">
              <a:lnSpc>
                <a:spcPct val="140000"/>
              </a:lnSpc>
              <a:buNone/>
              <a:defRPr lang="en-US" sz="1600" dirty="0">
                <a:solidFill>
                  <a:srgbClr val="15213B"/>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26120"/>
            <a:ext cx="10566400" cy="438150"/>
          </a:xfrm>
          <a:prstGeom prst="rect">
            <a:avLst/>
          </a:prstGeom>
          <a:noFill/>
          <a:ln/>
        </p:spPr>
        <p:txBody>
          <a:bodyPr wrap="square" lIns="0" tIns="0" rIns="0" bIns="0" rtlCol="0" anchor="t"/>
          <a:lstStyle>
            <a:lvl1pPr algn="l" indent="0" marL="0">
              <a:lnSpc>
                <a:spcPct val="115000"/>
              </a:lnSpc>
              <a:buNone/>
              <a:defRPr lang="en-US" sz="3000" dirty="0">
                <a:solidFill>
                  <a:srgbClr val="15213B"/>
                </a:solidFill>
                <a:latin typeface="Libre Baskerville" pitchFamily="34" charset="0"/>
                <a:ea typeface="Libre Baskerville" pitchFamily="34" charset="-122"/>
                <a:cs typeface="Libre Baskerville"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769070"/>
            <a:ext cx="10566400" cy="4276130"/>
          </a:xfrm>
          <a:prstGeom prst="rect">
            <a:avLst/>
          </a:prstGeom>
          <a:noFill/>
          <a:ln/>
        </p:spPr>
        <p:txBody>
          <a:bodyPr wrap="square" lIns="0" tIns="0" rIns="0" bIns="0" rtlCol="0" anchor="t"/>
          <a:lstStyle>
            <a:lvl1pPr algn="l" indent="0" marL="0">
              <a:lnSpc>
                <a:spcPct val="140000"/>
              </a:lnSpc>
              <a:buNone/>
              <a:defRPr lang="en-US" sz="1600" dirty="0">
                <a:solidFill>
                  <a:srgbClr val="15213B"/>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13B"/>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C7CCDD"/>
                </a:solidFill>
                <a:latin typeface="Public Sans" pitchFamily="34" charset="0"/>
                <a:ea typeface="Public Sans" pitchFamily="34" charset="-122"/>
                <a:cs typeface="Public Sans" pitchFamily="34" charset="-120"/>
              </a:rPr>
              <a:t>PORTO BUSINESS SCHOOL · EMBAAI · PREDICTIVE ANALYTICS &amp; FORECASTING</a:t>
            </a:r>
            <a:endParaRPr lang="en-US" sz="1400" dirty="0"/>
          </a:p>
        </p:txBody>
      </p:sp>
      <p:sp>
        <p:nvSpPr>
          <p:cNvPr id="3" name="Text 1"/>
          <p:cNvSpPr/>
          <p:nvPr>
            <p:ph type="title"/>
          </p:nvPr>
        </p:nvSpPr>
        <p:spPr>
          <a:xfrm>
            <a:off x="812800" y="2529880"/>
            <a:ext cx="10883392" cy="1422400"/>
          </a:xfrm>
          <a:prstGeom prst="rect">
            <a:avLst/>
          </a:prstGeom>
          <a:noFill/>
          <a:ln/>
        </p:spPr>
        <p:txBody>
          <a:bodyPr wrap="square" lIns="0" tIns="0" rIns="0" bIns="0" rtlCol="0" anchor="t">
            <a:normAutofit/>
          </a:bodyPr>
          <a:lstStyle/>
          <a:p>
            <a:pPr algn="l" indent="0" marL="0">
              <a:lnSpc>
                <a:spcPts val="5500"/>
              </a:lnSpc>
              <a:buNone/>
            </a:pPr>
            <a:r>
              <a:rPr lang="en-US" sz="5000" b="1" i="0" dirty="0">
                <a:solidFill>
                  <a:srgbClr val="F4F1E8"/>
                </a:solidFill>
                <a:latin typeface="Libre Baskerville" pitchFamily="18" charset="0"/>
                <a:ea typeface="Libre Baskerville" pitchFamily="18" charset="-122"/>
                <a:cs typeface="Libre Baskerville" pitchFamily="18" charset="-120"/>
              </a:rPr>
              <a:t>Predictive Analytics</a:t>
            </a:r>
            <a:endParaRPr lang="en-US" sz="5000" dirty="0"/>
          </a:p>
          <a:p>
            <a:pPr algn="l" indent="0" marL="0">
              <a:lnSpc>
                <a:spcPts val="5500"/>
              </a:lnSpc>
              <a:buNone/>
            </a:pPr>
            <a:r>
              <a:rPr lang="en-US" sz="5000" b="1" i="0" dirty="0">
                <a:solidFill>
                  <a:srgbClr val="F4F1E8"/>
                </a:solidFill>
                <a:latin typeface="Libre Baskerville" pitchFamily="18" charset="0"/>
                <a:ea typeface="Libre Baskerville" pitchFamily="18" charset="-122"/>
                <a:cs typeface="Libre Baskerville" pitchFamily="18" charset="-120"/>
              </a:rPr>
              <a:t>for Road Safety</a:t>
            </a:r>
            <a:endParaRPr lang="en-US" sz="5000" dirty="0"/>
          </a:p>
        </p:txBody>
      </p:sp>
      <p:sp>
        <p:nvSpPr>
          <p:cNvPr id="4" name="Text 2"/>
          <p:cNvSpPr/>
          <p:nvPr/>
        </p:nvSpPr>
        <p:spPr>
          <a:xfrm>
            <a:off x="812800" y="407928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7CCDD"/>
                </a:solidFill>
                <a:latin typeface="Public Sans" pitchFamily="34" charset="0"/>
                <a:ea typeface="Public Sans" pitchFamily="34" charset="-122"/>
                <a:cs typeface="Public Sans" pitchFamily="34" charset="-120"/>
              </a:rPr>
              <a:t>Golden Hour triage: which crash needs Advanced Life Support?</a:t>
            </a:r>
            <a:endParaRPr lang="en-US" sz="1600" dirty="0"/>
          </a:p>
        </p:txBody>
      </p:sp>
      <p:sp>
        <p:nvSpPr>
          <p:cNvPr id="5" name="Text 3"/>
          <p:cNvSpPr/>
          <p:nvPr/>
        </p:nvSpPr>
        <p:spPr>
          <a:xfrm>
            <a:off x="812800" y="5831880"/>
            <a:ext cx="5943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C"/>
                </a:solidFill>
                <a:latin typeface="Public Sans" pitchFamily="34" charset="0"/>
                <a:ea typeface="Public Sans" pitchFamily="34" charset="-122"/>
                <a:cs typeface="Public Sans" pitchFamily="34" charset="-120"/>
              </a:rPr>
              <a:t>Group 6 · Joao · Olena · Samuel · Nuno · Pedro</a:t>
            </a:r>
            <a:endParaRPr lang="en-US" sz="1200" dirty="0"/>
          </a:p>
        </p:txBody>
      </p:sp>
      <p:sp>
        <p:nvSpPr>
          <p:cNvPr id="6" name="Text 4"/>
          <p:cNvSpPr/>
          <p:nvPr/>
        </p:nvSpPr>
        <p:spPr>
          <a:xfrm>
            <a:off x="6995795" y="5831880"/>
            <a:ext cx="438340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B93AC"/>
                </a:solidFill>
                <a:latin typeface="Public Sans" pitchFamily="34" charset="0"/>
                <a:ea typeface="Public Sans" pitchFamily="34" charset="-122"/>
                <a:cs typeface="Public Sans" pitchFamily="34" charset="-120"/>
              </a:rPr>
              <a:t>Presentation 20 Oct 2026 · Submission 27 Oct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5213B"/>
                </a:solidFill>
                <a:latin typeface="Libre Baskerville" pitchFamily="18" charset="0"/>
                <a:ea typeface="Libre Baskerville" pitchFamily="18" charset="-122"/>
                <a:cs typeface="Libre Baskerville" pitchFamily="18" charset="-120"/>
              </a:rPr>
              <a:t>Agenda — 10 minutes</a:t>
            </a:r>
            <a:endParaRPr lang="en-US" sz="3200" dirty="0"/>
          </a:p>
        </p:txBody>
      </p:sp>
      <p:sp>
        <p:nvSpPr>
          <p:cNvPr id="3" name="Shape 1"/>
          <p:cNvSpPr/>
          <p:nvPr/>
        </p:nvSpPr>
        <p:spPr>
          <a:xfrm>
            <a:off x="815975" y="1511895"/>
            <a:ext cx="10560050" cy="631180"/>
          </a:xfrm>
          <a:prstGeom prst="roundRect">
            <a:avLst>
              <a:gd name="adj" fmla="val 11570"/>
            </a:avLst>
          </a:prstGeom>
          <a:solidFill>
            <a:srgbClr val="FDFDFB"/>
          </a:solidFill>
          <a:ln w="6350">
            <a:solidFill>
              <a:srgbClr val="E2DFD6"/>
            </a:solidFill>
            <a:prstDash val="solid"/>
          </a:ln>
        </p:spPr>
        <p:txBody>
          <a:bodyPr/>
          <a:p/>
        </p:txBody>
      </p:sp>
      <p:sp>
        <p:nvSpPr>
          <p:cNvPr id="4" name="Text 2"/>
          <p:cNvSpPr/>
          <p:nvPr/>
        </p:nvSpPr>
        <p:spPr>
          <a:xfrm>
            <a:off x="1073150" y="1667470"/>
            <a:ext cx="5588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B05A26"/>
                </a:solidFill>
                <a:latin typeface="Public Sans" pitchFamily="34" charset="0"/>
                <a:ea typeface="Public Sans" pitchFamily="34" charset="-122"/>
                <a:cs typeface="Public Sans" pitchFamily="34" charset="-120"/>
              </a:rPr>
              <a:t>01</a:t>
            </a:r>
            <a:endParaRPr lang="en-US" sz="1800" dirty="0"/>
          </a:p>
        </p:txBody>
      </p:sp>
      <p:sp>
        <p:nvSpPr>
          <p:cNvPr id="5" name="Text 3"/>
          <p:cNvSpPr/>
          <p:nvPr/>
        </p:nvSpPr>
        <p:spPr>
          <a:xfrm>
            <a:off x="1784350" y="1703040"/>
            <a:ext cx="881209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5213B"/>
                </a:solidFill>
                <a:latin typeface="Public Sans" pitchFamily="34" charset="0"/>
                <a:ea typeface="Public Sans" pitchFamily="34" charset="-122"/>
                <a:cs typeface="Public Sans" pitchFamily="34" charset="-120"/>
              </a:rPr>
              <a:t>Problem definition</a:t>
            </a:r>
            <a:endParaRPr lang="en-US" sz="1400" dirty="0"/>
          </a:p>
        </p:txBody>
      </p:sp>
      <p:sp>
        <p:nvSpPr>
          <p:cNvPr id="6" name="Text 4"/>
          <p:cNvSpPr/>
          <p:nvPr/>
        </p:nvSpPr>
        <p:spPr>
          <a:xfrm>
            <a:off x="10542984" y="1720800"/>
            <a:ext cx="69103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~1.5 min</a:t>
            </a:r>
            <a:endParaRPr lang="en-US" sz="1200" dirty="0"/>
          </a:p>
        </p:txBody>
      </p:sp>
      <p:sp>
        <p:nvSpPr>
          <p:cNvPr id="7" name="Shape 5"/>
          <p:cNvSpPr/>
          <p:nvPr/>
        </p:nvSpPr>
        <p:spPr>
          <a:xfrm>
            <a:off x="815975" y="2238325"/>
            <a:ext cx="10560050" cy="631180"/>
          </a:xfrm>
          <a:prstGeom prst="roundRect">
            <a:avLst>
              <a:gd name="adj" fmla="val 11570"/>
            </a:avLst>
          </a:prstGeom>
          <a:solidFill>
            <a:srgbClr val="FDFDFB"/>
          </a:solidFill>
          <a:ln w="6350">
            <a:solidFill>
              <a:srgbClr val="E2DFD6"/>
            </a:solidFill>
            <a:prstDash val="solid"/>
          </a:ln>
        </p:spPr>
        <p:txBody>
          <a:bodyPr/>
          <a:p/>
        </p:txBody>
      </p:sp>
      <p:sp>
        <p:nvSpPr>
          <p:cNvPr id="8" name="Text 6"/>
          <p:cNvSpPr/>
          <p:nvPr/>
        </p:nvSpPr>
        <p:spPr>
          <a:xfrm>
            <a:off x="1073150" y="2393900"/>
            <a:ext cx="5588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B05A26"/>
                </a:solidFill>
                <a:latin typeface="Public Sans" pitchFamily="34" charset="0"/>
                <a:ea typeface="Public Sans" pitchFamily="34" charset="-122"/>
                <a:cs typeface="Public Sans" pitchFamily="34" charset="-120"/>
              </a:rPr>
              <a:t>02</a:t>
            </a:r>
            <a:endParaRPr lang="en-US" sz="1800" dirty="0"/>
          </a:p>
        </p:txBody>
      </p:sp>
      <p:sp>
        <p:nvSpPr>
          <p:cNvPr id="9" name="Text 7"/>
          <p:cNvSpPr/>
          <p:nvPr/>
        </p:nvSpPr>
        <p:spPr>
          <a:xfrm>
            <a:off x="1784350" y="2429470"/>
            <a:ext cx="891817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5213B"/>
                </a:solidFill>
                <a:latin typeface="Public Sans" pitchFamily="34" charset="0"/>
                <a:ea typeface="Public Sans" pitchFamily="34" charset="-122"/>
                <a:cs typeface="Public Sans" pitchFamily="34" charset="-120"/>
              </a:rPr>
              <a:t>Data understanding</a:t>
            </a:r>
            <a:endParaRPr lang="en-US" sz="1400" dirty="0"/>
          </a:p>
        </p:txBody>
      </p:sp>
      <p:sp>
        <p:nvSpPr>
          <p:cNvPr id="10" name="Text 8"/>
          <p:cNvSpPr/>
          <p:nvPr/>
        </p:nvSpPr>
        <p:spPr>
          <a:xfrm>
            <a:off x="10645973" y="2447230"/>
            <a:ext cx="5674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~2 min</a:t>
            </a:r>
            <a:endParaRPr lang="en-US" sz="1200" dirty="0"/>
          </a:p>
        </p:txBody>
      </p:sp>
      <p:sp>
        <p:nvSpPr>
          <p:cNvPr id="11" name="Shape 9"/>
          <p:cNvSpPr/>
          <p:nvPr/>
        </p:nvSpPr>
        <p:spPr>
          <a:xfrm>
            <a:off x="815975" y="2964755"/>
            <a:ext cx="10560050" cy="631180"/>
          </a:xfrm>
          <a:prstGeom prst="roundRect">
            <a:avLst>
              <a:gd name="adj" fmla="val 11570"/>
            </a:avLst>
          </a:prstGeom>
          <a:solidFill>
            <a:srgbClr val="FDFDFB"/>
          </a:solidFill>
          <a:ln w="6350">
            <a:solidFill>
              <a:srgbClr val="E2DFD6"/>
            </a:solidFill>
            <a:prstDash val="solid"/>
          </a:ln>
        </p:spPr>
        <p:txBody>
          <a:bodyPr/>
          <a:p/>
        </p:txBody>
      </p:sp>
      <p:sp>
        <p:nvSpPr>
          <p:cNvPr id="12" name="Text 10"/>
          <p:cNvSpPr/>
          <p:nvPr/>
        </p:nvSpPr>
        <p:spPr>
          <a:xfrm>
            <a:off x="1073150" y="3120330"/>
            <a:ext cx="5588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B05A26"/>
                </a:solidFill>
                <a:latin typeface="Public Sans" pitchFamily="34" charset="0"/>
                <a:ea typeface="Public Sans" pitchFamily="34" charset="-122"/>
                <a:cs typeface="Public Sans" pitchFamily="34" charset="-120"/>
              </a:rPr>
              <a:t>03</a:t>
            </a:r>
            <a:endParaRPr lang="en-US" sz="1800" dirty="0"/>
          </a:p>
        </p:txBody>
      </p:sp>
      <p:sp>
        <p:nvSpPr>
          <p:cNvPr id="13" name="Text 11"/>
          <p:cNvSpPr/>
          <p:nvPr/>
        </p:nvSpPr>
        <p:spPr>
          <a:xfrm>
            <a:off x="1784350" y="3155900"/>
            <a:ext cx="881209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5213B"/>
                </a:solidFill>
                <a:latin typeface="Public Sans" pitchFamily="34" charset="0"/>
                <a:ea typeface="Public Sans" pitchFamily="34" charset="-122"/>
                <a:cs typeface="Public Sans" pitchFamily="34" charset="-120"/>
              </a:rPr>
              <a:t>Data preparation</a:t>
            </a:r>
            <a:endParaRPr lang="en-US" sz="1400" dirty="0"/>
          </a:p>
        </p:txBody>
      </p:sp>
      <p:sp>
        <p:nvSpPr>
          <p:cNvPr id="14" name="Text 12"/>
          <p:cNvSpPr/>
          <p:nvPr/>
        </p:nvSpPr>
        <p:spPr>
          <a:xfrm>
            <a:off x="10542984" y="3173661"/>
            <a:ext cx="69103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~1.5 min</a:t>
            </a:r>
            <a:endParaRPr lang="en-US" sz="1200" dirty="0"/>
          </a:p>
        </p:txBody>
      </p:sp>
      <p:sp>
        <p:nvSpPr>
          <p:cNvPr id="15" name="Shape 13"/>
          <p:cNvSpPr/>
          <p:nvPr/>
        </p:nvSpPr>
        <p:spPr>
          <a:xfrm>
            <a:off x="815975" y="3691186"/>
            <a:ext cx="10560050" cy="631180"/>
          </a:xfrm>
          <a:prstGeom prst="roundRect">
            <a:avLst>
              <a:gd name="adj" fmla="val 11570"/>
            </a:avLst>
          </a:prstGeom>
          <a:solidFill>
            <a:srgbClr val="FDFDFB"/>
          </a:solidFill>
          <a:ln w="6350">
            <a:solidFill>
              <a:srgbClr val="E2DFD6"/>
            </a:solidFill>
            <a:prstDash val="solid"/>
          </a:ln>
        </p:spPr>
        <p:txBody>
          <a:bodyPr/>
          <a:p/>
        </p:txBody>
      </p:sp>
      <p:sp>
        <p:nvSpPr>
          <p:cNvPr id="16" name="Text 14"/>
          <p:cNvSpPr/>
          <p:nvPr/>
        </p:nvSpPr>
        <p:spPr>
          <a:xfrm>
            <a:off x="1073150" y="3846761"/>
            <a:ext cx="5588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B05A26"/>
                </a:solidFill>
                <a:latin typeface="Public Sans" pitchFamily="34" charset="0"/>
                <a:ea typeface="Public Sans" pitchFamily="34" charset="-122"/>
                <a:cs typeface="Public Sans" pitchFamily="34" charset="-120"/>
              </a:rPr>
              <a:t>04</a:t>
            </a:r>
            <a:endParaRPr lang="en-US" sz="1800" dirty="0"/>
          </a:p>
        </p:txBody>
      </p:sp>
      <p:sp>
        <p:nvSpPr>
          <p:cNvPr id="17" name="Text 15"/>
          <p:cNvSpPr/>
          <p:nvPr/>
        </p:nvSpPr>
        <p:spPr>
          <a:xfrm>
            <a:off x="1784350" y="3882330"/>
            <a:ext cx="891286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5213B"/>
                </a:solidFill>
                <a:latin typeface="Public Sans" pitchFamily="34" charset="0"/>
                <a:ea typeface="Public Sans" pitchFamily="34" charset="-122"/>
                <a:cs typeface="Public Sans" pitchFamily="34" charset="-120"/>
              </a:rPr>
              <a:t>Predictive modelling &amp; results</a:t>
            </a:r>
            <a:endParaRPr lang="en-US" sz="1400" dirty="0"/>
          </a:p>
        </p:txBody>
      </p:sp>
      <p:sp>
        <p:nvSpPr>
          <p:cNvPr id="18" name="Text 16"/>
          <p:cNvSpPr/>
          <p:nvPr/>
        </p:nvSpPr>
        <p:spPr>
          <a:xfrm>
            <a:off x="10640814" y="3900091"/>
            <a:ext cx="57364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~3 min</a:t>
            </a:r>
            <a:endParaRPr lang="en-US" sz="1200" dirty="0"/>
          </a:p>
        </p:txBody>
      </p:sp>
      <p:sp>
        <p:nvSpPr>
          <p:cNvPr id="19" name="Shape 17"/>
          <p:cNvSpPr/>
          <p:nvPr/>
        </p:nvSpPr>
        <p:spPr>
          <a:xfrm>
            <a:off x="815975" y="4417616"/>
            <a:ext cx="10560050" cy="631180"/>
          </a:xfrm>
          <a:prstGeom prst="roundRect">
            <a:avLst>
              <a:gd name="adj" fmla="val 11570"/>
            </a:avLst>
          </a:prstGeom>
          <a:solidFill>
            <a:srgbClr val="FDFDFB"/>
          </a:solidFill>
          <a:ln w="6350">
            <a:solidFill>
              <a:srgbClr val="E2DFD6"/>
            </a:solidFill>
            <a:prstDash val="solid"/>
          </a:ln>
        </p:spPr>
        <p:txBody>
          <a:bodyPr/>
          <a:p/>
        </p:txBody>
      </p:sp>
      <p:sp>
        <p:nvSpPr>
          <p:cNvPr id="20" name="Text 18"/>
          <p:cNvSpPr/>
          <p:nvPr/>
        </p:nvSpPr>
        <p:spPr>
          <a:xfrm>
            <a:off x="1073150" y="4573191"/>
            <a:ext cx="5588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B05A26"/>
                </a:solidFill>
                <a:latin typeface="Public Sans" pitchFamily="34" charset="0"/>
                <a:ea typeface="Public Sans" pitchFamily="34" charset="-122"/>
                <a:cs typeface="Public Sans" pitchFamily="34" charset="-120"/>
              </a:rPr>
              <a:t>05</a:t>
            </a:r>
            <a:endParaRPr lang="en-US" sz="1800" dirty="0"/>
          </a:p>
        </p:txBody>
      </p:sp>
      <p:sp>
        <p:nvSpPr>
          <p:cNvPr id="21" name="Text 19"/>
          <p:cNvSpPr/>
          <p:nvPr/>
        </p:nvSpPr>
        <p:spPr>
          <a:xfrm>
            <a:off x="1784350" y="4608761"/>
            <a:ext cx="881209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5213B"/>
                </a:solidFill>
                <a:latin typeface="Public Sans" pitchFamily="34" charset="0"/>
                <a:ea typeface="Public Sans" pitchFamily="34" charset="-122"/>
                <a:cs typeface="Public Sans" pitchFamily="34" charset="-120"/>
              </a:rPr>
              <a:t>Conclusions, limitations &amp; future work</a:t>
            </a:r>
            <a:endParaRPr lang="en-US" sz="1400" dirty="0"/>
          </a:p>
        </p:txBody>
      </p:sp>
      <p:sp>
        <p:nvSpPr>
          <p:cNvPr id="22" name="Text 20"/>
          <p:cNvSpPr/>
          <p:nvPr/>
        </p:nvSpPr>
        <p:spPr>
          <a:xfrm>
            <a:off x="10542984" y="4626521"/>
            <a:ext cx="69103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~1.5 min</a:t>
            </a:r>
            <a:endParaRPr lang="en-US" sz="1200" dirty="0"/>
          </a:p>
        </p:txBody>
      </p:sp>
      <p:sp>
        <p:nvSpPr>
          <p:cNvPr id="23" name="Shape 21"/>
          <p:cNvSpPr/>
          <p:nvPr/>
        </p:nvSpPr>
        <p:spPr>
          <a:xfrm>
            <a:off x="815975" y="5144046"/>
            <a:ext cx="10560050" cy="631180"/>
          </a:xfrm>
          <a:prstGeom prst="roundRect">
            <a:avLst>
              <a:gd name="adj" fmla="val 11570"/>
            </a:avLst>
          </a:prstGeom>
          <a:solidFill>
            <a:srgbClr val="FDFDFB"/>
          </a:solidFill>
          <a:ln w="6350">
            <a:solidFill>
              <a:srgbClr val="E2DFD6"/>
            </a:solidFill>
            <a:prstDash val="solid"/>
          </a:ln>
        </p:spPr>
        <p:txBody>
          <a:bodyPr/>
          <a:p/>
        </p:txBody>
      </p:sp>
      <p:sp>
        <p:nvSpPr>
          <p:cNvPr id="24" name="Text 22"/>
          <p:cNvSpPr/>
          <p:nvPr/>
        </p:nvSpPr>
        <p:spPr>
          <a:xfrm>
            <a:off x="1073150" y="5299621"/>
            <a:ext cx="5588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B05A26"/>
                </a:solidFill>
                <a:latin typeface="Public Sans" pitchFamily="34" charset="0"/>
                <a:ea typeface="Public Sans" pitchFamily="34" charset="-122"/>
                <a:cs typeface="Public Sans" pitchFamily="34" charset="-120"/>
              </a:rPr>
              <a:t>06</a:t>
            </a:r>
            <a:endParaRPr lang="en-US" sz="1800" dirty="0"/>
          </a:p>
        </p:txBody>
      </p:sp>
      <p:sp>
        <p:nvSpPr>
          <p:cNvPr id="25" name="Text 23"/>
          <p:cNvSpPr/>
          <p:nvPr/>
        </p:nvSpPr>
        <p:spPr>
          <a:xfrm>
            <a:off x="1784350" y="5335191"/>
            <a:ext cx="922992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5213B"/>
                </a:solidFill>
                <a:latin typeface="Public Sans" pitchFamily="34" charset="0"/>
                <a:ea typeface="Public Sans" pitchFamily="34" charset="-122"/>
                <a:cs typeface="Public Sans" pitchFamily="34" charset="-120"/>
              </a:rPr>
              <a:t>Annexes (on request only)</a:t>
            </a:r>
            <a:endParaRPr lang="en-US" sz="1400" dirty="0"/>
          </a:p>
        </p:txBody>
      </p:sp>
      <p:sp>
        <p:nvSpPr>
          <p:cNvPr id="26" name="Text 24"/>
          <p:cNvSpPr/>
          <p:nvPr/>
        </p:nvSpPr>
        <p:spPr>
          <a:xfrm>
            <a:off x="10948640" y="5352951"/>
            <a:ext cx="2210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a:t>
            </a:r>
            <a:endParaRPr lang="en-US" sz="1200" dirty="0"/>
          </a:p>
        </p:txBody>
      </p:sp>
      <p:sp>
        <p:nvSpPr>
          <p:cNvPr id="27" name="Text 25"/>
          <p:cNvSpPr/>
          <p:nvPr/>
        </p:nvSpPr>
        <p:spPr>
          <a:xfrm>
            <a:off x="812800" y="6238280"/>
            <a:ext cx="40571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Road Safety Predictive Analytics — Group 6</a:t>
            </a:r>
            <a:endParaRPr lang="en-US" sz="1200" dirty="0"/>
          </a:p>
        </p:txBody>
      </p:sp>
      <p:sp>
        <p:nvSpPr>
          <p:cNvPr id="28" name="Text 26"/>
          <p:cNvSpPr/>
          <p:nvPr/>
        </p:nvSpPr>
        <p:spPr>
          <a:xfrm>
            <a:off x="11195100" y="6238280"/>
            <a:ext cx="234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213B"/>
                </a:solidFill>
                <a:latin typeface="Public Sans" pitchFamily="34" charset="0"/>
                <a:ea typeface="Public Sans" pitchFamily="34" charset="-122"/>
                <a:cs typeface="Public Sans" pitchFamily="34" charset="-120"/>
              </a:rPr>
              <a:t>THE BRIEF</a:t>
            </a:r>
            <a:endParaRPr lang="en-US" sz="1200" dirty="0"/>
          </a:p>
        </p:txBody>
      </p:sp>
      <p:sp>
        <p:nvSpPr>
          <p:cNvPr id="3" name="Text 1"/>
          <p:cNvSpPr/>
          <p:nvPr>
            <p:ph type="title"/>
          </p:nvPr>
        </p:nvSpPr>
        <p:spPr>
          <a:xfrm>
            <a:off x="812800" y="1026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5213B"/>
                </a:solidFill>
                <a:latin typeface="Libre Baskerville" pitchFamily="18" charset="0"/>
                <a:ea typeface="Libre Baskerville" pitchFamily="18" charset="-122"/>
                <a:cs typeface="Libre Baskerville" pitchFamily="18" charset="-120"/>
              </a:rPr>
              <a:t>A road-safety authority, learning from the past</a:t>
            </a:r>
            <a:endParaRPr lang="en-US" sz="3000" dirty="0"/>
          </a:p>
        </p:txBody>
      </p:sp>
      <p:sp>
        <p:nvSpPr>
          <p:cNvPr id="4" name="Text 2"/>
          <p:cNvSpPr/>
          <p:nvPr/>
        </p:nvSpPr>
        <p:spPr>
          <a:xfrm>
            <a:off x="896620" y="1718270"/>
            <a:ext cx="6815328" cy="4149130"/>
          </a:xfrm>
          <a:prstGeom prst="rect">
            <a:avLst/>
          </a:prstGeom>
          <a:noFill/>
          <a:ln/>
        </p:spPr>
        <p:txBody>
          <a:bodyPr wrap="square" lIns="0" tIns="0" rIns="0" bIns="0" rtlCol="0" anchor="t">
            <a:normAutofit/>
          </a:bodyPr>
          <a:lstStyle/>
          <a:p>
            <a:pPr algn="l" marL="170180" indent="-170180">
              <a:lnSpc>
                <a:spcPts val="2250"/>
              </a:lnSpc>
              <a:buSzPct val="100000"/>
              <a:buChar char="•"/>
            </a:pPr>
            <a:r>
              <a:rPr lang="en-US" sz="1500" dirty="0">
                <a:solidFill>
                  <a:srgbClr val="46516B"/>
                </a:solidFill>
                <a:latin typeface="Public Sans" pitchFamily="34" charset="0"/>
                <a:ea typeface="Public Sans" pitchFamily="34" charset="-122"/>
                <a:cs typeface="Public Sans" pitchFamily="34" charset="-120"/>
              </a:rPr>
              <a:t>A national road-safety authority wants to use historical accident data to support better decisions</a:t>
            </a:r>
            <a:endParaRPr lang="en-US" sz="1500" dirty="0"/>
          </a:p>
          <a:p>
            <a:pPr algn="l" marL="170180" indent="-170180">
              <a:lnSpc>
                <a:spcPts val="2250"/>
              </a:lnSpc>
              <a:buSzPct val="100000"/>
              <a:buChar char="•"/>
            </a:pPr>
            <a:r>
              <a:rPr lang="en-US" sz="1500" dirty="0">
                <a:solidFill>
                  <a:srgbClr val="46516B"/>
                </a:solidFill>
                <a:latin typeface="Public Sans" pitchFamily="34" charset="0"/>
                <a:ea typeface="Public Sans" pitchFamily="34" charset="-122"/>
                <a:cs typeface="Public Sans" pitchFamily="34" charset="-120"/>
              </a:rPr>
              <a:t>Our group acts as its analytics team</a:t>
            </a:r>
            <a:endParaRPr lang="en-US" sz="1500" dirty="0"/>
          </a:p>
          <a:p>
            <a:pPr algn="l" marL="170180" indent="-170180">
              <a:lnSpc>
                <a:spcPts val="2250"/>
              </a:lnSpc>
              <a:buSzPct val="100000"/>
              <a:buChar char="•"/>
            </a:pPr>
            <a:r>
              <a:rPr lang="en-US" sz="1500" dirty="0">
                <a:solidFill>
                  <a:srgbClr val="46516B"/>
                </a:solidFill>
                <a:latin typeface="Public Sans" pitchFamily="34" charset="0"/>
                <a:ea typeface="Public Sans" pitchFamily="34" charset="-122"/>
                <a:cs typeface="Public Sans" pitchFamily="34" charset="-120"/>
              </a:rPr>
              <a:t>The prediction task is intentionally not given to us — we define it ourselves (Task 1)</a:t>
            </a:r>
            <a:endParaRPr lang="en-US" sz="1500" dirty="0"/>
          </a:p>
        </p:txBody>
      </p:sp>
      <p:sp>
        <p:nvSpPr>
          <p:cNvPr id="5" name="Shape 3"/>
          <p:cNvSpPr/>
          <p:nvPr/>
        </p:nvSpPr>
        <p:spPr>
          <a:xfrm>
            <a:off x="7826375" y="1721445"/>
            <a:ext cx="3549650" cy="966391"/>
          </a:xfrm>
          <a:prstGeom prst="roundRect">
            <a:avLst>
              <a:gd name="adj" fmla="val 7556"/>
            </a:avLst>
          </a:prstGeom>
          <a:solidFill>
            <a:srgbClr val="FDFDFB"/>
          </a:solidFill>
          <a:ln w="6350">
            <a:solidFill>
              <a:srgbClr val="E2DFD6"/>
            </a:solidFill>
            <a:prstDash val="solid"/>
          </a:ln>
        </p:spPr>
        <p:txBody>
          <a:bodyPr/>
          <a:p/>
        </p:txBody>
      </p:sp>
      <p:sp>
        <p:nvSpPr>
          <p:cNvPr id="6" name="Text 4"/>
          <p:cNvSpPr/>
          <p:nvPr/>
        </p:nvSpPr>
        <p:spPr>
          <a:xfrm>
            <a:off x="8058150" y="1902420"/>
            <a:ext cx="3178683"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05A26"/>
                </a:solidFill>
                <a:latin typeface="Public Sans" pitchFamily="34" charset="0"/>
                <a:ea typeface="Public Sans" pitchFamily="34" charset="-122"/>
                <a:cs typeface="Public Sans" pitchFamily="34" charset="-120"/>
              </a:rPr>
              <a:t>150,000</a:t>
            </a:r>
            <a:endParaRPr lang="en-US" sz="2200" dirty="0"/>
          </a:p>
        </p:txBody>
      </p:sp>
      <p:sp>
        <p:nvSpPr>
          <p:cNvPr id="7" name="Text 5"/>
          <p:cNvSpPr/>
          <p:nvPr/>
        </p:nvSpPr>
        <p:spPr>
          <a:xfrm>
            <a:off x="8058150" y="2293541"/>
            <a:ext cx="31786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16B"/>
                </a:solidFill>
                <a:latin typeface="Public Sans" pitchFamily="34" charset="0"/>
                <a:ea typeface="Public Sans" pitchFamily="34" charset="-122"/>
                <a:cs typeface="Public Sans" pitchFamily="34" charset="-120"/>
              </a:rPr>
              <a:t>highway accidents, Brazil, 2007–2025</a:t>
            </a:r>
            <a:endParaRPr lang="en-US" sz="1200" dirty="0"/>
          </a:p>
        </p:txBody>
      </p:sp>
      <p:sp>
        <p:nvSpPr>
          <p:cNvPr id="8" name="Shape 6"/>
          <p:cNvSpPr/>
          <p:nvPr/>
        </p:nvSpPr>
        <p:spPr>
          <a:xfrm>
            <a:off x="7826375" y="2795786"/>
            <a:ext cx="3549650" cy="1179711"/>
          </a:xfrm>
          <a:prstGeom prst="roundRect">
            <a:avLst>
              <a:gd name="adj" fmla="val 6190"/>
            </a:avLst>
          </a:prstGeom>
          <a:solidFill>
            <a:srgbClr val="FDFDFB"/>
          </a:solidFill>
          <a:ln w="6350">
            <a:solidFill>
              <a:srgbClr val="E2DFD6"/>
            </a:solidFill>
            <a:prstDash val="solid"/>
          </a:ln>
        </p:spPr>
        <p:txBody>
          <a:bodyPr/>
          <a:p/>
        </p:txBody>
      </p:sp>
      <p:sp>
        <p:nvSpPr>
          <p:cNvPr id="9" name="Text 7"/>
          <p:cNvSpPr/>
          <p:nvPr/>
        </p:nvSpPr>
        <p:spPr>
          <a:xfrm>
            <a:off x="8058150" y="2976761"/>
            <a:ext cx="3178683"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05A26"/>
                </a:solidFill>
                <a:latin typeface="Public Sans" pitchFamily="34" charset="0"/>
                <a:ea typeface="Public Sans" pitchFamily="34" charset="-122"/>
                <a:cs typeface="Public Sans" pitchFamily="34" charset="-120"/>
              </a:rPr>
              <a:t>23</a:t>
            </a:r>
            <a:endParaRPr lang="en-US" sz="2200" dirty="0"/>
          </a:p>
        </p:txBody>
      </p:sp>
      <p:sp>
        <p:nvSpPr>
          <p:cNvPr id="10" name="Text 8"/>
          <p:cNvSpPr/>
          <p:nvPr/>
        </p:nvSpPr>
        <p:spPr>
          <a:xfrm>
            <a:off x="8058150" y="3367881"/>
            <a:ext cx="31786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16B"/>
                </a:solidFill>
                <a:latin typeface="Public Sans" pitchFamily="34" charset="0"/>
                <a:ea typeface="Public Sans" pitchFamily="34" charset="-122"/>
                <a:cs typeface="Public Sans" pitchFamily="34" charset="-120"/>
              </a:rPr>
              <a:t>variables per accident — date, location, road infrastructure, severity</a:t>
            </a:r>
            <a:endParaRPr lang="en-US" sz="1200" dirty="0"/>
          </a:p>
        </p:txBody>
      </p:sp>
      <p:sp>
        <p:nvSpPr>
          <p:cNvPr id="11" name="Text 9"/>
          <p:cNvSpPr/>
          <p:nvPr/>
        </p:nvSpPr>
        <p:spPr>
          <a:xfrm>
            <a:off x="812800" y="6238280"/>
            <a:ext cx="40571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Road Safety Predictive Analytics — Group 6</a:t>
            </a:r>
            <a:endParaRPr lang="en-US" sz="1200" dirty="0"/>
          </a:p>
        </p:txBody>
      </p:sp>
      <p:sp>
        <p:nvSpPr>
          <p:cNvPr id="12" name="Text 10"/>
          <p:cNvSpPr/>
          <p:nvPr/>
        </p:nvSpPr>
        <p:spPr>
          <a:xfrm>
            <a:off x="11190883" y="6238280"/>
            <a:ext cx="2391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5213B"/>
        </a:solidFill>
      </p:bgPr>
    </p:bg>
    <p:spTree>
      <p:nvGrpSpPr>
        <p:cNvPr id="1" name=""/>
        <p:cNvGrpSpPr/>
        <p:nvPr/>
      </p:nvGrpSpPr>
      <p:grpSpPr>
        <a:xfrm>
          <a:off x="0" y="0"/>
          <a:ext cx="0" cy="0"/>
          <a:chOff x="0" y="0"/>
          <a:chExt cx="0" cy="0"/>
        </a:xfrm>
      </p:grpSpPr>
      <p:sp>
        <p:nvSpPr>
          <p:cNvPr id="2" name="Text 0"/>
          <p:cNvSpPr/>
          <p:nvPr/>
        </p:nvSpPr>
        <p:spPr>
          <a:xfrm>
            <a:off x="812800" y="267335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7CCDD"/>
                </a:solidFill>
                <a:latin typeface="Public Sans" pitchFamily="34" charset="0"/>
                <a:ea typeface="Public Sans" pitchFamily="34" charset="-122"/>
                <a:cs typeface="Public Sans" pitchFamily="34" charset="-120"/>
              </a:rPr>
              <a:t>01</a:t>
            </a:r>
            <a:endParaRPr lang="en-US" sz="2000" dirty="0"/>
          </a:p>
        </p:txBody>
      </p:sp>
      <p:sp>
        <p:nvSpPr>
          <p:cNvPr id="3" name="Text 1"/>
          <p:cNvSpPr/>
          <p:nvPr>
            <p:ph type="title"/>
          </p:nvPr>
        </p:nvSpPr>
        <p:spPr>
          <a:xfrm>
            <a:off x="812800" y="3181350"/>
            <a:ext cx="10883392" cy="609600"/>
          </a:xfrm>
          <a:prstGeom prst="rect">
            <a:avLst/>
          </a:prstGeom>
          <a:noFill/>
          <a:ln/>
        </p:spPr>
        <p:txBody>
          <a:bodyPr wrap="square" lIns="0" tIns="0" rIns="0" bIns="0" rtlCol="0" anchor="t">
            <a:normAutofit/>
          </a:bodyPr>
          <a:lstStyle/>
          <a:p>
            <a:pPr algn="l" indent="0" marL="0">
              <a:lnSpc>
                <a:spcPts val="4600"/>
              </a:lnSpc>
              <a:buNone/>
            </a:pPr>
            <a:r>
              <a:rPr lang="en-US" sz="4000" b="1" i="0" dirty="0">
                <a:solidFill>
                  <a:srgbClr val="F4F1E8"/>
                </a:solidFill>
                <a:latin typeface="Libre Baskerville" pitchFamily="18" charset="0"/>
                <a:ea typeface="Libre Baskerville" pitchFamily="18" charset="-122"/>
                <a:cs typeface="Libre Baskerville" pitchFamily="18" charset="-120"/>
              </a:rPr>
              <a:t>Problem definition</a:t>
            </a:r>
            <a:endParaRPr lang="en-US" sz="4000" dirty="0"/>
          </a:p>
        </p:txBody>
      </p:sp>
      <p:sp>
        <p:nvSpPr>
          <p:cNvPr id="4" name="Text 2"/>
          <p:cNvSpPr/>
          <p:nvPr/>
        </p:nvSpPr>
        <p:spPr>
          <a:xfrm>
            <a:off x="812800" y="3917950"/>
            <a:ext cx="850265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7CCDD"/>
                </a:solidFill>
                <a:latin typeface="Public Sans" pitchFamily="34" charset="0"/>
                <a:ea typeface="Public Sans" pitchFamily="34" charset="-122"/>
                <a:cs typeface="Public Sans" pitchFamily="34" charset="-120"/>
              </a:rPr>
              <a:t>Task 1 — 10% of the grade. Start from the decision, not the dataset.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213B"/>
                </a:solidFill>
                <a:latin typeface="Public Sans" pitchFamily="34" charset="0"/>
                <a:ea typeface="Public Sans" pitchFamily="34" charset="-122"/>
                <a:cs typeface="Public Sans" pitchFamily="34" charset="-120"/>
              </a:rPr>
              <a:t>01 · PROBLEM DEFINITION</a:t>
            </a:r>
            <a:endParaRPr lang="en-US" sz="1200" dirty="0"/>
          </a:p>
        </p:txBody>
      </p:sp>
      <p:sp>
        <p:nvSpPr>
          <p:cNvPr id="3" name="Text 1"/>
          <p:cNvSpPr/>
          <p:nvPr>
            <p:ph type="title"/>
          </p:nvPr>
        </p:nvSpPr>
        <p:spPr>
          <a:xfrm>
            <a:off x="812800" y="1026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5213B"/>
                </a:solidFill>
                <a:latin typeface="Libre Baskerville" pitchFamily="18" charset="0"/>
                <a:ea typeface="Libre Baskerville" pitchFamily="18" charset="-122"/>
                <a:cs typeface="Libre Baskerville" pitchFamily="18" charset="-120"/>
              </a:rPr>
              <a:t>Our problem passes the five gates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05570"/>
          <a:ext cx="10553700" cy="2387054"/>
        </p:xfrm>
        <a:graphic>
          <a:graphicData uri="http://schemas.openxmlformats.org/drawingml/2006/table">
            <a:tbl>
              <a:tblPr/>
              <a:tblGrid>
                <a:gridCol w="3166110"/>
                <a:gridCol w="7387590"/>
              </a:tblGrid>
              <a:tr h="359321">
                <a:tc>
                  <a:txBody>
                    <a:bodyPr/>
                    <a:lstStyle/>
                    <a:p>
                      <a:pPr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Gate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Does our chosen problem pass?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r>
              <a:tr h="359321">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Repeated decision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Yes — every emergency call: standard patrol / basic ambulance, or an ALS unit / helicopter?</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Actionable score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Yes — the dispatcher sends ALS to the 15% of calls with the highest predicted fatality risk</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Past outcomes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Yes — 150,000 labelled accidents, 7,222 fatal (4.8%): enough positives, but heavily imbalanced</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590451">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Stable world</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Partly — reporting changed in 2015 (e-DAT): logged fatal share 3.8% → 7.0%; we split by time and re-calibrate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Positive balance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Yes — ALS dispatch ≈ €2,500 vs. ≈ €50,000 per prevented death: worth it above 5% risk (p*)</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bl>
          </a:graphicData>
        </a:graphic>
      </p:graphicFrame>
      <p:sp>
        <p:nvSpPr>
          <p:cNvPr id="5" name="Text 2"/>
          <p:cNvSpPr/>
          <p:nvPr/>
        </p:nvSpPr>
        <p:spPr>
          <a:xfrm>
            <a:off x="812800" y="6238280"/>
            <a:ext cx="40571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Road Safety Predictive Analytics — Group 6</a:t>
            </a:r>
            <a:endParaRPr lang="en-US" sz="1200" dirty="0"/>
          </a:p>
        </p:txBody>
      </p:sp>
      <p:sp>
        <p:nvSpPr>
          <p:cNvPr id="6" name="Text 3"/>
          <p:cNvSpPr/>
          <p:nvPr/>
        </p:nvSpPr>
        <p:spPr>
          <a:xfrm>
            <a:off x="11188353" y="6238280"/>
            <a:ext cx="2416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213B"/>
                </a:solidFill>
                <a:latin typeface="Public Sans" pitchFamily="34" charset="0"/>
                <a:ea typeface="Public Sans" pitchFamily="34" charset="-122"/>
                <a:cs typeface="Public Sans" pitchFamily="34" charset="-120"/>
              </a:rPr>
              <a:t>01 · PROBLEM DEFINITION</a:t>
            </a:r>
            <a:endParaRPr lang="en-US" sz="1200" dirty="0"/>
          </a:p>
        </p:txBody>
      </p:sp>
      <p:sp>
        <p:nvSpPr>
          <p:cNvPr id="3" name="Text 1"/>
          <p:cNvSpPr/>
          <p:nvPr>
            <p:ph type="title"/>
          </p:nvPr>
        </p:nvSpPr>
        <p:spPr>
          <a:xfrm>
            <a:off x="812800" y="1026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5213B"/>
                </a:solidFill>
                <a:latin typeface="Libre Baskerville" pitchFamily="18" charset="0"/>
                <a:ea typeface="Libre Baskerville" pitchFamily="18" charset="-122"/>
                <a:cs typeface="Libre Baskerville" pitchFamily="18" charset="-120"/>
              </a:rPr>
              <a:t>Candidate problem framings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05570"/>
          <a:ext cx="10553700" cy="1970683"/>
        </p:xfrm>
        <a:graphic>
          <a:graphicData uri="http://schemas.openxmlformats.org/drawingml/2006/table">
            <a:tbl>
              <a:tblPr/>
              <a:tblGrid>
                <a:gridCol w="2321814"/>
                <a:gridCol w="3166110"/>
                <a:gridCol w="1899666"/>
                <a:gridCol w="3166110"/>
              </a:tblGrid>
              <a:tr h="332680">
                <a:tc>
                  <a:txBody>
                    <a:bodyPr/>
                    <a:lstStyle/>
                    <a:p>
                      <a:pPr indent="0" marL="0">
                        <a:lnSpc>
                          <a:spcPts val="1680"/>
                        </a:lnSpc>
                        <a:buNone/>
                      </a:pPr>
                      <a:r>
                        <a:rPr lang="en-US" sz="1200" b="1" dirty="0">
                          <a:solidFill>
                            <a:srgbClr val="15213B"/>
                          </a:solidFill>
                          <a:latin typeface="Public Sans" pitchFamily="34" charset="0"/>
                          <a:ea typeface="Public Sans" pitchFamily="34" charset="-122"/>
                          <a:cs typeface="Public Sans" pitchFamily="34" charset="-120"/>
                        </a:rPr>
                        <a:t>Framing</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680"/>
                        </a:lnSpc>
                        <a:buNone/>
                      </a:pPr>
                      <a:r>
                        <a:rPr lang="en-US" sz="1200" b="1" dirty="0">
                          <a:solidFill>
                            <a:srgbClr val="15213B"/>
                          </a:solidFill>
                          <a:latin typeface="Public Sans" pitchFamily="34" charset="0"/>
                          <a:ea typeface="Public Sans" pitchFamily="34" charset="-122"/>
                          <a:cs typeface="Public Sans" pitchFamily="34" charset="-120"/>
                        </a:rPr>
                        <a:t>Target</a:t>
                      </a:r>
                      <a:endParaRPr lang="en-US" sz="1200" dirty="0">
                        <a:latin typeface="Public Sans" charset="0"/>
                        <a:ea typeface="Public Sans" charset="0"/>
                        <a:cs typeface="Public Sans" charset="0"/>
                      </a:endParaRPr>
                    </a:p>
                  </a:txBody>
                  <a:tcPr marL="53340" marR="53340" marT="53340" marB="53340"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680"/>
                        </a:lnSpc>
                        <a:buNone/>
                      </a:pPr>
                      <a:r>
                        <a:rPr lang="en-US" sz="1200" b="1" dirty="0">
                          <a:solidFill>
                            <a:srgbClr val="15213B"/>
                          </a:solidFill>
                          <a:latin typeface="Public Sans" pitchFamily="34" charset="0"/>
                          <a:ea typeface="Public Sans" pitchFamily="34" charset="-122"/>
                          <a:cs typeface="Public Sans" pitchFamily="34" charset="-120"/>
                        </a:rPr>
                        <a:t>Type</a:t>
                      </a:r>
                      <a:endParaRPr lang="en-US" sz="1200" dirty="0">
                        <a:latin typeface="Public Sans" charset="0"/>
                        <a:ea typeface="Public Sans" charset="0"/>
                        <a:cs typeface="Public Sans" charset="0"/>
                      </a:endParaRPr>
                    </a:p>
                  </a:txBody>
                  <a:tcPr marL="53340" marR="53340" marT="53340" marB="53340"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680"/>
                        </a:lnSpc>
                        <a:buNone/>
                      </a:pPr>
                      <a:r>
                        <a:rPr lang="en-US" sz="1200" b="1" dirty="0">
                          <a:solidFill>
                            <a:srgbClr val="15213B"/>
                          </a:solidFill>
                          <a:latin typeface="Public Sans" pitchFamily="34" charset="0"/>
                          <a:ea typeface="Public Sans" pitchFamily="34" charset="-122"/>
                          <a:cs typeface="Public Sans" pitchFamily="34" charset="-120"/>
                        </a:rPr>
                        <a:t>Decision it supports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r>
              <a:tr h="546001">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Severity prediction</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No injuries / injuries / fatalities, per accident</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3-class classification</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Prioritise enforcement &amp; infrastructure fixes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546001">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Severe-accident hotspots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Share of injury or fatal accidents per highway-km stretch &amp; period</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Regression / ranking</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Where to invest in infrastructure first</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546001">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Fatality risk given accident ✓ our choice</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Probability an accident, once it happens, is fatal</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Binary classification</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Emergency response prioritisation</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bl>
          </a:graphicData>
        </a:graphic>
      </p:graphicFrame>
      <p:sp>
        <p:nvSpPr>
          <p:cNvPr id="5" name="Text 2"/>
          <p:cNvSpPr/>
          <p:nvPr/>
        </p:nvSpPr>
        <p:spPr>
          <a:xfrm>
            <a:off x="812800" y="3904853"/>
            <a:ext cx="10566400" cy="535930"/>
          </a:xfrm>
          <a:prstGeom prst="roundRect">
            <a:avLst>
              <a:gd name="adj" fmla="val 14218"/>
            </a:avLst>
          </a:prstGeom>
          <a:solidFill>
            <a:srgbClr val="15213B"/>
          </a:solidFill>
          <a:ln/>
        </p:spPr>
        <p:txBody>
          <a:bodyPr wrap="square" lIns="206282" tIns="130082" rIns="0" bIns="104682" rtlCol="0" anchor="t">
            <a:normAutofit/>
          </a:bodyPr>
          <a:lstStyle/>
          <a:p>
            <a:pPr algn="l" indent="0" marL="0">
              <a:lnSpc>
                <a:spcPts val="1820"/>
              </a:lnSpc>
              <a:buNone/>
            </a:pPr>
            <a:r>
              <a:rPr lang="en-US" sz="1300" dirty="0">
                <a:solidFill>
                  <a:srgbClr val="F4F1E8"/>
                </a:solidFill>
                <a:latin typeface="Public Sans" pitchFamily="34" charset="0"/>
                <a:ea typeface="Public Sans" pitchFamily="34" charset="-122"/>
                <a:cs typeface="Public Sans" pitchFamily="34" charset="-120"/>
              </a:rPr>
              <a:t>The data holds only accidents — we can predict how severe an accident is, not whether one will happen.</a:t>
            </a:r>
            <a:endParaRPr lang="en-US" sz="1300" dirty="0"/>
          </a:p>
        </p:txBody>
      </p:sp>
      <p:sp>
        <p:nvSpPr>
          <p:cNvPr id="6" name="Text 3"/>
          <p:cNvSpPr/>
          <p:nvPr/>
        </p:nvSpPr>
        <p:spPr>
          <a:xfrm>
            <a:off x="812800" y="6238280"/>
            <a:ext cx="40571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Road Safety Predictive Analytics — Group 6</a:t>
            </a:r>
            <a:endParaRPr lang="en-US" sz="1200" dirty="0"/>
          </a:p>
        </p:txBody>
      </p:sp>
      <p:sp>
        <p:nvSpPr>
          <p:cNvPr id="7" name="Text 4"/>
          <p:cNvSpPr/>
          <p:nvPr/>
        </p:nvSpPr>
        <p:spPr>
          <a:xfrm>
            <a:off x="11192024" y="6238280"/>
            <a:ext cx="237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213B"/>
                </a:solidFill>
                <a:latin typeface="Public Sans" pitchFamily="34" charset="0"/>
                <a:ea typeface="Public Sans" pitchFamily="34" charset="-122"/>
                <a:cs typeface="Public Sans" pitchFamily="34" charset="-120"/>
              </a:rPr>
              <a:t>01 · PROBLEM DEFINITION</a:t>
            </a:r>
            <a:endParaRPr lang="en-US" sz="1200" dirty="0"/>
          </a:p>
        </p:txBody>
      </p:sp>
      <p:sp>
        <p:nvSpPr>
          <p:cNvPr id="3" name="Text 1"/>
          <p:cNvSpPr/>
          <p:nvPr>
            <p:ph type="title"/>
          </p:nvPr>
        </p:nvSpPr>
        <p:spPr>
          <a:xfrm>
            <a:off x="812800" y="1026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5213B"/>
                </a:solidFill>
                <a:latin typeface="Libre Baskerville" pitchFamily="18" charset="0"/>
                <a:ea typeface="Libre Baskerville" pitchFamily="18" charset="-122"/>
                <a:cs typeface="Libre Baskerville" pitchFamily="18" charset="-120"/>
              </a:rPr>
              <a:t>Our chosen problem: Golden Hour triage</a:t>
            </a:r>
            <a:endParaRPr lang="en-US" sz="3000" dirty="0"/>
          </a:p>
        </p:txBody>
      </p:sp>
      <p:sp>
        <p:nvSpPr>
          <p:cNvPr id="4" name="Shape 2"/>
          <p:cNvSpPr/>
          <p:nvPr/>
        </p:nvSpPr>
        <p:spPr>
          <a:xfrm>
            <a:off x="815975" y="1670645"/>
            <a:ext cx="10560050" cy="542280"/>
          </a:xfrm>
          <a:prstGeom prst="roundRect">
            <a:avLst>
              <a:gd name="adj" fmla="val 13466"/>
            </a:avLst>
          </a:prstGeom>
          <a:solidFill>
            <a:srgbClr val="FDFDFB"/>
          </a:solidFill>
          <a:ln w="6350">
            <a:solidFill>
              <a:srgbClr val="E2DFD6"/>
            </a:solidFill>
            <a:prstDash val="solid"/>
          </a:ln>
        </p:spPr>
        <p:txBody>
          <a:bodyPr/>
          <a:p/>
        </p:txBody>
      </p:sp>
      <p:sp>
        <p:nvSpPr>
          <p:cNvPr id="5" name="Text 3"/>
          <p:cNvSpPr/>
          <p:nvPr/>
        </p:nvSpPr>
        <p:spPr>
          <a:xfrm>
            <a:off x="1047750" y="1826220"/>
            <a:ext cx="274701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05A26"/>
                </a:solidFill>
                <a:latin typeface="Public Sans" pitchFamily="34" charset="0"/>
                <a:ea typeface="Public Sans" pitchFamily="34" charset="-122"/>
                <a:cs typeface="Public Sans" pitchFamily="34" charset="-120"/>
              </a:rPr>
              <a:t>Business question</a:t>
            </a:r>
            <a:endParaRPr lang="en-US" sz="1300" dirty="0"/>
          </a:p>
        </p:txBody>
      </p:sp>
      <p:sp>
        <p:nvSpPr>
          <p:cNvPr id="6" name="Text 4"/>
          <p:cNvSpPr/>
          <p:nvPr/>
        </p:nvSpPr>
        <p:spPr>
          <a:xfrm>
            <a:off x="3867150" y="1826220"/>
            <a:ext cx="749541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16B"/>
                </a:solidFill>
                <a:latin typeface="Public Sans" pitchFamily="34" charset="0"/>
                <a:ea typeface="Public Sans" pitchFamily="34" charset="-122"/>
                <a:cs typeface="Public Sans" pitchFamily="34" charset="-120"/>
              </a:rPr>
              <a:t>Which crashes need Advanced Life Support (ALS) within the Golden Hour?</a:t>
            </a:r>
            <a:endParaRPr lang="en-US" sz="1300" dirty="0"/>
          </a:p>
        </p:txBody>
      </p:sp>
      <p:sp>
        <p:nvSpPr>
          <p:cNvPr id="7" name="Shape 5"/>
          <p:cNvSpPr/>
          <p:nvPr/>
        </p:nvSpPr>
        <p:spPr>
          <a:xfrm>
            <a:off x="815975" y="2308175"/>
            <a:ext cx="10560050" cy="542280"/>
          </a:xfrm>
          <a:prstGeom prst="roundRect">
            <a:avLst>
              <a:gd name="adj" fmla="val 13466"/>
            </a:avLst>
          </a:prstGeom>
          <a:solidFill>
            <a:srgbClr val="FDFDFB"/>
          </a:solidFill>
          <a:ln w="6350">
            <a:solidFill>
              <a:srgbClr val="E2DFD6"/>
            </a:solidFill>
            <a:prstDash val="solid"/>
          </a:ln>
        </p:spPr>
        <p:txBody>
          <a:bodyPr/>
          <a:p/>
        </p:txBody>
      </p:sp>
      <p:sp>
        <p:nvSpPr>
          <p:cNvPr id="8" name="Text 6"/>
          <p:cNvSpPr/>
          <p:nvPr/>
        </p:nvSpPr>
        <p:spPr>
          <a:xfrm>
            <a:off x="1047750" y="2463750"/>
            <a:ext cx="274701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05A26"/>
                </a:solidFill>
                <a:latin typeface="Public Sans" pitchFamily="34" charset="0"/>
                <a:ea typeface="Public Sans" pitchFamily="34" charset="-122"/>
                <a:cs typeface="Public Sans" pitchFamily="34" charset="-120"/>
              </a:rPr>
              <a:t>Decision supported</a:t>
            </a:r>
            <a:endParaRPr lang="en-US" sz="1300" dirty="0"/>
          </a:p>
        </p:txBody>
      </p:sp>
      <p:sp>
        <p:nvSpPr>
          <p:cNvPr id="9" name="Text 7"/>
          <p:cNvSpPr/>
          <p:nvPr/>
        </p:nvSpPr>
        <p:spPr>
          <a:xfrm>
            <a:off x="3867150" y="2463750"/>
            <a:ext cx="749541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16B"/>
                </a:solidFill>
                <a:latin typeface="Public Sans" pitchFamily="34" charset="0"/>
                <a:ea typeface="Public Sans" pitchFamily="34" charset="-122"/>
                <a:cs typeface="Public Sans" pitchFamily="34" charset="-120"/>
              </a:rPr>
              <a:t>At the emergency call, the dispatcher sends ALS / helicopter or a standard patrol</a:t>
            </a:r>
            <a:endParaRPr lang="en-US" sz="1300" dirty="0"/>
          </a:p>
        </p:txBody>
      </p:sp>
      <p:sp>
        <p:nvSpPr>
          <p:cNvPr id="10" name="Shape 8"/>
          <p:cNvSpPr/>
          <p:nvPr/>
        </p:nvSpPr>
        <p:spPr>
          <a:xfrm>
            <a:off x="815975" y="2945705"/>
            <a:ext cx="10560050" cy="542280"/>
          </a:xfrm>
          <a:prstGeom prst="roundRect">
            <a:avLst>
              <a:gd name="adj" fmla="val 13466"/>
            </a:avLst>
          </a:prstGeom>
          <a:solidFill>
            <a:srgbClr val="FDFDFB"/>
          </a:solidFill>
          <a:ln w="6350">
            <a:solidFill>
              <a:srgbClr val="E2DFD6"/>
            </a:solidFill>
            <a:prstDash val="solid"/>
          </a:ln>
        </p:spPr>
        <p:txBody>
          <a:bodyPr/>
          <a:p/>
        </p:txBody>
      </p:sp>
      <p:sp>
        <p:nvSpPr>
          <p:cNvPr id="11" name="Text 9"/>
          <p:cNvSpPr/>
          <p:nvPr/>
        </p:nvSpPr>
        <p:spPr>
          <a:xfrm>
            <a:off x="1047750" y="3101280"/>
            <a:ext cx="274701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05A26"/>
                </a:solidFill>
                <a:latin typeface="Public Sans" pitchFamily="34" charset="0"/>
                <a:ea typeface="Public Sans" pitchFamily="34" charset="-122"/>
                <a:cs typeface="Public Sans" pitchFamily="34" charset="-120"/>
              </a:rPr>
              <a:t>Target definition</a:t>
            </a:r>
            <a:endParaRPr lang="en-US" sz="1300" dirty="0"/>
          </a:p>
        </p:txBody>
      </p:sp>
      <p:sp>
        <p:nvSpPr>
          <p:cNvPr id="12" name="Text 10"/>
          <p:cNvSpPr/>
          <p:nvPr/>
        </p:nvSpPr>
        <p:spPr>
          <a:xfrm>
            <a:off x="3867150" y="3101280"/>
            <a:ext cx="749541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16B"/>
                </a:solidFill>
                <a:latin typeface="Public Sans" pitchFamily="34" charset="0"/>
                <a:ea typeface="Public Sans" pitchFamily="34" charset="-122"/>
                <a:cs typeface="Public Sans" pitchFamily="34" charset="-120"/>
              </a:rPr>
              <a:t>is_fatal = 1 when accident_classification = 2 · 4.8% overall, 7.1% in 2024–25</a:t>
            </a:r>
            <a:endParaRPr lang="en-US" sz="1300" dirty="0"/>
          </a:p>
        </p:txBody>
      </p:sp>
      <p:sp>
        <p:nvSpPr>
          <p:cNvPr id="13" name="Shape 11"/>
          <p:cNvSpPr/>
          <p:nvPr/>
        </p:nvSpPr>
        <p:spPr>
          <a:xfrm>
            <a:off x="815975" y="3583236"/>
            <a:ext cx="10560050" cy="542280"/>
          </a:xfrm>
          <a:prstGeom prst="roundRect">
            <a:avLst>
              <a:gd name="adj" fmla="val 13466"/>
            </a:avLst>
          </a:prstGeom>
          <a:solidFill>
            <a:srgbClr val="FDFDFB"/>
          </a:solidFill>
          <a:ln w="6350">
            <a:solidFill>
              <a:srgbClr val="E2DFD6"/>
            </a:solidFill>
            <a:prstDash val="solid"/>
          </a:ln>
        </p:spPr>
        <p:txBody>
          <a:bodyPr/>
          <a:p/>
        </p:txBody>
      </p:sp>
      <p:sp>
        <p:nvSpPr>
          <p:cNvPr id="14" name="Text 12"/>
          <p:cNvSpPr/>
          <p:nvPr/>
        </p:nvSpPr>
        <p:spPr>
          <a:xfrm>
            <a:off x="1047750" y="3738811"/>
            <a:ext cx="274701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05A26"/>
                </a:solidFill>
                <a:latin typeface="Public Sans" pitchFamily="34" charset="0"/>
                <a:ea typeface="Public Sans" pitchFamily="34" charset="-122"/>
                <a:cs typeface="Public Sans" pitchFamily="34" charset="-120"/>
              </a:rPr>
              <a:t>Unit of analysis</a:t>
            </a:r>
            <a:endParaRPr lang="en-US" sz="1300" dirty="0"/>
          </a:p>
        </p:txBody>
      </p:sp>
      <p:sp>
        <p:nvSpPr>
          <p:cNvPr id="15" name="Text 13"/>
          <p:cNvSpPr/>
          <p:nvPr/>
        </p:nvSpPr>
        <p:spPr>
          <a:xfrm>
            <a:off x="3867150" y="3738811"/>
            <a:ext cx="749541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16B"/>
                </a:solidFill>
                <a:latin typeface="Public Sans" pitchFamily="34" charset="0"/>
                <a:ea typeface="Public Sans" pitchFamily="34" charset="-122"/>
                <a:cs typeface="Public Sans" pitchFamily="34" charset="-120"/>
              </a:rPr>
              <a:t>One collision · all federal highway crashes</a:t>
            </a:r>
            <a:endParaRPr lang="en-US" sz="1300" dirty="0"/>
          </a:p>
        </p:txBody>
      </p:sp>
      <p:sp>
        <p:nvSpPr>
          <p:cNvPr id="16" name="Shape 14"/>
          <p:cNvSpPr/>
          <p:nvPr/>
        </p:nvSpPr>
        <p:spPr>
          <a:xfrm>
            <a:off x="815975" y="4220766"/>
            <a:ext cx="10560050" cy="542280"/>
          </a:xfrm>
          <a:prstGeom prst="roundRect">
            <a:avLst>
              <a:gd name="adj" fmla="val 13466"/>
            </a:avLst>
          </a:prstGeom>
          <a:solidFill>
            <a:srgbClr val="FDFDFB"/>
          </a:solidFill>
          <a:ln w="6350">
            <a:solidFill>
              <a:srgbClr val="E2DFD6"/>
            </a:solidFill>
            <a:prstDash val="solid"/>
          </a:ln>
        </p:spPr>
        <p:txBody>
          <a:bodyPr/>
          <a:p/>
        </p:txBody>
      </p:sp>
      <p:sp>
        <p:nvSpPr>
          <p:cNvPr id="17" name="Text 15"/>
          <p:cNvSpPr/>
          <p:nvPr/>
        </p:nvSpPr>
        <p:spPr>
          <a:xfrm>
            <a:off x="1047750" y="4376341"/>
            <a:ext cx="274701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05A26"/>
                </a:solidFill>
                <a:latin typeface="Public Sans" pitchFamily="34" charset="0"/>
                <a:ea typeface="Public Sans" pitchFamily="34" charset="-122"/>
                <a:cs typeface="Public Sans" pitchFamily="34" charset="-120"/>
              </a:rPr>
              <a:t>Prediction horizon</a:t>
            </a:r>
            <a:endParaRPr lang="en-US" sz="1300" dirty="0"/>
          </a:p>
        </p:txBody>
      </p:sp>
      <p:sp>
        <p:nvSpPr>
          <p:cNvPr id="18" name="Text 16"/>
          <p:cNvSpPr/>
          <p:nvPr/>
        </p:nvSpPr>
        <p:spPr>
          <a:xfrm>
            <a:off x="3867150" y="4376341"/>
            <a:ext cx="749541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16B"/>
                </a:solidFill>
                <a:latin typeface="Public Sans" pitchFamily="34" charset="0"/>
                <a:ea typeface="Public Sans" pitchFamily="34" charset="-122"/>
                <a:cs typeface="Public Sans" pitchFamily="34" charset="-120"/>
              </a:rPr>
              <a:t>Real time, at call intake (t=0): only road, location and time are known</a:t>
            </a:r>
            <a:endParaRPr lang="en-US" sz="1300" dirty="0"/>
          </a:p>
        </p:txBody>
      </p:sp>
      <p:sp>
        <p:nvSpPr>
          <p:cNvPr id="19" name="Text 17"/>
          <p:cNvSpPr/>
          <p:nvPr/>
        </p:nvSpPr>
        <p:spPr>
          <a:xfrm>
            <a:off x="812800" y="6238280"/>
            <a:ext cx="40571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Road Safety Predictive Analytics — Group 6</a:t>
            </a:r>
            <a:endParaRPr lang="en-US" sz="1200" dirty="0"/>
          </a:p>
        </p:txBody>
      </p:sp>
      <p:sp>
        <p:nvSpPr>
          <p:cNvPr id="20" name="Text 18"/>
          <p:cNvSpPr/>
          <p:nvPr/>
        </p:nvSpPr>
        <p:spPr>
          <a:xfrm>
            <a:off x="11197183" y="6238280"/>
            <a:ext cx="2328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213B"/>
                </a:solidFill>
                <a:latin typeface="Public Sans" pitchFamily="34" charset="0"/>
                <a:ea typeface="Public Sans" pitchFamily="34" charset="-122"/>
                <a:cs typeface="Public Sans" pitchFamily="34" charset="-120"/>
              </a:rPr>
              <a:t>01 · PROBLEM DEFINITION</a:t>
            </a:r>
            <a:endParaRPr lang="en-US" sz="1200" dirty="0"/>
          </a:p>
        </p:txBody>
      </p:sp>
      <p:sp>
        <p:nvSpPr>
          <p:cNvPr id="3" name="Text 1"/>
          <p:cNvSpPr/>
          <p:nvPr>
            <p:ph type="title"/>
          </p:nvPr>
        </p:nvSpPr>
        <p:spPr>
          <a:xfrm>
            <a:off x="812800" y="1026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5213B"/>
                </a:solidFill>
                <a:latin typeface="Libre Baskerville" pitchFamily="18" charset="0"/>
                <a:ea typeface="Libre Baskerville" pitchFamily="18" charset="-122"/>
                <a:cs typeface="Libre Baskerville" pitchFamily="18" charset="-120"/>
              </a:rPr>
              <a:t>Metrics: why 93% accuracy is a trap</a:t>
            </a:r>
            <a:endParaRPr lang="en-US" sz="3000" dirty="0"/>
          </a:p>
        </p:txBody>
      </p:sp>
      <p:sp>
        <p:nvSpPr>
          <p:cNvPr id="4" name="Shape 2"/>
          <p:cNvSpPr/>
          <p:nvPr/>
        </p:nvSpPr>
        <p:spPr>
          <a:xfrm>
            <a:off x="815975" y="1670645"/>
            <a:ext cx="10560050" cy="542280"/>
          </a:xfrm>
          <a:prstGeom prst="roundRect">
            <a:avLst>
              <a:gd name="adj" fmla="val 13466"/>
            </a:avLst>
          </a:prstGeom>
          <a:solidFill>
            <a:srgbClr val="FDFDFB"/>
          </a:solidFill>
          <a:ln w="6350">
            <a:solidFill>
              <a:srgbClr val="E2DFD6"/>
            </a:solidFill>
            <a:prstDash val="solid"/>
          </a:ln>
        </p:spPr>
        <p:txBody>
          <a:bodyPr/>
          <a:p/>
        </p:txBody>
      </p:sp>
      <p:sp>
        <p:nvSpPr>
          <p:cNvPr id="5" name="Text 3"/>
          <p:cNvSpPr/>
          <p:nvPr/>
        </p:nvSpPr>
        <p:spPr>
          <a:xfrm>
            <a:off x="1047750" y="1826220"/>
            <a:ext cx="274701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05A26"/>
                </a:solidFill>
                <a:latin typeface="Public Sans" pitchFamily="34" charset="0"/>
                <a:ea typeface="Public Sans" pitchFamily="34" charset="-122"/>
                <a:cs typeface="Public Sans" pitchFamily="34" charset="-120"/>
              </a:rPr>
              <a:t>Accuracy (rejected)</a:t>
            </a:r>
            <a:endParaRPr lang="en-US" sz="1300" dirty="0"/>
          </a:p>
        </p:txBody>
      </p:sp>
      <p:sp>
        <p:nvSpPr>
          <p:cNvPr id="6" name="Text 4"/>
          <p:cNvSpPr/>
          <p:nvPr/>
        </p:nvSpPr>
        <p:spPr>
          <a:xfrm>
            <a:off x="3867150" y="1826220"/>
            <a:ext cx="749541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16B"/>
                </a:solidFill>
                <a:latin typeface="Public Sans" pitchFamily="34" charset="0"/>
                <a:ea typeface="Public Sans" pitchFamily="34" charset="-122"/>
                <a:cs typeface="Public Sans" pitchFamily="34" charset="-120"/>
              </a:rPr>
              <a:t>“No fatality, ever” scores 92.9% on 2024–25 and catches 0% of deaths</a:t>
            </a:r>
            <a:endParaRPr lang="en-US" sz="1300" dirty="0"/>
          </a:p>
        </p:txBody>
      </p:sp>
      <p:sp>
        <p:nvSpPr>
          <p:cNvPr id="7" name="Shape 5"/>
          <p:cNvSpPr/>
          <p:nvPr/>
        </p:nvSpPr>
        <p:spPr>
          <a:xfrm>
            <a:off x="815975" y="2308175"/>
            <a:ext cx="10560050" cy="542280"/>
          </a:xfrm>
          <a:prstGeom prst="roundRect">
            <a:avLst>
              <a:gd name="adj" fmla="val 13466"/>
            </a:avLst>
          </a:prstGeom>
          <a:solidFill>
            <a:srgbClr val="FDFDFB"/>
          </a:solidFill>
          <a:ln w="6350">
            <a:solidFill>
              <a:srgbClr val="E2DFD6"/>
            </a:solidFill>
            <a:prstDash val="solid"/>
          </a:ln>
        </p:spPr>
        <p:txBody>
          <a:bodyPr/>
          <a:p/>
        </p:txBody>
      </p:sp>
      <p:sp>
        <p:nvSpPr>
          <p:cNvPr id="8" name="Text 6"/>
          <p:cNvSpPr/>
          <p:nvPr/>
        </p:nvSpPr>
        <p:spPr>
          <a:xfrm>
            <a:off x="1047750" y="2463750"/>
            <a:ext cx="274701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05A26"/>
                </a:solidFill>
                <a:latin typeface="Public Sans" pitchFamily="34" charset="0"/>
                <a:ea typeface="Public Sans" pitchFamily="34" charset="-122"/>
                <a:cs typeface="Public Sans" pitchFamily="34" charset="-120"/>
              </a:rPr>
              <a:t>PR-AUC</a:t>
            </a:r>
            <a:endParaRPr lang="en-US" sz="1300" dirty="0"/>
          </a:p>
        </p:txBody>
      </p:sp>
      <p:sp>
        <p:nvSpPr>
          <p:cNvPr id="9" name="Text 7"/>
          <p:cNvSpPr/>
          <p:nvPr/>
        </p:nvSpPr>
        <p:spPr>
          <a:xfrm>
            <a:off x="3867150" y="2463750"/>
            <a:ext cx="749541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16B"/>
                </a:solidFill>
                <a:latin typeface="Public Sans" pitchFamily="34" charset="0"/>
                <a:ea typeface="Public Sans" pitchFamily="34" charset="-122"/>
                <a:cs typeface="Public Sans" pitchFamily="34" charset="-120"/>
              </a:rPr>
              <a:t>Ranking quality on a rare event — random scores 0.071 on the test set</a:t>
            </a:r>
            <a:endParaRPr lang="en-US" sz="1300" dirty="0"/>
          </a:p>
        </p:txBody>
      </p:sp>
      <p:sp>
        <p:nvSpPr>
          <p:cNvPr id="10" name="Shape 8"/>
          <p:cNvSpPr/>
          <p:nvPr/>
        </p:nvSpPr>
        <p:spPr>
          <a:xfrm>
            <a:off x="815975" y="2945705"/>
            <a:ext cx="10560050" cy="542280"/>
          </a:xfrm>
          <a:prstGeom prst="roundRect">
            <a:avLst>
              <a:gd name="adj" fmla="val 13466"/>
            </a:avLst>
          </a:prstGeom>
          <a:solidFill>
            <a:srgbClr val="FDFDFB"/>
          </a:solidFill>
          <a:ln w="6350">
            <a:solidFill>
              <a:srgbClr val="E2DFD6"/>
            </a:solidFill>
            <a:prstDash val="solid"/>
          </a:ln>
        </p:spPr>
        <p:txBody>
          <a:bodyPr/>
          <a:p/>
        </p:txBody>
      </p:sp>
      <p:sp>
        <p:nvSpPr>
          <p:cNvPr id="11" name="Text 9"/>
          <p:cNvSpPr/>
          <p:nvPr/>
        </p:nvSpPr>
        <p:spPr>
          <a:xfrm>
            <a:off x="1047750" y="3101280"/>
            <a:ext cx="274701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05A26"/>
                </a:solidFill>
                <a:latin typeface="Public Sans" pitchFamily="34" charset="0"/>
                <a:ea typeface="Public Sans" pitchFamily="34" charset="-122"/>
                <a:cs typeface="Public Sans" pitchFamily="34" charset="-120"/>
              </a:rPr>
              <a:t>Recall &amp; lift @ top 15%</a:t>
            </a:r>
            <a:endParaRPr lang="en-US" sz="1300" dirty="0"/>
          </a:p>
        </p:txBody>
      </p:sp>
      <p:sp>
        <p:nvSpPr>
          <p:cNvPr id="12" name="Text 10"/>
          <p:cNvSpPr/>
          <p:nvPr/>
        </p:nvSpPr>
        <p:spPr>
          <a:xfrm>
            <a:off x="3867150" y="3101280"/>
            <a:ext cx="749541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16B"/>
                </a:solidFill>
                <a:latin typeface="Public Sans" pitchFamily="34" charset="0"/>
                <a:ea typeface="Public Sans" pitchFamily="34" charset="-122"/>
                <a:cs typeface="Public Sans" pitchFamily="34" charset="-120"/>
              </a:rPr>
              <a:t>ALS can serve 15% of calls: share of fatal crashes in that slice, vs. random</a:t>
            </a:r>
            <a:endParaRPr lang="en-US" sz="1300" dirty="0"/>
          </a:p>
        </p:txBody>
      </p:sp>
      <p:sp>
        <p:nvSpPr>
          <p:cNvPr id="13" name="Shape 11"/>
          <p:cNvSpPr/>
          <p:nvPr/>
        </p:nvSpPr>
        <p:spPr>
          <a:xfrm>
            <a:off x="815975" y="3583236"/>
            <a:ext cx="10560050" cy="542280"/>
          </a:xfrm>
          <a:prstGeom prst="roundRect">
            <a:avLst>
              <a:gd name="adj" fmla="val 13466"/>
            </a:avLst>
          </a:prstGeom>
          <a:solidFill>
            <a:srgbClr val="FDFDFB"/>
          </a:solidFill>
          <a:ln w="6350">
            <a:solidFill>
              <a:srgbClr val="E2DFD6"/>
            </a:solidFill>
            <a:prstDash val="solid"/>
          </a:ln>
        </p:spPr>
        <p:txBody>
          <a:bodyPr/>
          <a:p/>
        </p:txBody>
      </p:sp>
      <p:sp>
        <p:nvSpPr>
          <p:cNvPr id="14" name="Text 12"/>
          <p:cNvSpPr/>
          <p:nvPr/>
        </p:nvSpPr>
        <p:spPr>
          <a:xfrm>
            <a:off x="1047750" y="3738811"/>
            <a:ext cx="274701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05A26"/>
                </a:solidFill>
                <a:latin typeface="Public Sans" pitchFamily="34" charset="0"/>
                <a:ea typeface="Public Sans" pitchFamily="34" charset="-122"/>
                <a:cs typeface="Public Sans" pitchFamily="34" charset="-120"/>
              </a:rPr>
              <a:t>Brier score</a:t>
            </a:r>
            <a:endParaRPr lang="en-US" sz="1300" dirty="0"/>
          </a:p>
        </p:txBody>
      </p:sp>
      <p:sp>
        <p:nvSpPr>
          <p:cNvPr id="15" name="Text 13"/>
          <p:cNvSpPr/>
          <p:nvPr/>
        </p:nvSpPr>
        <p:spPr>
          <a:xfrm>
            <a:off x="3867150" y="3738811"/>
            <a:ext cx="749541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16B"/>
                </a:solidFill>
                <a:latin typeface="Public Sans" pitchFamily="34" charset="0"/>
                <a:ea typeface="Public Sans" pitchFamily="34" charset="-122"/>
                <a:cs typeface="Public Sans" pitchFamily="34" charset="-120"/>
              </a:rPr>
              <a:t>Are the predicted probabilities trustworthy? Lower is better</a:t>
            </a:r>
            <a:endParaRPr lang="en-US" sz="1300" dirty="0"/>
          </a:p>
        </p:txBody>
      </p:sp>
      <p:sp>
        <p:nvSpPr>
          <p:cNvPr id="16" name="Shape 14"/>
          <p:cNvSpPr/>
          <p:nvPr/>
        </p:nvSpPr>
        <p:spPr>
          <a:xfrm>
            <a:off x="815975" y="4220766"/>
            <a:ext cx="10560050" cy="542280"/>
          </a:xfrm>
          <a:prstGeom prst="roundRect">
            <a:avLst>
              <a:gd name="adj" fmla="val 13466"/>
            </a:avLst>
          </a:prstGeom>
          <a:solidFill>
            <a:srgbClr val="FDFDFB"/>
          </a:solidFill>
          <a:ln w="6350">
            <a:solidFill>
              <a:srgbClr val="E2DFD6"/>
            </a:solidFill>
            <a:prstDash val="solid"/>
          </a:ln>
        </p:spPr>
        <p:txBody>
          <a:bodyPr/>
          <a:p/>
        </p:txBody>
      </p:sp>
      <p:sp>
        <p:nvSpPr>
          <p:cNvPr id="17" name="Text 15"/>
          <p:cNvSpPr/>
          <p:nvPr/>
        </p:nvSpPr>
        <p:spPr>
          <a:xfrm>
            <a:off x="1047750" y="4376341"/>
            <a:ext cx="274701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05A26"/>
                </a:solidFill>
                <a:latin typeface="Public Sans" pitchFamily="34" charset="0"/>
                <a:ea typeface="Public Sans" pitchFamily="34" charset="-122"/>
                <a:cs typeface="Public Sans" pitchFamily="34" charset="-120"/>
              </a:rPr>
              <a:t>Threshold p* = 5%</a:t>
            </a:r>
            <a:endParaRPr lang="en-US" sz="1300" dirty="0"/>
          </a:p>
        </p:txBody>
      </p:sp>
      <p:sp>
        <p:nvSpPr>
          <p:cNvPr id="18" name="Text 16"/>
          <p:cNvSpPr/>
          <p:nvPr/>
        </p:nvSpPr>
        <p:spPr>
          <a:xfrm>
            <a:off x="3867150" y="4376341"/>
            <a:ext cx="749541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16B"/>
                </a:solidFill>
                <a:latin typeface="Public Sans" pitchFamily="34" charset="0"/>
                <a:ea typeface="Public Sans" pitchFamily="34" charset="-122"/>
                <a:cs typeface="Public Sans" pitchFamily="34" charset="-120"/>
              </a:rPr>
              <a:t>€2,500 ALS cost ÷ €50,000 benefit · test base rate 7.1% &gt; p*, so capacity binds</a:t>
            </a:r>
            <a:endParaRPr lang="en-US" sz="1300" dirty="0"/>
          </a:p>
        </p:txBody>
      </p:sp>
      <p:sp>
        <p:nvSpPr>
          <p:cNvPr id="19" name="Text 17"/>
          <p:cNvSpPr/>
          <p:nvPr/>
        </p:nvSpPr>
        <p:spPr>
          <a:xfrm>
            <a:off x="812800" y="6238280"/>
            <a:ext cx="40571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Road Safety Predictive Analytics — Group 6</a:t>
            </a:r>
            <a:endParaRPr lang="en-US" sz="1200" dirty="0"/>
          </a:p>
        </p:txBody>
      </p:sp>
      <p:sp>
        <p:nvSpPr>
          <p:cNvPr id="20" name="Text 18"/>
          <p:cNvSpPr/>
          <p:nvPr/>
        </p:nvSpPr>
        <p:spPr>
          <a:xfrm>
            <a:off x="11197183" y="6238280"/>
            <a:ext cx="2328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15213B"/>
        </a:solidFill>
      </p:bgPr>
    </p:bg>
    <p:spTree>
      <p:nvGrpSpPr>
        <p:cNvPr id="1" name=""/>
        <p:cNvGrpSpPr/>
        <p:nvPr/>
      </p:nvGrpSpPr>
      <p:grpSpPr>
        <a:xfrm>
          <a:off x="0" y="0"/>
          <a:ext cx="0" cy="0"/>
          <a:chOff x="0" y="0"/>
          <a:chExt cx="0" cy="0"/>
        </a:xfrm>
      </p:grpSpPr>
      <p:sp>
        <p:nvSpPr>
          <p:cNvPr id="2" name="Text 0"/>
          <p:cNvSpPr/>
          <p:nvPr/>
        </p:nvSpPr>
        <p:spPr>
          <a:xfrm>
            <a:off x="812800" y="267335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7CCDD"/>
                </a:solidFill>
                <a:latin typeface="Public Sans" pitchFamily="34" charset="0"/>
                <a:ea typeface="Public Sans" pitchFamily="34" charset="-122"/>
                <a:cs typeface="Public Sans" pitchFamily="34" charset="-120"/>
              </a:rPr>
              <a:t>02</a:t>
            </a:r>
            <a:endParaRPr lang="en-US" sz="2000" dirty="0"/>
          </a:p>
        </p:txBody>
      </p:sp>
      <p:sp>
        <p:nvSpPr>
          <p:cNvPr id="3" name="Text 1"/>
          <p:cNvSpPr/>
          <p:nvPr>
            <p:ph type="title"/>
          </p:nvPr>
        </p:nvSpPr>
        <p:spPr>
          <a:xfrm>
            <a:off x="812800" y="3181350"/>
            <a:ext cx="10883392" cy="609600"/>
          </a:xfrm>
          <a:prstGeom prst="rect">
            <a:avLst/>
          </a:prstGeom>
          <a:noFill/>
          <a:ln/>
        </p:spPr>
        <p:txBody>
          <a:bodyPr wrap="square" lIns="0" tIns="0" rIns="0" bIns="0" rtlCol="0" anchor="t">
            <a:normAutofit/>
          </a:bodyPr>
          <a:lstStyle/>
          <a:p>
            <a:pPr algn="l" indent="0" marL="0">
              <a:lnSpc>
                <a:spcPts val="4600"/>
              </a:lnSpc>
              <a:buNone/>
            </a:pPr>
            <a:r>
              <a:rPr lang="en-US" sz="4000" b="1" i="0" dirty="0">
                <a:solidFill>
                  <a:srgbClr val="F4F1E8"/>
                </a:solidFill>
                <a:latin typeface="Libre Baskerville" pitchFamily="18" charset="0"/>
                <a:ea typeface="Libre Baskerville" pitchFamily="18" charset="-122"/>
                <a:cs typeface="Libre Baskerville" pitchFamily="18" charset="-120"/>
              </a:rPr>
              <a:t>Data understanding</a:t>
            </a:r>
            <a:endParaRPr lang="en-US" sz="4000" dirty="0"/>
          </a:p>
        </p:txBody>
      </p:sp>
      <p:sp>
        <p:nvSpPr>
          <p:cNvPr id="4" name="Text 2"/>
          <p:cNvSpPr/>
          <p:nvPr/>
        </p:nvSpPr>
        <p:spPr>
          <a:xfrm>
            <a:off x="812800" y="3917950"/>
            <a:ext cx="850265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7CCDD"/>
                </a:solidFill>
                <a:latin typeface="Public Sans" pitchFamily="34" charset="0"/>
                <a:ea typeface="Public Sans" pitchFamily="34" charset="-122"/>
                <a:cs typeface="Public Sans" pitchFamily="34" charset="-120"/>
              </a:rPr>
              <a:t>Task 2 — 15% of the grade. Know your data before you touch an algorithm.</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213B"/>
                </a:solidFill>
                <a:latin typeface="Public Sans" pitchFamily="34" charset="0"/>
                <a:ea typeface="Public Sans" pitchFamily="34" charset="-122"/>
                <a:cs typeface="Public Sans" pitchFamily="34" charset="-120"/>
              </a:rPr>
              <a:t>02 · DATA UNDERSTANDING</a:t>
            </a:r>
            <a:endParaRPr lang="en-US" sz="1200" dirty="0"/>
          </a:p>
        </p:txBody>
      </p:sp>
      <p:sp>
        <p:nvSpPr>
          <p:cNvPr id="3" name="Text 1"/>
          <p:cNvSpPr/>
          <p:nvPr>
            <p:ph type="title"/>
          </p:nvPr>
        </p:nvSpPr>
        <p:spPr>
          <a:xfrm>
            <a:off x="812800" y="1026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5213B"/>
                </a:solidFill>
                <a:latin typeface="Libre Baskerville" pitchFamily="18" charset="0"/>
                <a:ea typeface="Libre Baskerville" pitchFamily="18" charset="-122"/>
                <a:cs typeface="Libre Baskerville" pitchFamily="18" charset="-120"/>
              </a:rPr>
              <a:t>Dataset at a glance</a:t>
            </a:r>
            <a:endParaRPr lang="en-US" sz="3000" dirty="0"/>
          </a:p>
        </p:txBody>
      </p:sp>
      <p:sp>
        <p:nvSpPr>
          <p:cNvPr id="4" name="Shape 2"/>
          <p:cNvSpPr/>
          <p:nvPr/>
        </p:nvSpPr>
        <p:spPr>
          <a:xfrm>
            <a:off x="815975" y="1670645"/>
            <a:ext cx="2520950" cy="880070"/>
          </a:xfrm>
          <a:prstGeom prst="roundRect">
            <a:avLst>
              <a:gd name="adj" fmla="val 8298"/>
            </a:avLst>
          </a:prstGeom>
          <a:solidFill>
            <a:srgbClr val="FDFDFB"/>
          </a:solidFill>
          <a:ln w="6350">
            <a:solidFill>
              <a:srgbClr val="E2DFD6"/>
            </a:solidFill>
            <a:prstDash val="solid"/>
          </a:ln>
        </p:spPr>
        <p:txBody>
          <a:bodyPr/>
          <a:p/>
        </p:txBody>
      </p:sp>
      <p:sp>
        <p:nvSpPr>
          <p:cNvPr id="5" name="Text 3"/>
          <p:cNvSpPr/>
          <p:nvPr/>
        </p:nvSpPr>
        <p:spPr>
          <a:xfrm>
            <a:off x="1022350" y="1826220"/>
            <a:ext cx="217144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05A26"/>
                </a:solidFill>
                <a:latin typeface="Public Sans" pitchFamily="34" charset="0"/>
                <a:ea typeface="Public Sans" pitchFamily="34" charset="-122"/>
                <a:cs typeface="Public Sans" pitchFamily="34" charset="-120"/>
              </a:rPr>
              <a:t>150,000</a:t>
            </a:r>
            <a:endParaRPr lang="en-US" sz="2000" dirty="0"/>
          </a:p>
        </p:txBody>
      </p:sp>
      <p:sp>
        <p:nvSpPr>
          <p:cNvPr id="6" name="Text 4"/>
          <p:cNvSpPr/>
          <p:nvPr/>
        </p:nvSpPr>
        <p:spPr>
          <a:xfrm>
            <a:off x="1022350" y="2181820"/>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16B"/>
                </a:solidFill>
                <a:latin typeface="Public Sans" pitchFamily="34" charset="0"/>
                <a:ea typeface="Public Sans" pitchFamily="34" charset="-122"/>
                <a:cs typeface="Public Sans" pitchFamily="34" charset="-120"/>
              </a:rPr>
              <a:t>accidents</a:t>
            </a:r>
            <a:endParaRPr lang="en-US" sz="1200" dirty="0"/>
          </a:p>
        </p:txBody>
      </p:sp>
      <p:sp>
        <p:nvSpPr>
          <p:cNvPr id="7" name="Shape 5"/>
          <p:cNvSpPr/>
          <p:nvPr/>
        </p:nvSpPr>
        <p:spPr>
          <a:xfrm>
            <a:off x="3495675" y="1670645"/>
            <a:ext cx="2520950" cy="880070"/>
          </a:xfrm>
          <a:prstGeom prst="roundRect">
            <a:avLst>
              <a:gd name="adj" fmla="val 8298"/>
            </a:avLst>
          </a:prstGeom>
          <a:solidFill>
            <a:srgbClr val="FDFDFB"/>
          </a:solidFill>
          <a:ln w="6350">
            <a:solidFill>
              <a:srgbClr val="E2DFD6"/>
            </a:solidFill>
            <a:prstDash val="solid"/>
          </a:ln>
        </p:spPr>
        <p:txBody>
          <a:bodyPr/>
          <a:p/>
        </p:txBody>
      </p:sp>
      <p:sp>
        <p:nvSpPr>
          <p:cNvPr id="8" name="Text 6"/>
          <p:cNvSpPr/>
          <p:nvPr/>
        </p:nvSpPr>
        <p:spPr>
          <a:xfrm>
            <a:off x="3702050" y="1826220"/>
            <a:ext cx="217144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05A26"/>
                </a:solidFill>
                <a:latin typeface="Public Sans" pitchFamily="34" charset="0"/>
                <a:ea typeface="Public Sans" pitchFamily="34" charset="-122"/>
                <a:cs typeface="Public Sans" pitchFamily="34" charset="-120"/>
              </a:rPr>
              <a:t>2007–2025</a:t>
            </a:r>
            <a:endParaRPr lang="en-US" sz="2000" dirty="0"/>
          </a:p>
        </p:txBody>
      </p:sp>
      <p:sp>
        <p:nvSpPr>
          <p:cNvPr id="9" name="Text 7"/>
          <p:cNvSpPr/>
          <p:nvPr/>
        </p:nvSpPr>
        <p:spPr>
          <a:xfrm>
            <a:off x="3702050" y="2181820"/>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16B"/>
                </a:solidFill>
                <a:latin typeface="Public Sans" pitchFamily="34" charset="0"/>
                <a:ea typeface="Public Sans" pitchFamily="34" charset="-122"/>
                <a:cs typeface="Public Sans" pitchFamily="34" charset="-120"/>
              </a:rPr>
              <a:t>time span</a:t>
            </a:r>
            <a:endParaRPr lang="en-US" sz="1200" dirty="0"/>
          </a:p>
        </p:txBody>
      </p:sp>
      <p:sp>
        <p:nvSpPr>
          <p:cNvPr id="10" name="Shape 8"/>
          <p:cNvSpPr/>
          <p:nvPr/>
        </p:nvSpPr>
        <p:spPr>
          <a:xfrm>
            <a:off x="6175375" y="1670645"/>
            <a:ext cx="2520950" cy="880070"/>
          </a:xfrm>
          <a:prstGeom prst="roundRect">
            <a:avLst>
              <a:gd name="adj" fmla="val 8298"/>
            </a:avLst>
          </a:prstGeom>
          <a:solidFill>
            <a:srgbClr val="FDFDFB"/>
          </a:solidFill>
          <a:ln w="6350">
            <a:solidFill>
              <a:srgbClr val="E2DFD6"/>
            </a:solidFill>
            <a:prstDash val="solid"/>
          </a:ln>
        </p:spPr>
        <p:txBody>
          <a:bodyPr/>
          <a:p/>
        </p:txBody>
      </p:sp>
      <p:sp>
        <p:nvSpPr>
          <p:cNvPr id="11" name="Text 9"/>
          <p:cNvSpPr/>
          <p:nvPr/>
        </p:nvSpPr>
        <p:spPr>
          <a:xfrm>
            <a:off x="6381750" y="1826220"/>
            <a:ext cx="217144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05A26"/>
                </a:solidFill>
                <a:latin typeface="Public Sans" pitchFamily="34" charset="0"/>
                <a:ea typeface="Public Sans" pitchFamily="34" charset="-122"/>
                <a:cs typeface="Public Sans" pitchFamily="34" charset="-120"/>
              </a:rPr>
              <a:t>23</a:t>
            </a:r>
            <a:endParaRPr lang="en-US" sz="2000" dirty="0"/>
          </a:p>
        </p:txBody>
      </p:sp>
      <p:sp>
        <p:nvSpPr>
          <p:cNvPr id="12" name="Text 10"/>
          <p:cNvSpPr/>
          <p:nvPr/>
        </p:nvSpPr>
        <p:spPr>
          <a:xfrm>
            <a:off x="6381750" y="2181820"/>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16B"/>
                </a:solidFill>
                <a:latin typeface="Public Sans" pitchFamily="34" charset="0"/>
                <a:ea typeface="Public Sans" pitchFamily="34" charset="-122"/>
                <a:cs typeface="Public Sans" pitchFamily="34" charset="-120"/>
              </a:rPr>
              <a:t>variables</a:t>
            </a:r>
            <a:endParaRPr lang="en-US" sz="1200" dirty="0"/>
          </a:p>
        </p:txBody>
      </p:sp>
      <p:sp>
        <p:nvSpPr>
          <p:cNvPr id="13" name="Shape 11"/>
          <p:cNvSpPr/>
          <p:nvPr/>
        </p:nvSpPr>
        <p:spPr>
          <a:xfrm>
            <a:off x="8855075" y="1670645"/>
            <a:ext cx="2520950" cy="880070"/>
          </a:xfrm>
          <a:prstGeom prst="roundRect">
            <a:avLst>
              <a:gd name="adj" fmla="val 8298"/>
            </a:avLst>
          </a:prstGeom>
          <a:solidFill>
            <a:srgbClr val="FDFDFB"/>
          </a:solidFill>
          <a:ln w="6350">
            <a:solidFill>
              <a:srgbClr val="E2DFD6"/>
            </a:solidFill>
            <a:prstDash val="solid"/>
          </a:ln>
        </p:spPr>
        <p:txBody>
          <a:bodyPr/>
          <a:p/>
        </p:txBody>
      </p:sp>
      <p:sp>
        <p:nvSpPr>
          <p:cNvPr id="14" name="Text 12"/>
          <p:cNvSpPr/>
          <p:nvPr/>
        </p:nvSpPr>
        <p:spPr>
          <a:xfrm>
            <a:off x="9061450" y="1826220"/>
            <a:ext cx="217144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05A26"/>
                </a:solidFill>
                <a:latin typeface="Public Sans" pitchFamily="34" charset="0"/>
                <a:ea typeface="Public Sans" pitchFamily="34" charset="-122"/>
                <a:cs typeface="Public Sans" pitchFamily="34" charset="-120"/>
              </a:rPr>
              <a:t>4.8%</a:t>
            </a:r>
            <a:endParaRPr lang="en-US" sz="2000" dirty="0"/>
          </a:p>
        </p:txBody>
      </p:sp>
      <p:sp>
        <p:nvSpPr>
          <p:cNvPr id="15" name="Text 13"/>
          <p:cNvSpPr/>
          <p:nvPr/>
        </p:nvSpPr>
        <p:spPr>
          <a:xfrm>
            <a:off x="9061450" y="2181820"/>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16B"/>
                </a:solidFill>
                <a:latin typeface="Public Sans" pitchFamily="34" charset="0"/>
                <a:ea typeface="Public Sans" pitchFamily="34" charset="-122"/>
                <a:cs typeface="Public Sans" pitchFamily="34" charset="-120"/>
              </a:rPr>
              <a:t>fatal accidents</a:t>
            </a:r>
            <a:endParaRPr lang="en-US" sz="1200" dirty="0"/>
          </a:p>
        </p:txBody>
      </p:sp>
      <p:sp>
        <p:nvSpPr>
          <p:cNvPr id="16" name="Text 14"/>
          <p:cNvSpPr/>
          <p:nvPr/>
        </p:nvSpPr>
        <p:spPr>
          <a:xfrm>
            <a:off x="910844" y="2757091"/>
            <a:ext cx="10777728" cy="1263650"/>
          </a:xfrm>
          <a:prstGeom prst="rect">
            <a:avLst/>
          </a:prstGeom>
          <a:noFill/>
          <a:ln/>
        </p:spPr>
        <p:txBody>
          <a:bodyPr wrap="square" lIns="0" tIns="0" rIns="0" bIns="0" rtlCol="0" anchor="t">
            <a:normAutofit/>
          </a:bodyPr>
          <a:lstStyle/>
          <a:p>
            <a:pPr algn="l" marL="155956" indent="-155956">
              <a:lnSpc>
                <a:spcPts val="1950"/>
              </a:lnSpc>
              <a:buSzPct val="100000"/>
              <a:buChar char="•"/>
            </a:pPr>
            <a:r>
              <a:rPr lang="en-US" sz="1300" b="1" dirty="0">
                <a:solidFill>
                  <a:srgbClr val="46516B"/>
                </a:solidFill>
                <a:latin typeface="Public Sans" pitchFamily="34" charset="0"/>
                <a:ea typeface="Public Sans" pitchFamily="34" charset="-122"/>
                <a:cs typeface="Public Sans" pitchFamily="34" charset="-120"/>
              </a:rPr>
              <a:t>Target: </a:t>
            </a:r>
            <a:r>
              <a:rPr lang="en-US" sz="1300" dirty="0" b="0">
                <a:solidFill>
                  <a:srgbClr val="46516B"/>
                </a:solidFill>
                <a:latin typeface="Public Sans" pitchFamily="34" charset="0"/>
                <a:ea typeface="Public Sans" pitchFamily="34" charset="-122"/>
                <a:cs typeface="Public Sans" pitchFamily="34" charset="-120"/>
              </a:rPr>
              <a:t>47.3% no injuries · 47.9% injuries · 4.8% fatalities — fatal is rare, so accuracy is useless</a:t>
            </a:r>
            <a:endParaRPr lang="en-US" sz="1300" dirty="0"/>
          </a:p>
          <a:p>
            <a:pPr algn="l" marL="155956" indent="-155956">
              <a:lnSpc>
                <a:spcPts val="1950"/>
              </a:lnSpc>
              <a:buSzPct val="100000"/>
              <a:buChar char="•"/>
            </a:pPr>
            <a:r>
              <a:rPr lang="en-US" sz="1300" b="1" dirty="0">
                <a:solidFill>
                  <a:srgbClr val="46516B"/>
                </a:solidFill>
                <a:latin typeface="Public Sans" pitchFamily="34" charset="0"/>
                <a:ea typeface="Public Sans" pitchFamily="34" charset="-122"/>
                <a:cs typeface="Public Sans" pitchFamily="34" charset="-120"/>
              </a:rPr>
              <a:t>Missing: </a:t>
            </a:r>
            <a:r>
              <a:rPr lang="en-US" sz="1300" dirty="0" b="0">
                <a:solidFill>
                  <a:srgbClr val="46516B"/>
                </a:solidFill>
                <a:latin typeface="Public Sans" pitchFamily="34" charset="0"/>
                <a:ea typeface="Public Sans" pitchFamily="34" charset="-122"/>
                <a:cs typeface="Public Sans" pitchFamily="34" charset="-120"/>
              </a:rPr>
              <a:t>latitude/longitude 71% missing (none 2007–2016, all from 2017: the “GPS cliff”); road_direction 90 rows; 1 corrupted row</a:t>
            </a:r>
            <a:endParaRPr lang="en-US" sz="1300" dirty="0"/>
          </a:p>
          <a:p>
            <a:pPr algn="l" marL="155956" indent="-155956">
              <a:lnSpc>
                <a:spcPts val="1950"/>
              </a:lnSpc>
              <a:buSzPct val="100000"/>
              <a:buChar char="•"/>
            </a:pPr>
            <a:r>
              <a:rPr lang="en-US" sz="1300" b="1" dirty="0">
                <a:solidFill>
                  <a:srgbClr val="46516B"/>
                </a:solidFill>
                <a:latin typeface="Public Sans" pitchFamily="34" charset="0"/>
                <a:ea typeface="Public Sans" pitchFamily="34" charset="-122"/>
                <a:cs typeface="Public Sans" pitchFamily="34" charset="-120"/>
              </a:rPr>
              <a:t>Unusual: </a:t>
            </a:r>
            <a:r>
              <a:rPr lang="en-US" sz="1300" dirty="0" b="0">
                <a:solidFill>
                  <a:srgbClr val="46516B"/>
                </a:solidFill>
                <a:latin typeface="Public Sans" pitchFamily="34" charset="0"/>
                <a:ea typeface="Public Sans" pitchFamily="34" charset="-122"/>
                <a:cs typeface="Public Sans" pitchFamily="34" charset="-120"/>
              </a:rPr>
              <a:t>6 accidents beyond 4,700 km (max 8,280), longer than any Brazilian highway; 3 coordinates outside Brazil; 49 exact duplicate rows</a:t>
            </a:r>
            <a:endParaRPr lang="en-US" sz="1300" dirty="0"/>
          </a:p>
          <a:p>
            <a:pPr algn="l" marL="155956" indent="-155956">
              <a:lnSpc>
                <a:spcPts val="1950"/>
              </a:lnSpc>
              <a:buSzPct val="100000"/>
              <a:buChar char="•"/>
            </a:pPr>
            <a:r>
              <a:rPr lang="en-US" sz="1300" b="1" dirty="0">
                <a:solidFill>
                  <a:srgbClr val="46516B"/>
                </a:solidFill>
                <a:latin typeface="Public Sans" pitchFamily="34" charset="0"/>
                <a:ea typeface="Public Sans" pitchFamily="34" charset="-122"/>
                <a:cs typeface="Public Sans" pitchFamily="34" charset="-120"/>
              </a:rPr>
              <a:t>Risk signals: </a:t>
            </a:r>
            <a:r>
              <a:rPr lang="en-US" sz="1300" dirty="0" b="0">
                <a:solidFill>
                  <a:srgbClr val="46516B"/>
                </a:solidFill>
                <a:latin typeface="Public Sans" pitchFamily="34" charset="0"/>
                <a:ea typeface="Public Sans" pitchFamily="34" charset="-122"/>
                <a:cs typeface="Public Sans" pitchFamily="34" charset="-120"/>
              </a:rPr>
              <a:t>rural 6.5% vs. urban 3.1% fatal · morning 8.5% · downhill 9.3% · bridge 10.8%</a:t>
            </a:r>
            <a:endParaRPr lang="en-US" sz="1300" dirty="0"/>
          </a:p>
          <a:p>
            <a:pPr algn="l" marL="155956" indent="-155956">
              <a:lnSpc>
                <a:spcPts val="1950"/>
              </a:lnSpc>
              <a:buSzPct val="100000"/>
              <a:buChar char="•"/>
            </a:pPr>
            <a:r>
              <a:rPr lang="en-US" sz="1300" b="1" dirty="0">
                <a:solidFill>
                  <a:srgbClr val="46516B"/>
                </a:solidFill>
                <a:latin typeface="Public Sans" pitchFamily="34" charset="0"/>
                <a:ea typeface="Public Sans" pitchFamily="34" charset="-122"/>
                <a:cs typeface="Public Sans" pitchFamily="34" charset="-120"/>
              </a:rPr>
              <a:t>Near-empty: </a:t>
            </a:r>
            <a:r>
              <a:rPr lang="en-US" sz="1300" dirty="0" b="0">
                <a:solidFill>
                  <a:srgbClr val="46516B"/>
                </a:solidFill>
                <a:latin typeface="Public Sans" pitchFamily="34" charset="0"/>
                <a:ea typeface="Public Sans" pitchFamily="34" charset="-122"/>
                <a:cs typeface="Public Sans" pitchFamily="34" charset="-120"/>
              </a:rPr>
              <a:t>Tunnel (22 accidents), Temporary_Detour (144), Bridge (379)</a:t>
            </a:r>
            <a:endParaRPr lang="en-US" sz="1300" dirty="0"/>
          </a:p>
        </p:txBody>
      </p:sp>
      <p:sp>
        <p:nvSpPr>
          <p:cNvPr id="17" name="Text 15"/>
          <p:cNvSpPr/>
          <p:nvPr/>
        </p:nvSpPr>
        <p:spPr>
          <a:xfrm>
            <a:off x="812800" y="6238280"/>
            <a:ext cx="40571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Road Safety Predictive Analytics — Group 6</a:t>
            </a:r>
            <a:endParaRPr lang="en-US" sz="1200" dirty="0"/>
          </a:p>
        </p:txBody>
      </p:sp>
      <p:sp>
        <p:nvSpPr>
          <p:cNvPr id="18" name="Text 16"/>
          <p:cNvSpPr/>
          <p:nvPr/>
        </p:nvSpPr>
        <p:spPr>
          <a:xfrm>
            <a:off x="11191776" y="6238280"/>
            <a:ext cx="2382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213B"/>
                </a:solidFill>
                <a:latin typeface="Public Sans" pitchFamily="34" charset="0"/>
                <a:ea typeface="Public Sans" pitchFamily="34" charset="-122"/>
                <a:cs typeface="Public Sans" pitchFamily="34" charset="-120"/>
              </a:rPr>
              <a:t>02 · DATA UNDERSTANDING</a:t>
            </a:r>
            <a:endParaRPr lang="en-US" sz="1200" dirty="0"/>
          </a:p>
        </p:txBody>
      </p:sp>
      <p:sp>
        <p:nvSpPr>
          <p:cNvPr id="3" name="Text 1"/>
          <p:cNvSpPr/>
          <p:nvPr>
            <p:ph type="title"/>
          </p:nvPr>
        </p:nvSpPr>
        <p:spPr>
          <a:xfrm>
            <a:off x="812800" y="1026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5213B"/>
                </a:solidFill>
                <a:latin typeface="Libre Baskerville" pitchFamily="18" charset="0"/>
                <a:ea typeface="Libre Baskerville" pitchFamily="18" charset="-122"/>
                <a:cs typeface="Libre Baskerville" pitchFamily="18" charset="-120"/>
              </a:rPr>
              <a:t>Reporting changed in 2015, not road safety</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80170"/>
          <a:ext cx="10553700" cy="1437283"/>
        </p:xfrm>
        <a:graphic>
          <a:graphicData uri="http://schemas.openxmlformats.org/drawingml/2006/table">
            <a:tbl>
              <a:tblPr/>
              <a:tblGrid>
                <a:gridCol w="1899666"/>
                <a:gridCol w="2110740"/>
                <a:gridCol w="1688592"/>
                <a:gridCol w="1688592"/>
                <a:gridCol w="1477518"/>
                <a:gridCol w="1688592"/>
              </a:tblGrid>
              <a:tr h="359321">
                <a:tc>
                  <a:txBody>
                    <a:bodyPr/>
                    <a:lstStyle/>
                    <a:p>
                      <a:pPr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Period</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Accidents / year</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No injuries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Injuries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Fatal</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GPS coords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r>
              <a:tr h="359321">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2007–2014</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~11,400</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61.0%</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35.2%</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3.8%</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None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2015–2016</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~7,500</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43.2%</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51.7%</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5.1%</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None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2017–2025</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~4,900</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20.2%</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72.9%</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6.8%</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All</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bl>
          </a:graphicData>
        </a:graphic>
      </p:graphicFrame>
      <p:sp>
        <p:nvSpPr>
          <p:cNvPr id="5" name="Text 2"/>
          <p:cNvSpPr/>
          <p:nvPr/>
        </p:nvSpPr>
        <p:spPr>
          <a:xfrm>
            <a:off x="812800" y="3320653"/>
            <a:ext cx="10566400" cy="853380"/>
          </a:xfrm>
          <a:prstGeom prst="roundRect">
            <a:avLst>
              <a:gd name="adj" fmla="val 8929"/>
            </a:avLst>
          </a:prstGeom>
          <a:solidFill>
            <a:srgbClr val="15213B"/>
          </a:solidFill>
          <a:ln/>
        </p:spPr>
        <p:txBody>
          <a:bodyPr wrap="square" lIns="206282" tIns="155482" rIns="0" bIns="130082" rtlCol="0" anchor="t">
            <a:normAutofit/>
          </a:bodyPr>
          <a:lstStyle/>
          <a:p>
            <a:pPr algn="l" indent="0" marL="0">
              <a:lnSpc>
                <a:spcPts val="1960"/>
              </a:lnSpc>
              <a:buNone/>
            </a:pPr>
            <a:r>
              <a:rPr lang="en-US" sz="1400" dirty="0">
                <a:solidFill>
                  <a:srgbClr val="F4F1E8"/>
                </a:solidFill>
                <a:latin typeface="Public Sans" pitchFamily="34" charset="0"/>
                <a:ea typeface="Public Sans" pitchFamily="34" charset="-122"/>
                <a:cs typeface="Public Sans" pitchFamily="34" charset="-120"/>
              </a:rPr>
              <a:t>Online self-reporting (e-DAT, 2015) moved minor crashes out of police logs: the logged fatal share rose from 3.8% to 7.0%, but among crashes with victims it stayed around 9%. We split by time, re-calibrate on recent years, and never use year as a feature.</a:t>
            </a:r>
            <a:endParaRPr lang="en-US" sz="1400" dirty="0"/>
          </a:p>
        </p:txBody>
      </p:sp>
      <p:sp>
        <p:nvSpPr>
          <p:cNvPr id="6" name="Text 3"/>
          <p:cNvSpPr/>
          <p:nvPr/>
        </p:nvSpPr>
        <p:spPr>
          <a:xfrm>
            <a:off x="812800" y="6238280"/>
            <a:ext cx="40571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Road Safety Predictive Analytics — Group 6</a:t>
            </a:r>
            <a:endParaRPr lang="en-US" sz="1200" dirty="0"/>
          </a:p>
        </p:txBody>
      </p:sp>
      <p:sp>
        <p:nvSpPr>
          <p:cNvPr id="7" name="Text 4"/>
          <p:cNvSpPr/>
          <p:nvPr/>
        </p:nvSpPr>
        <p:spPr>
          <a:xfrm>
            <a:off x="11223923" y="6238280"/>
            <a:ext cx="2060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213B"/>
                </a:solidFill>
                <a:latin typeface="Public Sans" pitchFamily="34" charset="0"/>
                <a:ea typeface="Public Sans" pitchFamily="34" charset="-122"/>
                <a:cs typeface="Public Sans" pitchFamily="34" charset="-120"/>
              </a:rPr>
              <a:t>02 · DATA UNDERSTANDING</a:t>
            </a:r>
            <a:endParaRPr lang="en-US" sz="1200" dirty="0"/>
          </a:p>
        </p:txBody>
      </p:sp>
      <p:sp>
        <p:nvSpPr>
          <p:cNvPr id="3" name="Text 1"/>
          <p:cNvSpPr/>
          <p:nvPr>
            <p:ph type="title"/>
          </p:nvPr>
        </p:nvSpPr>
        <p:spPr>
          <a:xfrm>
            <a:off x="812800" y="1026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5213B"/>
                </a:solidFill>
                <a:latin typeface="Libre Baskerville" pitchFamily="18" charset="0"/>
                <a:ea typeface="Libre Baskerville" pitchFamily="18" charset="-122"/>
                <a:cs typeface="Libre Baskerville" pitchFamily="18" charset="-120"/>
              </a:rPr>
              <a:t>Leakage check — the one test</a:t>
            </a:r>
            <a:endParaRPr lang="en-US" sz="3000" dirty="0"/>
          </a:p>
        </p:txBody>
      </p:sp>
      <p:sp>
        <p:nvSpPr>
          <p:cNvPr id="4" name="Text 2"/>
          <p:cNvSpPr/>
          <p:nvPr/>
        </p:nvSpPr>
        <p:spPr>
          <a:xfrm>
            <a:off x="812800" y="1642070"/>
            <a:ext cx="10566400" cy="640060"/>
          </a:xfrm>
          <a:prstGeom prst="roundRect">
            <a:avLst>
              <a:gd name="adj" fmla="val 11905"/>
            </a:avLst>
          </a:prstGeom>
          <a:solidFill>
            <a:srgbClr val="15213B"/>
          </a:solidFill>
          <a:ln/>
        </p:spPr>
        <p:txBody>
          <a:bodyPr wrap="square" lIns="231682" tIns="155482" rIns="0" bIns="130082" rtlCol="0" anchor="t">
            <a:normAutofit/>
          </a:bodyPr>
          <a:lstStyle/>
          <a:p>
            <a:pPr algn="l" indent="0" marL="0">
              <a:lnSpc>
                <a:spcPts val="2240"/>
              </a:lnSpc>
              <a:buNone/>
            </a:pPr>
            <a:r>
              <a:rPr lang="en-US" sz="1600" b="1" dirty="0">
                <a:solidFill>
                  <a:srgbClr val="F4F1E8"/>
                </a:solidFill>
                <a:latin typeface="Public Sans" pitchFamily="34" charset="0"/>
                <a:ea typeface="Public Sans" pitchFamily="34" charset="-122"/>
                <a:cs typeface="Public Sans" pitchFamily="34" charset="-120"/>
              </a:rPr>
              <a:t>Would I know this value on the date the score is used?</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472630"/>
          <a:ext cx="10553700" cy="2090043"/>
        </p:xfrm>
        <a:graphic>
          <a:graphicData uri="http://schemas.openxmlformats.org/drawingml/2006/table">
            <a:tbl>
              <a:tblPr/>
              <a:tblGrid>
                <a:gridCol w="3166110"/>
                <a:gridCol w="2955036"/>
                <a:gridCol w="4432554"/>
              </a:tblGrid>
              <a:tr h="332680">
                <a:tc>
                  <a:txBody>
                    <a:bodyPr/>
                    <a:lstStyle/>
                    <a:p>
                      <a:pPr indent="0" marL="0">
                        <a:lnSpc>
                          <a:spcPts val="1680"/>
                        </a:lnSpc>
                        <a:buNone/>
                      </a:pPr>
                      <a:r>
                        <a:rPr lang="en-US" sz="1200" b="1" dirty="0">
                          <a:solidFill>
                            <a:srgbClr val="15213B"/>
                          </a:solidFill>
                          <a:latin typeface="Public Sans" pitchFamily="34" charset="0"/>
                          <a:ea typeface="Public Sans" pitchFamily="34" charset="-122"/>
                          <a:cs typeface="Public Sans" pitchFamily="34" charset="-120"/>
                        </a:rPr>
                        <a:t>Candidate feature</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680"/>
                        </a:lnSpc>
                        <a:buNone/>
                      </a:pPr>
                      <a:r>
                        <a:rPr lang="en-US" sz="1200" b="1" dirty="0">
                          <a:solidFill>
                            <a:srgbClr val="15213B"/>
                          </a:solidFill>
                          <a:latin typeface="Public Sans" pitchFamily="34" charset="0"/>
                          <a:ea typeface="Public Sans" pitchFamily="34" charset="-122"/>
                          <a:cs typeface="Public Sans" pitchFamily="34" charset="-120"/>
                        </a:rPr>
                        <a:t>Known at prediction time?</a:t>
                      </a:r>
                      <a:endParaRPr lang="en-US" sz="1200" dirty="0">
                        <a:latin typeface="Public Sans" charset="0"/>
                        <a:ea typeface="Public Sans" charset="0"/>
                        <a:cs typeface="Public Sans" charset="0"/>
                      </a:endParaRPr>
                    </a:p>
                  </a:txBody>
                  <a:tcPr marL="53340" marR="53340" marT="53340" marB="53340"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680"/>
                        </a:lnSpc>
                        <a:buNone/>
                      </a:pPr>
                      <a:r>
                        <a:rPr lang="en-US" sz="1200" b="1" dirty="0">
                          <a:solidFill>
                            <a:srgbClr val="15213B"/>
                          </a:solidFill>
                          <a:latin typeface="Public Sans" pitchFamily="34" charset="0"/>
                          <a:ea typeface="Public Sans" pitchFamily="34" charset="-122"/>
                          <a:cs typeface="Public Sans" pitchFamily="34" charset="-120"/>
                        </a:rPr>
                        <a:t>Verdict</a:t>
                      </a:r>
                      <a:endParaRPr lang="en-US" sz="1200" dirty="0">
                        <a:latin typeface="Public Sans" charset="0"/>
                        <a:ea typeface="Public Sans" charset="0"/>
                        <a:cs typeface="Public Sans" charset="0"/>
                      </a:endParaRPr>
                    </a:p>
                  </a:txBody>
                  <a:tcPr marL="53340" marR="53340" marT="53340" marB="53340"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r>
              <a:tr h="546001">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Road &amp; infrastructure flags, km, highway type, area, time of day</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Yes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Keep</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546001">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Latitude / longitude</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Yes, but only from 2017</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Drop — its missingness is a calendar flag that leaks the period</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32680">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Date / year</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Yes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Split only, never a feature — year encodes the recording regime; day of week &amp; month kept</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32680">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Post-accident details (victims, vehicles)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No</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Not in this dataset — no direct target leakage found</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bl>
          </a:graphicData>
        </a:graphic>
      </p:graphicFrame>
      <p:sp>
        <p:nvSpPr>
          <p:cNvPr id="6" name="Text 3"/>
          <p:cNvSpPr/>
          <p:nvPr/>
        </p:nvSpPr>
        <p:spPr>
          <a:xfrm>
            <a:off x="812800" y="6238280"/>
            <a:ext cx="40571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Road Safety Predictive Analytics — Group 6</a:t>
            </a:r>
            <a:endParaRPr lang="en-US" sz="1200" dirty="0"/>
          </a:p>
        </p:txBody>
      </p:sp>
      <p:sp>
        <p:nvSpPr>
          <p:cNvPr id="7" name="Text 4"/>
          <p:cNvSpPr/>
          <p:nvPr/>
        </p:nvSpPr>
        <p:spPr>
          <a:xfrm>
            <a:off x="11255177" y="6238280"/>
            <a:ext cx="1748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15213B"/>
        </a:solidFill>
      </p:bgPr>
    </p:bg>
    <p:spTree>
      <p:nvGrpSpPr>
        <p:cNvPr id="1" name=""/>
        <p:cNvGrpSpPr/>
        <p:nvPr/>
      </p:nvGrpSpPr>
      <p:grpSpPr>
        <a:xfrm>
          <a:off x="0" y="0"/>
          <a:ext cx="0" cy="0"/>
          <a:chOff x="0" y="0"/>
          <a:chExt cx="0" cy="0"/>
        </a:xfrm>
      </p:grpSpPr>
      <p:sp>
        <p:nvSpPr>
          <p:cNvPr id="2" name="Text 0"/>
          <p:cNvSpPr/>
          <p:nvPr/>
        </p:nvSpPr>
        <p:spPr>
          <a:xfrm>
            <a:off x="812800" y="267335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7CCDD"/>
                </a:solidFill>
                <a:latin typeface="Public Sans" pitchFamily="34" charset="0"/>
                <a:ea typeface="Public Sans" pitchFamily="34" charset="-122"/>
                <a:cs typeface="Public Sans" pitchFamily="34" charset="-120"/>
              </a:rPr>
              <a:t>03</a:t>
            </a:r>
            <a:endParaRPr lang="en-US" sz="2000" dirty="0"/>
          </a:p>
        </p:txBody>
      </p:sp>
      <p:sp>
        <p:nvSpPr>
          <p:cNvPr id="3" name="Text 1"/>
          <p:cNvSpPr/>
          <p:nvPr>
            <p:ph type="title"/>
          </p:nvPr>
        </p:nvSpPr>
        <p:spPr>
          <a:xfrm>
            <a:off x="812800" y="3181350"/>
            <a:ext cx="10883392" cy="609600"/>
          </a:xfrm>
          <a:prstGeom prst="rect">
            <a:avLst/>
          </a:prstGeom>
          <a:noFill/>
          <a:ln/>
        </p:spPr>
        <p:txBody>
          <a:bodyPr wrap="square" lIns="0" tIns="0" rIns="0" bIns="0" rtlCol="0" anchor="t">
            <a:normAutofit/>
          </a:bodyPr>
          <a:lstStyle/>
          <a:p>
            <a:pPr algn="l" indent="0" marL="0">
              <a:lnSpc>
                <a:spcPts val="4600"/>
              </a:lnSpc>
              <a:buNone/>
            </a:pPr>
            <a:r>
              <a:rPr lang="en-US" sz="4000" b="1" i="0" dirty="0">
                <a:solidFill>
                  <a:srgbClr val="F4F1E8"/>
                </a:solidFill>
                <a:latin typeface="Libre Baskerville" pitchFamily="18" charset="0"/>
                <a:ea typeface="Libre Baskerville" pitchFamily="18" charset="-122"/>
                <a:cs typeface="Libre Baskerville" pitchFamily="18" charset="-120"/>
              </a:rPr>
              <a:t>Data preparation</a:t>
            </a:r>
            <a:endParaRPr lang="en-US" sz="4000" dirty="0"/>
          </a:p>
        </p:txBody>
      </p:sp>
      <p:sp>
        <p:nvSpPr>
          <p:cNvPr id="4" name="Text 2"/>
          <p:cNvSpPr/>
          <p:nvPr/>
        </p:nvSpPr>
        <p:spPr>
          <a:xfrm>
            <a:off x="812800" y="3917950"/>
            <a:ext cx="850265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7CCDD"/>
                </a:solidFill>
                <a:latin typeface="Public Sans" pitchFamily="34" charset="0"/>
                <a:ea typeface="Public Sans" pitchFamily="34" charset="-122"/>
                <a:cs typeface="Public Sans" pitchFamily="34" charset="-120"/>
              </a:rPr>
              <a:t>Task 2, continued. Turn raw rows into a trainable, leakage-free table.</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213B"/>
                </a:solidFill>
                <a:latin typeface="Public Sans" pitchFamily="34" charset="0"/>
                <a:ea typeface="Public Sans" pitchFamily="34" charset="-122"/>
                <a:cs typeface="Public Sans" pitchFamily="34" charset="-120"/>
              </a:rPr>
              <a:t>03 · DATA PREPARATION</a:t>
            </a:r>
            <a:endParaRPr lang="en-US" sz="1200" dirty="0"/>
          </a:p>
        </p:txBody>
      </p:sp>
      <p:sp>
        <p:nvSpPr>
          <p:cNvPr id="3" name="Text 1"/>
          <p:cNvSpPr/>
          <p:nvPr>
            <p:ph type="title"/>
          </p:nvPr>
        </p:nvSpPr>
        <p:spPr>
          <a:xfrm>
            <a:off x="812800" y="1026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5213B"/>
                </a:solidFill>
                <a:latin typeface="Libre Baskerville" pitchFamily="18" charset="0"/>
                <a:ea typeface="Libre Baskerville" pitchFamily="18" charset="-122"/>
                <a:cs typeface="Libre Baskerville" pitchFamily="18" charset="-120"/>
              </a:rPr>
              <a:t>What we did: leakage-free by design</a:t>
            </a:r>
            <a:endParaRPr lang="en-US" sz="3000" dirty="0"/>
          </a:p>
        </p:txBody>
      </p:sp>
      <p:sp>
        <p:nvSpPr>
          <p:cNvPr id="4" name="Text 2"/>
          <p:cNvSpPr/>
          <p:nvPr/>
        </p:nvSpPr>
        <p:spPr>
          <a:xfrm>
            <a:off x="910844" y="1642070"/>
            <a:ext cx="10777728" cy="2006600"/>
          </a:xfrm>
          <a:prstGeom prst="rect">
            <a:avLst/>
          </a:prstGeom>
          <a:noFill/>
          <a:ln/>
        </p:spPr>
        <p:txBody>
          <a:bodyPr wrap="square" lIns="0" tIns="0" rIns="0" bIns="0" rtlCol="0" anchor="t">
            <a:normAutofit/>
          </a:bodyPr>
          <a:lstStyle/>
          <a:p>
            <a:pPr algn="l" marL="155956" indent="-155956">
              <a:lnSpc>
                <a:spcPts val="1950"/>
              </a:lnSpc>
              <a:buSzPct val="100000"/>
              <a:buChar char="•"/>
            </a:pPr>
            <a:r>
              <a:rPr lang="en-US" sz="1300" dirty="0" b="1">
                <a:solidFill>
                  <a:srgbClr val="46516B"/>
                </a:solidFill>
                <a:latin typeface="Public Sans" pitchFamily="34" charset="0"/>
                <a:ea typeface="Public Sans" pitchFamily="34" charset="-122"/>
                <a:cs typeface="Public Sans" pitchFamily="34" charset="-120"/>
              </a:rPr>
              <a:t>Cleaned: </a:t>
            </a:r>
            <a:r>
              <a:rPr lang="en-US" sz="1300" dirty="0" b="0">
                <a:solidFill>
                  <a:srgbClr val="46516B"/>
                </a:solidFill>
                <a:latin typeface="Public Sans" pitchFamily="34" charset="0"/>
                <a:ea typeface="Public Sans" pitchFamily="34" charset="-122"/>
                <a:cs typeface="Public Sans" pitchFamily="34" charset="-120"/>
              </a:rPr>
              <a:t>dropped corrupted row 57163; excluded latitude/longitude (GPS cliff) and date/year (reporting drift)</a:t>
            </a:r>
            <a:endParaRPr lang="en-US" sz="1300" dirty="0"/>
          </a:p>
          <a:p>
            <a:pPr algn="l" marL="155956" indent="-155956">
              <a:lnSpc>
                <a:spcPts val="1950"/>
              </a:lnSpc>
              <a:buSzPct val="100000"/>
              <a:buChar char="•"/>
            </a:pPr>
            <a:r>
              <a:rPr lang="en-US" sz="1300" dirty="0" b="1">
                <a:solidFill>
                  <a:srgbClr val="46516B"/>
                </a:solidFill>
                <a:latin typeface="Public Sans" pitchFamily="34" charset="0"/>
                <a:ea typeface="Public Sans" pitchFamily="34" charset="-122"/>
                <a:cs typeface="Public Sans" pitchFamily="34" charset="-120"/>
              </a:rPr>
              <a:t>Split by time, </a:t>
            </a:r>
            <a:r>
              <a:rPr lang="en-US" sz="1300" dirty="0" b="0">
                <a:solidFill>
                  <a:srgbClr val="46516B"/>
                </a:solidFill>
                <a:latin typeface="Public Sans" pitchFamily="34" charset="0"/>
                <a:ea typeface="Public Sans" pitchFamily="34" charset="-122"/>
                <a:cs typeface="Public Sans" pitchFamily="34" charset="-120"/>
              </a:rPr>
              <a:t>not randomly: train 2007–2021 · validate 2022–2023 · test 2024–2025</a:t>
            </a:r>
            <a:endParaRPr lang="en-US" sz="1300" dirty="0"/>
          </a:p>
          <a:p>
            <a:pPr algn="l" marL="155956" indent="-155956">
              <a:lnSpc>
                <a:spcPts val="1950"/>
              </a:lnSpc>
              <a:buSzPct val="100000"/>
              <a:buChar char="•"/>
            </a:pPr>
            <a:r>
              <a:rPr lang="en-US" sz="1300" dirty="0" b="1">
                <a:solidFill>
                  <a:srgbClr val="46516B"/>
                </a:solidFill>
                <a:latin typeface="Public Sans" pitchFamily="34" charset="0"/>
                <a:ea typeface="Public Sans" pitchFamily="34" charset="-122"/>
                <a:cs typeface="Public Sans" pitchFamily="34" charset="-120"/>
              </a:rPr>
              <a:t>Fitted on train only: </a:t>
            </a:r>
            <a:r>
              <a:rPr lang="en-US" sz="1300" dirty="0" b="0">
                <a:solidFill>
                  <a:srgbClr val="46516B"/>
                </a:solidFill>
                <a:latin typeface="Public Sans" pitchFamily="34" charset="0"/>
                <a:ea typeface="Public Sans" pitchFamily="34" charset="-122"/>
                <a:cs typeface="Public Sans" pitchFamily="34" charset="-120"/>
              </a:rPr>
              <a:t>imputation, km cap, segment risk, encoders and scalers — no information from the future</a:t>
            </a:r>
            <a:endParaRPr lang="en-US" sz="1300" dirty="0"/>
          </a:p>
          <a:p>
            <a:pPr algn="l" marL="155956" indent="-155956">
              <a:lnSpc>
                <a:spcPts val="1950"/>
              </a:lnSpc>
              <a:buSzPct val="100000"/>
              <a:buChar char="•"/>
            </a:pPr>
            <a:r>
              <a:rPr lang="en-US" sz="1300" dirty="0" b="1">
                <a:solidFill>
                  <a:srgbClr val="46516B"/>
                </a:solidFill>
                <a:latin typeface="Public Sans" pitchFamily="34" charset="0"/>
                <a:ea typeface="Public Sans" pitchFamily="34" charset="-122"/>
                <a:cs typeface="Public Sans" pitchFamily="34" charset="-120"/>
              </a:rPr>
              <a:t>road_direction: </a:t>
            </a:r>
            <a:r>
              <a:rPr lang="en-US" sz="1300" dirty="0" b="0">
                <a:solidFill>
                  <a:srgbClr val="46516B"/>
                </a:solidFill>
                <a:latin typeface="Public Sans" pitchFamily="34" charset="0"/>
                <a:ea typeface="Public Sans" pitchFamily="34" charset="-122"/>
                <a:cs typeface="Public Sans" pitchFamily="34" charset="-120"/>
              </a:rPr>
              <a:t>90 missing (0.06%) filled with the train mode</a:t>
            </a:r>
            <a:endParaRPr lang="en-US" sz="1300" dirty="0"/>
          </a:p>
          <a:p>
            <a:pPr algn="l" marL="155956" indent="-155956">
              <a:lnSpc>
                <a:spcPts val="1950"/>
              </a:lnSpc>
              <a:buSzPct val="100000"/>
              <a:buChar char="•"/>
            </a:pPr>
            <a:r>
              <a:rPr lang="en-US" sz="1300" dirty="0" b="1">
                <a:solidFill>
                  <a:srgbClr val="46516B"/>
                </a:solidFill>
                <a:latin typeface="Public Sans" pitchFamily="34" charset="0"/>
                <a:ea typeface="Public Sans" pitchFamily="34" charset="-122"/>
                <a:cs typeface="Public Sans" pitchFamily="34" charset="-120"/>
              </a:rPr>
              <a:t>km: </a:t>
            </a:r>
            <a:r>
              <a:rPr lang="en-US" sz="1300" dirty="0" b="0">
                <a:solidFill>
                  <a:srgbClr val="46516B"/>
                </a:solidFill>
                <a:latin typeface="Public Sans" pitchFamily="34" charset="0"/>
                <a:ea typeface="Public Sans" pitchFamily="34" charset="-122"/>
                <a:cs typeface="Public Sans" pitchFamily="34" charset="-120"/>
              </a:rPr>
              <a:t>6 impossible values (&gt; 4,700 km) capped; all plausible values untouched</a:t>
            </a:r>
            <a:endParaRPr lang="en-US" sz="1300" dirty="0"/>
          </a:p>
          <a:p>
            <a:pPr algn="l" marL="155956" indent="-155956">
              <a:lnSpc>
                <a:spcPts val="1950"/>
              </a:lnSpc>
              <a:buSzPct val="100000"/>
              <a:buChar char="•"/>
            </a:pPr>
            <a:r>
              <a:rPr lang="en-US" sz="1300" dirty="0" b="1">
                <a:solidFill>
                  <a:srgbClr val="46516B"/>
                </a:solidFill>
                <a:latin typeface="Public Sans" pitchFamily="34" charset="0"/>
                <a:ea typeface="Public Sans" pitchFamily="34" charset="-122"/>
                <a:cs typeface="Public Sans" pitchFamily="34" charset="-120"/>
              </a:rPr>
              <a:t>Calendar features: </a:t>
            </a:r>
            <a:r>
              <a:rPr lang="en-US" sz="1300" dirty="0" b="0">
                <a:solidFill>
                  <a:srgbClr val="46516B"/>
                </a:solidFill>
                <a:latin typeface="Public Sans" pitchFamily="34" charset="0"/>
                <a:ea typeface="Public Sans" pitchFamily="34" charset="-122"/>
                <a:cs typeface="Public Sans" pitchFamily="34" charset="-120"/>
              </a:rPr>
              <a:t>day of week, weekend flag, cyclical month — Sunday crashes 6.6% fatal vs. ~4.1% on weekdays</a:t>
            </a:r>
            <a:endParaRPr lang="en-US" sz="1300" dirty="0"/>
          </a:p>
          <a:p>
            <a:pPr algn="l" marL="155956" indent="-155956">
              <a:lnSpc>
                <a:spcPts val="1950"/>
              </a:lnSpc>
              <a:buSzPct val="100000"/>
              <a:buChar char="•"/>
            </a:pPr>
            <a:r>
              <a:rPr lang="en-US" sz="1300" dirty="0" b="1">
                <a:solidFill>
                  <a:srgbClr val="46516B"/>
                </a:solidFill>
                <a:latin typeface="Public Sans" pitchFamily="34" charset="0"/>
                <a:ea typeface="Public Sans" pitchFamily="34" charset="-122"/>
                <a:cs typeface="Public Sans" pitchFamily="34" charset="-120"/>
              </a:rPr>
              <a:t>Historical segment risk: </a:t>
            </a:r>
            <a:r>
              <a:rPr lang="en-US" sz="1300" dirty="0" b="0">
                <a:solidFill>
                  <a:srgbClr val="46516B"/>
                </a:solidFill>
                <a:latin typeface="Public Sans" pitchFamily="34" charset="0"/>
                <a:ea typeface="Public Sans" pitchFamily="34" charset="-122"/>
                <a:cs typeface="Public Sans" pitchFamily="34" charset="-120"/>
              </a:rPr>
              <a:t>past fatality rate of highway type × 50-km band × area (out-of-fold, smoothed)</a:t>
            </a:r>
            <a:endParaRPr lang="en-US" sz="1300" dirty="0"/>
          </a:p>
          <a:p>
            <a:pPr algn="l" marL="155956" indent="-155956">
              <a:lnSpc>
                <a:spcPts val="1950"/>
              </a:lnSpc>
              <a:buSzPct val="100000"/>
              <a:buChar char="•"/>
            </a:pPr>
            <a:r>
              <a:rPr lang="en-US" sz="1300" dirty="0" b="1">
                <a:solidFill>
                  <a:srgbClr val="46516B"/>
                </a:solidFill>
                <a:latin typeface="Public Sans" pitchFamily="34" charset="0"/>
                <a:ea typeface="Public Sans" pitchFamily="34" charset="-122"/>
                <a:cs typeface="Public Sans" pitchFamily="34" charset="-120"/>
              </a:rPr>
              <a:t>Encoding: </a:t>
            </a:r>
            <a:r>
              <a:rPr lang="en-US" sz="1300" dirty="0" b="0">
                <a:solidFill>
                  <a:srgbClr val="46516B"/>
                </a:solidFill>
                <a:latin typeface="Public Sans" pitchFamily="34" charset="0"/>
                <a:ea typeface="Public Sans" pitchFamily="34" charset="-122"/>
                <a:cs typeface="Public Sans" pitchFamily="34" charset="-120"/>
              </a:rPr>
              <a:t>coded categories one-hot encoded, numeric features scaled; rare fatal class handled with class weights</a:t>
            </a:r>
            <a:endParaRPr lang="en-US" sz="1300" dirty="0"/>
          </a:p>
        </p:txBody>
      </p:sp>
      <p:sp>
        <p:nvSpPr>
          <p:cNvPr id="5" name="Text 3"/>
          <p:cNvSpPr/>
          <p:nvPr/>
        </p:nvSpPr>
        <p:spPr>
          <a:xfrm>
            <a:off x="812800" y="6238280"/>
            <a:ext cx="40571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Road Safety Predictive Analytics — Group 6</a:t>
            </a:r>
            <a:endParaRPr lang="en-US" sz="1200" dirty="0"/>
          </a:p>
        </p:txBody>
      </p:sp>
      <p:sp>
        <p:nvSpPr>
          <p:cNvPr id="6" name="Text 4"/>
          <p:cNvSpPr/>
          <p:nvPr/>
        </p:nvSpPr>
        <p:spPr>
          <a:xfrm>
            <a:off x="11221145" y="6238280"/>
            <a:ext cx="2088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6">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213B"/>
                </a:solidFill>
                <a:latin typeface="Public Sans" pitchFamily="34" charset="0"/>
                <a:ea typeface="Public Sans" pitchFamily="34" charset="-122"/>
                <a:cs typeface="Public Sans" pitchFamily="34" charset="-120"/>
              </a:rPr>
              <a:t>03 · DATA PREPARATION</a:t>
            </a:r>
            <a:endParaRPr lang="en-US" sz="1200" dirty="0"/>
          </a:p>
        </p:txBody>
      </p:sp>
      <p:sp>
        <p:nvSpPr>
          <p:cNvPr id="3" name="Text 1"/>
          <p:cNvSpPr/>
          <p:nvPr>
            <p:ph type="title"/>
          </p:nvPr>
        </p:nvSpPr>
        <p:spPr>
          <a:xfrm>
            <a:off x="812800" y="1026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5213B"/>
                </a:solidFill>
                <a:latin typeface="Libre Baskerville" pitchFamily="18" charset="0"/>
                <a:ea typeface="Libre Baskerville" pitchFamily="18" charset="-122"/>
                <a:cs typeface="Libre Baskerville" pitchFamily="18" charset="-120"/>
              </a:rPr>
              <a:t>New features earn their place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05570"/>
          <a:ext cx="10553700" cy="1970683"/>
        </p:xfrm>
        <a:graphic>
          <a:graphicData uri="http://schemas.openxmlformats.org/drawingml/2006/table">
            <a:tbl>
              <a:tblPr/>
              <a:tblGrid>
                <a:gridCol w="2321814"/>
                <a:gridCol w="3166110"/>
                <a:gridCol w="1899666"/>
                <a:gridCol w="3166110"/>
              </a:tblGrid>
              <a:tr h="332680">
                <a:tc>
                  <a:txBody>
                    <a:bodyPr/>
                    <a:lstStyle/>
                    <a:p>
                      <a:pPr indent="0" marL="0">
                        <a:lnSpc>
                          <a:spcPts val="1680"/>
                        </a:lnSpc>
                        <a:buNone/>
                      </a:pPr>
                      <a:r>
                        <a:rPr lang="en-US" sz="1200" b="1" dirty="0">
                          <a:solidFill>
                            <a:srgbClr val="15213B"/>
                          </a:solidFill>
                          <a:latin typeface="Public Sans" pitchFamily="34" charset="0"/>
                          <a:ea typeface="Public Sans" pitchFamily="34" charset="-122"/>
                          <a:cs typeface="Public Sans" pitchFamily="34" charset="-120"/>
                        </a:rPr>
                        <a:t>Feature set (balanced logistic regression)</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680"/>
                        </a:lnSpc>
                        <a:buNone/>
                      </a:pPr>
                      <a:r>
                        <a:rPr lang="en-US" sz="1200" b="1" dirty="0">
                          <a:solidFill>
                            <a:srgbClr val="15213B"/>
                          </a:solidFill>
                          <a:latin typeface="Public Sans" pitchFamily="34" charset="0"/>
                          <a:ea typeface="Public Sans" pitchFamily="34" charset="-122"/>
                          <a:cs typeface="Public Sans" pitchFamily="34" charset="-120"/>
                        </a:rPr>
                        <a:t>Validation PR-AUC</a:t>
                      </a:r>
                      <a:endParaRPr lang="en-US" sz="1200" dirty="0">
                        <a:latin typeface="Public Sans" charset="0"/>
                        <a:ea typeface="Public Sans" charset="0"/>
                        <a:cs typeface="Public Sans" charset="0"/>
                      </a:endParaRPr>
                    </a:p>
                  </a:txBody>
                  <a:tcPr marL="53340" marR="53340" marT="53340" marB="53340"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680"/>
                        </a:lnSpc>
                        <a:buNone/>
                      </a:pPr>
                      <a:r>
                        <a:rPr lang="en-US" sz="1200" b="1" dirty="0">
                          <a:solidFill>
                            <a:srgbClr val="15213B"/>
                          </a:solidFill>
                          <a:latin typeface="Public Sans" pitchFamily="34" charset="0"/>
                          <a:ea typeface="Public Sans" pitchFamily="34" charset="-122"/>
                          <a:cs typeface="Public Sans" pitchFamily="34" charset="-120"/>
                        </a:rPr>
                        <a:t>Validation ROC-AUC</a:t>
                      </a:r>
                      <a:endParaRPr lang="en-US" sz="1200" dirty="0">
                        <a:latin typeface="Public Sans" charset="0"/>
                        <a:ea typeface="Public Sans" charset="0"/>
                        <a:cs typeface="Public Sans" charset="0"/>
                      </a:endParaRPr>
                    </a:p>
                  </a:txBody>
                  <a:tcPr marL="53340" marR="53340" marT="53340" marB="53340"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680"/>
                        </a:lnSpc>
                        <a:buNone/>
                      </a:pPr>
                      <a:r>
                        <a:rPr lang="en-US" sz="1200" b="1" dirty="0">
                          <a:solidFill>
                            <a:srgbClr val="15213B"/>
                          </a:solidFill>
                          <a:latin typeface="Public Sans" pitchFamily="34" charset="0"/>
                          <a:ea typeface="Public Sans" pitchFamily="34" charset="-122"/>
                          <a:cs typeface="Public Sans" pitchFamily="34" charset="-120"/>
                        </a:rPr>
                        <a:t>Decision</a:t>
                      </a:r>
                      <a:endParaRPr lang="en-US" sz="1200" dirty="0">
                        <a:latin typeface="Public Sans" charset="0"/>
                        <a:ea typeface="Public Sans" charset="0"/>
                        <a:cs typeface="Public Sans" charset="0"/>
                      </a:endParaRPr>
                    </a:p>
                  </a:txBody>
                  <a:tcPr marL="53340" marR="53340" marT="53340" marB="53340"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r>
              <a:tr h="546001">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Baseline features (19)</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0.1234</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0.6705</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Reference</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546001">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 day of week, weekend flag</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0.1264</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0.6711</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Keep</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546001">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 historical segment risk</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0.1264</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0.6751</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Keep</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546001">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All engineered features (24)</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0.1273</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0.6739</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Used for the Task 3 models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bl>
          </a:graphicData>
        </a:graphic>
      </p:graphicFrame>
      <p:sp>
        <p:nvSpPr>
          <p:cNvPr id="5" name="Text 2"/>
          <p:cNvSpPr/>
          <p:nvPr/>
        </p:nvSpPr>
        <p:spPr>
          <a:xfrm>
            <a:off x="812800" y="4572000"/>
            <a:ext cx="10566400" cy="777240"/>
          </a:xfrm>
          <a:prstGeom prst="roundRect">
            <a:avLst>
              <a:gd name="adj" fmla="val 14218"/>
            </a:avLst>
          </a:prstGeom>
          <a:solidFill>
            <a:srgbClr val="15213B"/>
          </a:solidFill>
          <a:ln/>
        </p:spPr>
        <p:txBody>
          <a:bodyPr wrap="square" lIns="206282" tIns="130082" rIns="0" bIns="104682" rtlCol="0" anchor="t">
            <a:normAutofit/>
          </a:bodyPr>
          <a:lstStyle/>
          <a:p>
            <a:pPr algn="l" indent="0" marL="0">
              <a:lnSpc>
                <a:spcPts val="1820"/>
              </a:lnSpc>
              <a:buNone/>
            </a:pPr>
            <a:r>
              <a:rPr lang="en-US" sz="1300" dirty="0">
                <a:solidFill>
                  <a:srgbClr val="F4F1E8"/>
                </a:solidFill>
                <a:latin typeface="Public Sans" pitchFamily="34" charset="0"/>
                <a:ea typeface="Public Sans" pitchFamily="34" charset="-122"/>
                <a:cs typeface="Public Sans" pitchFamily="34" charset="-120"/>
              </a:rPr>
              <a:t>Scored on validation 2022–2023 only; the test set stays untouched. Cyclical month and grouped rare flags added nothing for a linear model — month is kept for tree models.</a:t>
            </a:r>
            <a:endParaRPr lang="en-US" sz="1300" dirty="0"/>
          </a:p>
        </p:txBody>
      </p:sp>
      <p:sp>
        <p:nvSpPr>
          <p:cNvPr id="6" name="Text 3"/>
          <p:cNvSpPr/>
          <p:nvPr/>
        </p:nvSpPr>
        <p:spPr>
          <a:xfrm>
            <a:off x="812800" y="6238280"/>
            <a:ext cx="40571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Road Safety Predictive Analytics — Group 6</a:t>
            </a:r>
            <a:endParaRPr lang="en-US" sz="1200" dirty="0"/>
          </a:p>
        </p:txBody>
      </p:sp>
      <p:sp>
        <p:nvSpPr>
          <p:cNvPr id="7" name="Text 4"/>
          <p:cNvSpPr/>
          <p:nvPr/>
        </p:nvSpPr>
        <p:spPr>
          <a:xfrm>
            <a:off x="11192024" y="6238280"/>
            <a:ext cx="237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15213B"/>
        </a:solidFill>
      </p:bgPr>
    </p:bg>
    <p:spTree>
      <p:nvGrpSpPr>
        <p:cNvPr id="1" name=""/>
        <p:cNvGrpSpPr/>
        <p:nvPr/>
      </p:nvGrpSpPr>
      <p:grpSpPr>
        <a:xfrm>
          <a:off x="0" y="0"/>
          <a:ext cx="0" cy="0"/>
          <a:chOff x="0" y="0"/>
          <a:chExt cx="0" cy="0"/>
        </a:xfrm>
      </p:grpSpPr>
      <p:sp>
        <p:nvSpPr>
          <p:cNvPr id="2" name="Text 0"/>
          <p:cNvSpPr/>
          <p:nvPr/>
        </p:nvSpPr>
        <p:spPr>
          <a:xfrm>
            <a:off x="812800" y="267335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7CCDD"/>
                </a:solidFill>
                <a:latin typeface="Public Sans" pitchFamily="34" charset="0"/>
                <a:ea typeface="Public Sans" pitchFamily="34" charset="-122"/>
                <a:cs typeface="Public Sans" pitchFamily="34" charset="-120"/>
              </a:rPr>
              <a:t>04</a:t>
            </a:r>
            <a:endParaRPr lang="en-US" sz="2000" dirty="0"/>
          </a:p>
        </p:txBody>
      </p:sp>
      <p:sp>
        <p:nvSpPr>
          <p:cNvPr id="3" name="Text 1"/>
          <p:cNvSpPr/>
          <p:nvPr>
            <p:ph type="title"/>
          </p:nvPr>
        </p:nvSpPr>
        <p:spPr>
          <a:xfrm>
            <a:off x="812800" y="3181350"/>
            <a:ext cx="10883392" cy="609600"/>
          </a:xfrm>
          <a:prstGeom prst="rect">
            <a:avLst/>
          </a:prstGeom>
          <a:noFill/>
          <a:ln/>
        </p:spPr>
        <p:txBody>
          <a:bodyPr wrap="square" lIns="0" tIns="0" rIns="0" bIns="0" rtlCol="0" anchor="t">
            <a:normAutofit/>
          </a:bodyPr>
          <a:lstStyle/>
          <a:p>
            <a:pPr algn="l" indent="0" marL="0">
              <a:lnSpc>
                <a:spcPts val="4600"/>
              </a:lnSpc>
              <a:buNone/>
            </a:pPr>
            <a:r>
              <a:rPr lang="en-US" sz="4000" b="1" i="0" dirty="0">
                <a:solidFill>
                  <a:srgbClr val="F4F1E8"/>
                </a:solidFill>
                <a:latin typeface="Libre Baskerville" pitchFamily="18" charset="0"/>
                <a:ea typeface="Libre Baskerville" pitchFamily="18" charset="-122"/>
                <a:cs typeface="Libre Baskerville" pitchFamily="18" charset="-120"/>
              </a:rPr>
              <a:t>Predictive modelling</a:t>
            </a:r>
            <a:endParaRPr lang="en-US" sz="4000" dirty="0"/>
          </a:p>
        </p:txBody>
      </p:sp>
      <p:sp>
        <p:nvSpPr>
          <p:cNvPr id="4" name="Text 2"/>
          <p:cNvSpPr/>
          <p:nvPr/>
        </p:nvSpPr>
        <p:spPr>
          <a:xfrm>
            <a:off x="812800" y="3917950"/>
            <a:ext cx="850265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7CCDD"/>
                </a:solidFill>
                <a:latin typeface="Public Sans" pitchFamily="34" charset="0"/>
                <a:ea typeface="Public Sans" pitchFamily="34" charset="-122"/>
                <a:cs typeface="Public Sans" pitchFamily="34" charset="-120"/>
              </a:rPr>
              <a:t>Task 3 — 25% of the grade. Beat a baseline, on data the model has never seen.</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213B"/>
                </a:solidFill>
                <a:latin typeface="Public Sans" pitchFamily="34" charset="0"/>
                <a:ea typeface="Public Sans" pitchFamily="34" charset="-122"/>
                <a:cs typeface="Public Sans" pitchFamily="34" charset="-120"/>
              </a:rPr>
              <a:t>04 · PREDICTIVE MODELLING</a:t>
            </a:r>
            <a:endParaRPr lang="en-US" sz="1200" dirty="0"/>
          </a:p>
        </p:txBody>
      </p:sp>
      <p:sp>
        <p:nvSpPr>
          <p:cNvPr id="3" name="Text 1"/>
          <p:cNvSpPr/>
          <p:nvPr>
            <p:ph type="title"/>
          </p:nvPr>
        </p:nvSpPr>
        <p:spPr>
          <a:xfrm>
            <a:off x="812800" y="1026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5213B"/>
                </a:solidFill>
                <a:latin typeface="Libre Baskerville" pitchFamily="18" charset="0"/>
                <a:ea typeface="Libre Baskerville" pitchFamily="18" charset="-122"/>
                <a:cs typeface="Libre Baskerville" pitchFamily="18" charset="-120"/>
              </a:rPr>
              <a:t>Benchmark ladder — what must we beat?</a:t>
            </a:r>
            <a:endParaRPr lang="en-US" sz="3000" dirty="0"/>
          </a:p>
        </p:txBody>
      </p:sp>
      <p:sp>
        <p:nvSpPr>
          <p:cNvPr id="4" name="Shape 2"/>
          <p:cNvSpPr/>
          <p:nvPr/>
        </p:nvSpPr>
        <p:spPr>
          <a:xfrm>
            <a:off x="812800" y="1642070"/>
            <a:ext cx="10566400" cy="485130"/>
          </a:xfrm>
          <a:prstGeom prst="roundRect">
            <a:avLst>
              <a:gd name="adj" fmla="val 13089"/>
            </a:avLst>
          </a:prstGeom>
          <a:solidFill>
            <a:srgbClr val="15213B"/>
          </a:solidFill>
          <a:ln/>
        </p:spPr>
        <p:txBody>
          <a:bodyPr/>
          <a:p/>
        </p:txBody>
      </p:sp>
      <p:sp>
        <p:nvSpPr>
          <p:cNvPr id="5" name="Text 3"/>
          <p:cNvSpPr/>
          <p:nvPr/>
        </p:nvSpPr>
        <p:spPr>
          <a:xfrm>
            <a:off x="1016000" y="1769070"/>
            <a:ext cx="300863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4F1E8"/>
                </a:solidFill>
                <a:latin typeface="Public Sans" pitchFamily="34" charset="0"/>
                <a:ea typeface="Public Sans" pitchFamily="34" charset="-122"/>
                <a:cs typeface="Public Sans" pitchFamily="34" charset="-120"/>
              </a:rPr>
              <a:t>Our model (target)</a:t>
            </a:r>
            <a:endParaRPr lang="en-US" sz="1300" dirty="0"/>
          </a:p>
        </p:txBody>
      </p:sp>
      <p:sp>
        <p:nvSpPr>
          <p:cNvPr id="6" name="Text 4"/>
          <p:cNvSpPr/>
          <p:nvPr/>
        </p:nvSpPr>
        <p:spPr>
          <a:xfrm>
            <a:off x="4114800" y="1777950"/>
            <a:ext cx="72730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7CCDD"/>
                </a:solidFill>
                <a:latin typeface="Public Sans" pitchFamily="34" charset="0"/>
                <a:ea typeface="Public Sans" pitchFamily="34" charset="-122"/>
                <a:cs typeface="Public Sans" pitchFamily="34" charset="-120"/>
              </a:rPr>
              <a:t>Gradient Boosting (Pedro): PR-AUC 0.126, lift 2.10× on 2024–25 · [Nuno's model to add]</a:t>
            </a:r>
            <a:endParaRPr lang="en-US" sz="1200" dirty="0"/>
          </a:p>
        </p:txBody>
      </p:sp>
      <p:sp>
        <p:nvSpPr>
          <p:cNvPr id="7" name="Shape 5"/>
          <p:cNvSpPr/>
          <p:nvPr/>
        </p:nvSpPr>
        <p:spPr>
          <a:xfrm>
            <a:off x="815975" y="2193875"/>
            <a:ext cx="10560050" cy="491480"/>
          </a:xfrm>
          <a:prstGeom prst="roundRect">
            <a:avLst>
              <a:gd name="adj" fmla="val 12274"/>
            </a:avLst>
          </a:prstGeom>
          <a:solidFill>
            <a:srgbClr val="FDFDFB"/>
          </a:solidFill>
          <a:ln w="6350">
            <a:solidFill>
              <a:srgbClr val="E2DFD6"/>
            </a:solidFill>
            <a:prstDash val="solid"/>
          </a:ln>
        </p:spPr>
        <p:txBody>
          <a:bodyPr/>
          <a:p/>
        </p:txBody>
      </p:sp>
      <p:sp>
        <p:nvSpPr>
          <p:cNvPr id="8" name="Text 6"/>
          <p:cNvSpPr/>
          <p:nvPr/>
        </p:nvSpPr>
        <p:spPr>
          <a:xfrm>
            <a:off x="1022350" y="2324050"/>
            <a:ext cx="300863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Business rule / expert heuristic</a:t>
            </a:r>
            <a:endParaRPr lang="en-US" sz="1300" dirty="0"/>
          </a:p>
        </p:txBody>
      </p:sp>
      <p:sp>
        <p:nvSpPr>
          <p:cNvPr id="9" name="Text 7"/>
          <p:cNvSpPr/>
          <p:nvPr/>
        </p:nvSpPr>
        <p:spPr>
          <a:xfrm>
            <a:off x="4121150" y="2332930"/>
            <a:ext cx="72599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16B"/>
                </a:solidFill>
                <a:latin typeface="Public Sans" pitchFamily="34" charset="0"/>
                <a:ea typeface="Public Sans" pitchFamily="34" charset="-122"/>
                <a:cs typeface="Public Sans" pitchFamily="34" charset="-120"/>
              </a:rPr>
              <a:t>e.g. send ALS to every rural, night-time or downhill crash [to test]</a:t>
            </a:r>
            <a:endParaRPr lang="en-US" sz="1200" dirty="0"/>
          </a:p>
        </p:txBody>
      </p:sp>
      <p:sp>
        <p:nvSpPr>
          <p:cNvPr id="10" name="Shape 8"/>
          <p:cNvSpPr/>
          <p:nvPr/>
        </p:nvSpPr>
        <p:spPr>
          <a:xfrm>
            <a:off x="815975" y="2755205"/>
            <a:ext cx="10560050" cy="491480"/>
          </a:xfrm>
          <a:prstGeom prst="roundRect">
            <a:avLst>
              <a:gd name="adj" fmla="val 12274"/>
            </a:avLst>
          </a:prstGeom>
          <a:solidFill>
            <a:srgbClr val="FDFDFB"/>
          </a:solidFill>
          <a:ln w="6350">
            <a:solidFill>
              <a:srgbClr val="E2DFD6"/>
            </a:solidFill>
            <a:prstDash val="solid"/>
          </a:ln>
        </p:spPr>
        <p:txBody>
          <a:bodyPr/>
          <a:p/>
        </p:txBody>
      </p:sp>
      <p:sp>
        <p:nvSpPr>
          <p:cNvPr id="11" name="Text 9"/>
          <p:cNvSpPr/>
          <p:nvPr/>
        </p:nvSpPr>
        <p:spPr>
          <a:xfrm>
            <a:off x="1022350" y="2885380"/>
            <a:ext cx="300863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Minimally viable</a:t>
            </a:r>
            <a:endParaRPr lang="en-US" sz="1300" dirty="0"/>
          </a:p>
        </p:txBody>
      </p:sp>
      <p:sp>
        <p:nvSpPr>
          <p:cNvPr id="12" name="Text 10"/>
          <p:cNvSpPr/>
          <p:nvPr/>
        </p:nvSpPr>
        <p:spPr>
          <a:xfrm>
            <a:off x="4121150" y="2894261"/>
            <a:ext cx="72599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16B"/>
                </a:solidFill>
                <a:latin typeface="Public Sans" pitchFamily="34" charset="0"/>
                <a:ea typeface="Public Sans" pitchFamily="34" charset="-122"/>
                <a:cs typeface="Public Sans" pitchFamily="34" charset="-120"/>
              </a:rPr>
              <a:t>Balanced logistic regression: PR-AUC 0.122, finds fatal crashes 2.08× better than random</a:t>
            </a:r>
            <a:endParaRPr lang="en-US" sz="1200" dirty="0"/>
          </a:p>
        </p:txBody>
      </p:sp>
      <p:sp>
        <p:nvSpPr>
          <p:cNvPr id="13" name="Shape 11"/>
          <p:cNvSpPr/>
          <p:nvPr/>
        </p:nvSpPr>
        <p:spPr>
          <a:xfrm>
            <a:off x="815975" y="3316536"/>
            <a:ext cx="10560050" cy="491480"/>
          </a:xfrm>
          <a:prstGeom prst="roundRect">
            <a:avLst>
              <a:gd name="adj" fmla="val 12274"/>
            </a:avLst>
          </a:prstGeom>
          <a:solidFill>
            <a:srgbClr val="FDFDFB"/>
          </a:solidFill>
          <a:ln w="6350">
            <a:solidFill>
              <a:srgbClr val="E2DFD6"/>
            </a:solidFill>
            <a:prstDash val="solid"/>
          </a:ln>
        </p:spPr>
        <p:txBody>
          <a:bodyPr/>
          <a:p/>
        </p:txBody>
      </p:sp>
      <p:sp>
        <p:nvSpPr>
          <p:cNvPr id="14" name="Text 12"/>
          <p:cNvSpPr/>
          <p:nvPr/>
        </p:nvSpPr>
        <p:spPr>
          <a:xfrm>
            <a:off x="1022350" y="3446711"/>
            <a:ext cx="300863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Dumb baseline</a:t>
            </a:r>
            <a:endParaRPr lang="en-US" sz="1300" dirty="0"/>
          </a:p>
        </p:txBody>
      </p:sp>
      <p:sp>
        <p:nvSpPr>
          <p:cNvPr id="15" name="Text 13"/>
          <p:cNvSpPr/>
          <p:nvPr/>
        </p:nvSpPr>
        <p:spPr>
          <a:xfrm>
            <a:off x="4121150" y="3455591"/>
            <a:ext cx="72599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16B"/>
                </a:solidFill>
                <a:latin typeface="Public Sans" pitchFamily="34" charset="0"/>
                <a:ea typeface="Public Sans" pitchFamily="34" charset="-122"/>
                <a:cs typeface="Public Sans" pitchFamily="34" charset="-120"/>
              </a:rPr>
              <a:t>Majority class: 92.9% accuracy, catches 0% of fatal crashes</a:t>
            </a:r>
            <a:endParaRPr lang="en-US" sz="1200" dirty="0"/>
          </a:p>
        </p:txBody>
      </p:sp>
      <p:sp>
        <p:nvSpPr>
          <p:cNvPr id="16" name="Shape 14"/>
          <p:cNvSpPr/>
          <p:nvPr/>
        </p:nvSpPr>
        <p:spPr>
          <a:xfrm>
            <a:off x="815975" y="3877866"/>
            <a:ext cx="10560050" cy="491480"/>
          </a:xfrm>
          <a:prstGeom prst="roundRect">
            <a:avLst>
              <a:gd name="adj" fmla="val 12274"/>
            </a:avLst>
          </a:prstGeom>
          <a:solidFill>
            <a:srgbClr val="FDFDFB"/>
          </a:solidFill>
          <a:ln w="6350">
            <a:solidFill>
              <a:srgbClr val="E2DFD6"/>
            </a:solidFill>
            <a:prstDash val="solid"/>
          </a:ln>
        </p:spPr>
        <p:txBody>
          <a:bodyPr/>
          <a:p/>
        </p:txBody>
      </p:sp>
      <p:sp>
        <p:nvSpPr>
          <p:cNvPr id="17" name="Text 15"/>
          <p:cNvSpPr/>
          <p:nvPr/>
        </p:nvSpPr>
        <p:spPr>
          <a:xfrm>
            <a:off x="1022350" y="4008041"/>
            <a:ext cx="300863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Random</a:t>
            </a:r>
            <a:endParaRPr lang="en-US" sz="1300" dirty="0"/>
          </a:p>
        </p:txBody>
      </p:sp>
      <p:sp>
        <p:nvSpPr>
          <p:cNvPr id="18" name="Text 16"/>
          <p:cNvSpPr/>
          <p:nvPr/>
        </p:nvSpPr>
        <p:spPr>
          <a:xfrm>
            <a:off x="4121150" y="4016921"/>
            <a:ext cx="72599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16B"/>
                </a:solidFill>
                <a:latin typeface="Public Sans" pitchFamily="34" charset="0"/>
                <a:ea typeface="Public Sans" pitchFamily="34" charset="-122"/>
                <a:cs typeface="Public Sans" pitchFamily="34" charset="-120"/>
              </a:rPr>
              <a:t>Top-15% pick catches 15% of fatal crashes (lift 1.00×) · PR-AUC 0.071</a:t>
            </a:r>
            <a:endParaRPr lang="en-US" sz="1200" dirty="0"/>
          </a:p>
        </p:txBody>
      </p:sp>
      <p:sp>
        <p:nvSpPr>
          <p:cNvPr id="19" name="Text 17"/>
          <p:cNvSpPr/>
          <p:nvPr/>
        </p:nvSpPr>
        <p:spPr>
          <a:xfrm>
            <a:off x="812800" y="6238280"/>
            <a:ext cx="40571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Road Safety Predictive Analytics — Group 6</a:t>
            </a:r>
            <a:endParaRPr lang="en-US" sz="1200" dirty="0"/>
          </a:p>
        </p:txBody>
      </p:sp>
      <p:sp>
        <p:nvSpPr>
          <p:cNvPr id="20" name="Text 18"/>
          <p:cNvSpPr/>
          <p:nvPr/>
        </p:nvSpPr>
        <p:spPr>
          <a:xfrm>
            <a:off x="11219607" y="6238280"/>
            <a:ext cx="2103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213B"/>
                </a:solidFill>
                <a:latin typeface="Public Sans" pitchFamily="34" charset="0"/>
                <a:ea typeface="Public Sans" pitchFamily="34" charset="-122"/>
                <a:cs typeface="Public Sans" pitchFamily="34" charset="-120"/>
              </a:rPr>
              <a:t>04 · PREDICTIVE MODELLING</a:t>
            </a:r>
            <a:endParaRPr lang="en-US" sz="1200" dirty="0"/>
          </a:p>
        </p:txBody>
      </p:sp>
      <p:sp>
        <p:nvSpPr>
          <p:cNvPr id="3" name="Text 1"/>
          <p:cNvSpPr/>
          <p:nvPr>
            <p:ph type="title"/>
          </p:nvPr>
        </p:nvSpPr>
        <p:spPr>
          <a:xfrm>
            <a:off x="812800" y="1026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5213B"/>
                </a:solidFill>
                <a:latin typeface="Libre Baskerville" pitchFamily="18" charset="0"/>
                <a:ea typeface="Libre Baskerville" pitchFamily="18" charset="-122"/>
                <a:cs typeface="Libre Baskerville" pitchFamily="18" charset="-120"/>
              </a:rPr>
              <a:t>Models to compare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80170"/>
          <a:ext cx="10553700" cy="1437283"/>
        </p:xfrm>
        <a:graphic>
          <a:graphicData uri="http://schemas.openxmlformats.org/drawingml/2006/table">
            <a:tbl>
              <a:tblPr/>
              <a:tblGrid>
                <a:gridCol w="2743962"/>
                <a:gridCol w="4643628"/>
                <a:gridCol w="3166110"/>
              </a:tblGrid>
              <a:tr h="359321">
                <a:tc>
                  <a:txBody>
                    <a:bodyPr/>
                    <a:lstStyle/>
                    <a:p>
                      <a:pPr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Approach</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Why include it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Status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r>
              <a:tr h="359321">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Baseline (majority class)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Establishes the floor every model must beat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 Done (Joao)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Balanced logistic regression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Simple, interpretable, fast to explain to the authority</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 Done (Joao)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Model 1 — Gradient Boosting (Pedro)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Learns interactions of road, place and time (e.g. rural × night × downhill); Random Forest tested alongside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 Done (Pedro)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Model 2 — [Nuno]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[to fill]</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 ] Nuno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bl>
          </a:graphicData>
        </a:graphic>
      </p:graphicFrame>
      <p:sp>
        <p:nvSpPr>
          <p:cNvPr id="5" name="Text 2"/>
          <p:cNvSpPr/>
          <p:nvPr/>
        </p:nvSpPr>
        <p:spPr>
          <a:xfrm>
            <a:off x="812800" y="3685032"/>
            <a:ext cx="108833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16B"/>
                </a:solidFill>
                <a:latin typeface="Public Sans" pitchFamily="34" charset="0"/>
                <a:ea typeface="Public Sans" pitchFamily="34" charset="-122"/>
                <a:cs typeface="Public Sans" pitchFamily="34" charset="-120"/>
              </a:rPr>
              <a:t>Same rules for every model: out-of-time split, tuned on validation only, probabilities re-calibrated, scored once on test 2024–25 with PR-AUC, recall &amp; lift @ top 15% and Brier.</a:t>
            </a:r>
            <a:endParaRPr lang="en-US" sz="1400" dirty="0"/>
          </a:p>
        </p:txBody>
      </p:sp>
      <p:sp>
        <p:nvSpPr>
          <p:cNvPr id="6" name="Text 3"/>
          <p:cNvSpPr/>
          <p:nvPr/>
        </p:nvSpPr>
        <p:spPr>
          <a:xfrm>
            <a:off x="812800" y="6238280"/>
            <a:ext cx="40571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Road Safety Predictive Analytics — Group 6</a:t>
            </a:r>
            <a:endParaRPr lang="en-US" sz="1200" dirty="0"/>
          </a:p>
        </p:txBody>
      </p:sp>
      <p:sp>
        <p:nvSpPr>
          <p:cNvPr id="7" name="Text 4"/>
          <p:cNvSpPr/>
          <p:nvPr/>
        </p:nvSpPr>
        <p:spPr>
          <a:xfrm>
            <a:off x="11222286" y="6238280"/>
            <a:ext cx="2077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0">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213B"/>
                </a:solidFill>
                <a:latin typeface="Public Sans" pitchFamily="34" charset="0"/>
                <a:ea typeface="Public Sans" pitchFamily="34" charset="-122"/>
                <a:cs typeface="Public Sans" pitchFamily="34" charset="-120"/>
              </a:rPr>
              <a:t>04 · PREDICTIVE MODELLING</a:t>
            </a:r>
            <a:endParaRPr lang="en-US" sz="1200" dirty="0"/>
          </a:p>
        </p:txBody>
      </p:sp>
      <p:sp>
        <p:nvSpPr>
          <p:cNvPr id="3" name="Text 1"/>
          <p:cNvSpPr/>
          <p:nvPr>
            <p:ph type="title"/>
          </p:nvPr>
        </p:nvSpPr>
        <p:spPr>
          <a:xfrm>
            <a:off x="812800" y="1026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5213B"/>
                </a:solidFill>
                <a:latin typeface="Libre Baskerville" pitchFamily="18" charset="0"/>
                <a:ea typeface="Libre Baskerville" pitchFamily="18" charset="-122"/>
                <a:cs typeface="Libre Baskerville" pitchFamily="18" charset="-120"/>
              </a:rPr>
              <a:t>Baseline results: test set 2024–2025</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80170"/>
          <a:ext cx="10553700" cy="1437283"/>
        </p:xfrm>
        <a:graphic>
          <a:graphicData uri="http://schemas.openxmlformats.org/drawingml/2006/table">
            <a:tbl>
              <a:tblPr/>
              <a:tblGrid>
                <a:gridCol w="1899666"/>
                <a:gridCol w="2110740"/>
                <a:gridCol w="1688592"/>
                <a:gridCol w="1688592"/>
                <a:gridCol w="1477518"/>
                <a:gridCol w="1688592"/>
              </a:tblGrid>
              <a:tr h="359321">
                <a:tc>
                  <a:txBody>
                    <a:bodyPr/>
                    <a:lstStyle/>
                    <a:p>
                      <a:pPr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Model</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ROC-AUC</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PR-AUC</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Recall @ top 15%</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Lift @ top 15%</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Brier</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r>
              <a:tr h="359321">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Dummy (majority class)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0.500</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0.071</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15.0%</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1.00×</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0.071</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Balanced logistic regression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0.666</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0.122</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31.2%</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2.08×</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0.255</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 isotonic calibration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0.668</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0.118</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31.1%</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2.07×</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0.065</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bl>
          </a:graphicData>
        </a:graphic>
      </p:graphicFrame>
      <p:sp>
        <p:nvSpPr>
          <p:cNvPr id="5" name="Text 2"/>
          <p:cNvSpPr/>
          <p:nvPr/>
        </p:nvSpPr>
        <p:spPr>
          <a:xfrm>
            <a:off x="812800" y="3611880"/>
            <a:ext cx="10566400" cy="853380"/>
          </a:xfrm>
          <a:prstGeom prst="roundRect">
            <a:avLst>
              <a:gd name="adj" fmla="val 8929"/>
            </a:avLst>
          </a:prstGeom>
          <a:solidFill>
            <a:srgbClr val="15213B"/>
          </a:solidFill>
          <a:ln/>
        </p:spPr>
        <p:txBody>
          <a:bodyPr wrap="square" lIns="206282" tIns="155482" rIns="0" bIns="130082" rtlCol="0" anchor="t">
            <a:normAutofit/>
          </a:bodyPr>
          <a:lstStyle/>
          <a:p>
            <a:pPr algn="l" indent="0" marL="0">
              <a:lnSpc>
                <a:spcPts val="1960"/>
              </a:lnSpc>
              <a:buNone/>
            </a:pPr>
            <a:r>
              <a:rPr lang="en-US" sz="1400" dirty="0">
                <a:solidFill>
                  <a:srgbClr val="F4F1E8"/>
                </a:solidFill>
                <a:latin typeface="Public Sans" pitchFamily="34" charset="0"/>
                <a:ea typeface="Public Sans" pitchFamily="34" charset="-122"/>
                <a:cs typeface="Public Sans" pitchFamily="34" charset="-120"/>
              </a:rPr>
              <a:t>The baseline finds fatal crashes 2× better than chance. Class balancing inflates probabilities (Brier 0.255); calibrating on validation fixes it (0.065) without hurting ranking. At p* = 5%, 63% of calls qualify but ALS serves 15%: capacity, not the threshold, is the limit.</a:t>
            </a:r>
            <a:endParaRPr lang="en-US" sz="1400" dirty="0"/>
          </a:p>
        </p:txBody>
      </p:sp>
      <p:sp>
        <p:nvSpPr>
          <p:cNvPr id="6" name="Text 3"/>
          <p:cNvSpPr/>
          <p:nvPr/>
        </p:nvSpPr>
        <p:spPr>
          <a:xfrm>
            <a:off x="812800" y="6238280"/>
            <a:ext cx="40571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Road Safety Predictive Analytics — Group 6</a:t>
            </a:r>
            <a:endParaRPr lang="en-US" sz="1200" dirty="0"/>
          </a:p>
        </p:txBody>
      </p:sp>
      <p:sp>
        <p:nvSpPr>
          <p:cNvPr id="7" name="Text 4"/>
          <p:cNvSpPr/>
          <p:nvPr/>
        </p:nvSpPr>
        <p:spPr>
          <a:xfrm>
            <a:off x="11223923" y="6238280"/>
            <a:ext cx="2060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213B"/>
                </a:solidFill>
                <a:latin typeface="Public Sans" pitchFamily="34" charset="0"/>
                <a:ea typeface="Public Sans" pitchFamily="34" charset="-122"/>
                <a:cs typeface="Public Sans" pitchFamily="34" charset="-120"/>
              </a:rPr>
              <a:t>04 · PREDICTIVE MODELLING</a:t>
            </a:r>
            <a:endParaRPr lang="en-US" sz="1200" dirty="0"/>
          </a:p>
        </p:txBody>
      </p:sp>
      <p:sp>
        <p:nvSpPr>
          <p:cNvPr id="3" name="Text 1"/>
          <p:cNvSpPr/>
          <p:nvPr>
            <p:ph type="title"/>
          </p:nvPr>
        </p:nvSpPr>
        <p:spPr>
          <a:xfrm>
            <a:off x="812800" y="1026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5213B"/>
                </a:solidFill>
                <a:latin typeface="Libre Baskerville" pitchFamily="18" charset="0"/>
                <a:ea typeface="Libre Baskerville" pitchFamily="18" charset="-122"/>
                <a:cs typeface="Libre Baskerville" pitchFamily="18" charset="-120"/>
              </a:rPr>
              <a:t>Model 1 — Gradient Boosting (tree ensemble)</a:t>
            </a:r>
            <a:endParaRPr lang="en-US" sz="3000" dirty="0"/>
          </a:p>
        </p:txBody>
      </p:sp>
      <p:sp>
        <p:nvSpPr>
          <p:cNvPr id="4" name="Text 2"/>
          <p:cNvSpPr/>
          <p:nvPr/>
        </p:nvSpPr>
        <p:spPr>
          <a:xfrm>
            <a:off x="910844" y="1642070"/>
            <a:ext cx="10777728" cy="2006600"/>
          </a:xfrm>
          <a:prstGeom prst="rect">
            <a:avLst/>
          </a:prstGeom>
          <a:noFill/>
          <a:ln/>
        </p:spPr>
        <p:txBody>
          <a:bodyPr wrap="square" lIns="0" tIns="0" rIns="0" bIns="0" rtlCol="0" anchor="t">
            <a:normAutofit/>
          </a:bodyPr>
          <a:lstStyle/>
          <a:p>
            <a:pPr algn="l" marL="155956" indent="-155956">
              <a:lnSpc>
                <a:spcPts val="1950"/>
              </a:lnSpc>
              <a:buSzPct val="100000"/>
              <a:buChar char="•"/>
            </a:pPr>
            <a:r>
              <a:rPr lang="en-US" sz="1300" dirty="0">
                <a:solidFill>
                  <a:srgbClr val="46516B"/>
                </a:solidFill>
                <a:latin typeface="Public Sans" pitchFamily="34" charset="0"/>
                <a:ea typeface="Public Sans" pitchFamily="34" charset="-122"/>
                <a:cs typeface="Public Sans" pitchFamily="34" charset="-120"/>
              </a:rPr>
              <a:t>Histogram Gradient Boosting, compared with a Random Forest; class weights for the 5% fatal rate, no scaling needed.</a:t>
            </a:r>
            <a:endParaRPr lang="en-US" sz="1300" dirty="0"/>
          </a:p>
          <a:p>
            <a:pPr algn="l" marL="155956" indent="-155956">
              <a:lnSpc>
                <a:spcPts val="1950"/>
              </a:lnSpc>
              <a:buSzPct val="100000"/>
              <a:buChar char="•"/>
            </a:pPr>
            <a:r>
              <a:rPr lang="en-US" sz="1300" dirty="0">
                <a:solidFill>
                  <a:srgbClr val="46516B"/>
                </a:solidFill>
                <a:latin typeface="Public Sans" pitchFamily="34" charset="0"/>
                <a:ea typeface="Public Sans" pitchFamily="34" charset="-122"/>
                <a:cs typeface="Public Sans" pitchFamily="34" charset="-120"/>
              </a:rPr>
              <a:t>Why: fatality risk comes from combinations (rural × night × downhill); trees learn these interactions without hand-crafting.</a:t>
            </a:r>
            <a:endParaRPr lang="en-US" sz="1300" dirty="0"/>
          </a:p>
          <a:p>
            <a:pPr algn="l" marL="155956" indent="-155956">
              <a:lnSpc>
                <a:spcPts val="1950"/>
              </a:lnSpc>
              <a:buSzPct val="100000"/>
              <a:buChar char="•"/>
            </a:pPr>
            <a:r>
              <a:rPr lang="en-US" sz="1300" dirty="0">
                <a:solidFill>
                  <a:srgbClr val="46516B"/>
                </a:solidFill>
                <a:latin typeface="Public Sans" pitchFamily="34" charset="0"/>
                <a:ea typeface="Public Sans" pitchFamily="34" charset="-122"/>
                <a:cs typeface="Public Sans" pitchFamily="34" charset="-120"/>
              </a:rPr>
              <a:t>Tuning on validation 2022–23: 13 configs. Small, regularised trees won (lr 0.03, 15 leaves, 150 trees); training on 2015+ only gave no gain.</a:t>
            </a:r>
            <a:endParaRPr lang="en-US" sz="1300" dirty="0"/>
          </a:p>
          <a:p>
            <a:pPr algn="l" marL="155956" indent="-155956">
              <a:lnSpc>
                <a:spcPts val="1950"/>
              </a:lnSpc>
              <a:buSzPct val="100000"/>
              <a:buChar char="•"/>
            </a:pPr>
            <a:r>
              <a:rPr lang="en-US" sz="1300" dirty="0">
                <a:solidFill>
                  <a:srgbClr val="46516B"/>
                </a:solidFill>
                <a:latin typeface="Public Sans" pitchFamily="34" charset="0"/>
                <a:ea typeface="Public Sans" pitchFamily="34" charset="-122"/>
                <a:cs typeface="Public Sans" pitchFamily="34" charset="-120"/>
              </a:rPr>
              <a:t>Validation: PR-AUC 0.134, lift 2.24×. Test 2024–25: PR-AUC 0.126, recall 31.5%, lift 2.10×, Brier 0.064 after sigmoid calibration.</a:t>
            </a:r>
            <a:endParaRPr lang="en-US" sz="1300" dirty="0"/>
          </a:p>
          <a:p>
            <a:pPr algn="l" marL="155956" indent="-155956">
              <a:lnSpc>
                <a:spcPts val="1950"/>
              </a:lnSpc>
              <a:buSzPct val="100000"/>
              <a:buChar char="•"/>
            </a:pPr>
            <a:r>
              <a:rPr lang="en-US" sz="1300" dirty="0">
                <a:solidFill>
                  <a:srgbClr val="46516B"/>
                </a:solidFill>
                <a:latin typeface="Public Sans" pitchFamily="34" charset="0"/>
                <a:ea typeface="Public Sans" pitchFamily="34" charset="-122"/>
                <a:cs typeface="Public Sans" pitchFamily="34" charset="-120"/>
              </a:rPr>
              <a:t>Top drivers: time of day, roadway type, historical segment risk, then downhill, rural area and day of week (matches the EDA).</a:t>
            </a:r>
            <a:endParaRPr lang="en-US" sz="1300" dirty="0"/>
          </a:p>
        </p:txBody>
      </p:sp>
      <p:sp>
        <p:nvSpPr>
          <p:cNvPr id="5" name="Text 3"/>
          <p:cNvSpPr/>
          <p:nvPr/>
        </p:nvSpPr>
        <p:spPr>
          <a:xfrm>
            <a:off x="812800" y="6238280"/>
            <a:ext cx="40571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Road Safety Predictive Analytics — Group 6</a:t>
            </a:r>
            <a:endParaRPr lang="en-US" sz="1200" dirty="0"/>
          </a:p>
        </p:txBody>
      </p:sp>
      <p:sp>
        <p:nvSpPr>
          <p:cNvPr id="6" name="Text 4"/>
          <p:cNvSpPr/>
          <p:nvPr/>
        </p:nvSpPr>
        <p:spPr>
          <a:xfrm>
            <a:off x="11221145" y="6238280"/>
            <a:ext cx="2088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20</a:t>
            </a:r>
            <a:endParaRPr lang="en-US" sz="1200" dirty="0"/>
          </a:p>
        </p:txBody>
      </p:sp>
      <p:pic>
        <p:nvPicPr>
          <p:cNvPr id="7" name="Picture 6" descr="task3_trees_feature_importance.png"/>
          <p:cNvPicPr>
            <a:picLocks noChangeAspect="1"/>
          </p:cNvPicPr>
          <p:nvPr/>
        </p:nvPicPr>
        <p:blipFill>
          <a:blip r:embed="rId2"/>
          <a:stretch>
            <a:fillRect/>
          </a:stretch>
        </p:blipFill>
        <p:spPr>
          <a:xfrm>
            <a:off x="910844" y="3500000"/>
            <a:ext cx="3290000" cy="2350000"/>
          </a:xfrm>
          <a:prstGeom prst="rect">
            <a:avLst/>
          </a:prstGeom>
        </p:spPr>
      </p:pic>
      <p:pic>
        <p:nvPicPr>
          <p:cNvPr id="8" name="Picture 7" descr="task3_trees_pr_curve.png"/>
          <p:cNvPicPr>
            <a:picLocks noChangeAspect="1"/>
          </p:cNvPicPr>
          <p:nvPr/>
        </p:nvPicPr>
        <p:blipFill>
          <a:blip r:embed="rId3"/>
          <a:stretch>
            <a:fillRect/>
          </a:stretch>
        </p:blipFill>
        <p:spPr>
          <a:xfrm>
            <a:off x="4500844" y="3500000"/>
            <a:ext cx="3290000" cy="2350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3">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213B"/>
                </a:solidFill>
                <a:latin typeface="Public Sans" pitchFamily="34" charset="0"/>
                <a:ea typeface="Public Sans" pitchFamily="34" charset="-122"/>
                <a:cs typeface="Public Sans" pitchFamily="34" charset="-120"/>
              </a:rPr>
              <a:t>04 · PREDICTIVE MODELLING</a:t>
            </a:r>
            <a:endParaRPr lang="en-US" sz="1200" dirty="0"/>
          </a:p>
        </p:txBody>
      </p:sp>
      <p:sp>
        <p:nvSpPr>
          <p:cNvPr id="3" name="Text 1"/>
          <p:cNvSpPr/>
          <p:nvPr>
            <p:ph type="title"/>
          </p:nvPr>
        </p:nvSpPr>
        <p:spPr>
          <a:xfrm>
            <a:off x="812800" y="1026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5213B"/>
                </a:solidFill>
                <a:latin typeface="Libre Baskerville" pitchFamily="18" charset="0"/>
                <a:ea typeface="Libre Baskerville" pitchFamily="18" charset="-122"/>
                <a:cs typeface="Libre Baskerville" pitchFamily="18" charset="-120"/>
              </a:rPr>
              <a:t>Model 2 — [Nuno: model name]</a:t>
            </a:r>
            <a:endParaRPr lang="en-US" sz="3000" dirty="0"/>
          </a:p>
        </p:txBody>
      </p:sp>
      <p:sp>
        <p:nvSpPr>
          <p:cNvPr id="4" name="Text 2"/>
          <p:cNvSpPr/>
          <p:nvPr/>
        </p:nvSpPr>
        <p:spPr>
          <a:xfrm>
            <a:off x="910844" y="1642070"/>
            <a:ext cx="10777728" cy="2006600"/>
          </a:xfrm>
          <a:prstGeom prst="rect">
            <a:avLst/>
          </a:prstGeom>
          <a:noFill/>
          <a:ln/>
        </p:spPr>
        <p:txBody>
          <a:bodyPr wrap="square" lIns="0" tIns="0" rIns="0" bIns="0" rtlCol="0" anchor="t">
            <a:normAutofit/>
          </a:bodyPr>
          <a:lstStyle/>
          <a:p>
            <a:pPr algn="l" marL="155956" indent="-155956">
              <a:lnSpc>
                <a:spcPts val="1950"/>
              </a:lnSpc>
              <a:buSzPct val="100000"/>
              <a:buChar char="•"/>
            </a:pPr>
            <a:r>
              <a:rPr lang="en-US" sz="1300" dirty="0">
                <a:solidFill>
                  <a:srgbClr val="46516B"/>
                </a:solidFill>
                <a:latin typeface="Public Sans" pitchFamily="34" charset="0"/>
                <a:ea typeface="Public Sans" pitchFamily="34" charset="-122"/>
                <a:cs typeface="Public Sans" pitchFamily="34" charset="-120"/>
              </a:rPr>
              <a:t>[To be filled by Nuno]</a:t>
            </a:r>
            <a:endParaRPr lang="en-US" sz="1300" dirty="0"/>
          </a:p>
          <a:p>
            <a:pPr algn="l" marL="155956" indent="-155956">
              <a:lnSpc>
                <a:spcPts val="1950"/>
              </a:lnSpc>
              <a:buSzPct val="100000"/>
              <a:buChar char="•"/>
            </a:pPr>
            <a:r>
              <a:rPr lang="en-US" sz="1300" dirty="0">
                <a:solidFill>
                  <a:srgbClr val="46516B"/>
                </a:solidFill>
                <a:latin typeface="Public Sans" pitchFamily="34" charset="0"/>
                <a:ea typeface="Public Sans" pitchFamily="34" charset="-122"/>
                <a:cs typeface="Public Sans" pitchFamily="34" charset="-120"/>
              </a:rPr>
              <a:t>[Model chosen and why it fits the problem]</a:t>
            </a:r>
            <a:endParaRPr lang="en-US" sz="1300" dirty="0"/>
          </a:p>
          <a:p>
            <a:pPr algn="l" marL="155956" indent="-155956">
              <a:lnSpc>
                <a:spcPts val="1950"/>
              </a:lnSpc>
              <a:buSzPct val="100000"/>
              <a:buChar char="•"/>
            </a:pPr>
            <a:r>
              <a:rPr lang="en-US" sz="1300" dirty="0">
                <a:solidFill>
                  <a:srgbClr val="46516B"/>
                </a:solidFill>
                <a:latin typeface="Public Sans" pitchFamily="34" charset="0"/>
                <a:ea typeface="Public Sans" pitchFamily="34" charset="-122"/>
                <a:cs typeface="Public Sans" pitchFamily="34" charset="-120"/>
              </a:rPr>
              <a:t>[Tuning on validation 2022–2023: what was tried, what was kept]</a:t>
            </a:r>
            <a:endParaRPr lang="en-US" sz="1300" dirty="0"/>
          </a:p>
          <a:p>
            <a:pPr algn="l" marL="155956" indent="-155956">
              <a:lnSpc>
                <a:spcPts val="1950"/>
              </a:lnSpc>
              <a:buSzPct val="100000"/>
              <a:buChar char="•"/>
            </a:pPr>
            <a:r>
              <a:rPr lang="en-US" sz="1300" dirty="0">
                <a:solidFill>
                  <a:srgbClr val="46516B"/>
                </a:solidFill>
                <a:latin typeface="Public Sans" pitchFamily="34" charset="0"/>
                <a:ea typeface="Public Sans" pitchFamily="34" charset="-122"/>
                <a:cs typeface="Public Sans" pitchFamily="34" charset="-120"/>
              </a:rPr>
              <a:t>[Validation results: PR-AUC, recall &amp; lift @ top 15%, Brier after calibration]</a:t>
            </a:r>
            <a:endParaRPr lang="en-US" sz="1300" dirty="0"/>
          </a:p>
          <a:p>
            <a:pPr algn="l" marL="155956" indent="-155956">
              <a:lnSpc>
                <a:spcPts val="1950"/>
              </a:lnSpc>
              <a:buSzPct val="100000"/>
              <a:buChar char="•"/>
            </a:pPr>
            <a:r>
              <a:rPr lang="en-US" sz="1300" dirty="0">
                <a:solidFill>
                  <a:srgbClr val="46516B"/>
                </a:solidFill>
                <a:latin typeface="Public Sans" pitchFamily="34" charset="0"/>
                <a:ea typeface="Public Sans" pitchFamily="34" charset="-122"/>
                <a:cs typeface="Public Sans" pitchFamily="34" charset="-120"/>
              </a:rPr>
              <a:t>[What the model learned: most important features]</a:t>
            </a:r>
            <a:endParaRPr lang="en-US" sz="1300" dirty="0"/>
          </a:p>
        </p:txBody>
      </p:sp>
      <p:sp>
        <p:nvSpPr>
          <p:cNvPr id="5" name="Text 3"/>
          <p:cNvSpPr/>
          <p:nvPr/>
        </p:nvSpPr>
        <p:spPr>
          <a:xfrm>
            <a:off x="812800" y="6238280"/>
            <a:ext cx="40571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Road Safety Predictive Analytics — Group 6</a:t>
            </a:r>
            <a:endParaRPr lang="en-US" sz="1200" dirty="0"/>
          </a:p>
        </p:txBody>
      </p:sp>
      <p:sp>
        <p:nvSpPr>
          <p:cNvPr id="6" name="Text 4"/>
          <p:cNvSpPr/>
          <p:nvPr/>
        </p:nvSpPr>
        <p:spPr>
          <a:xfrm>
            <a:off x="11221145" y="6238280"/>
            <a:ext cx="2088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0">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213B"/>
                </a:solidFill>
                <a:latin typeface="Public Sans" pitchFamily="34" charset="0"/>
                <a:ea typeface="Public Sans" pitchFamily="34" charset="-122"/>
                <a:cs typeface="Public Sans" pitchFamily="34" charset="-120"/>
              </a:rPr>
              <a:t>04 · PREDICTIVE MODELLING</a:t>
            </a:r>
            <a:endParaRPr lang="en-US" sz="1200" dirty="0"/>
          </a:p>
        </p:txBody>
      </p:sp>
      <p:sp>
        <p:nvSpPr>
          <p:cNvPr id="3" name="Text 1"/>
          <p:cNvSpPr/>
          <p:nvPr>
            <p:ph type="title"/>
          </p:nvPr>
        </p:nvSpPr>
        <p:spPr>
          <a:xfrm>
            <a:off x="812800" y="1026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5213B"/>
                </a:solidFill>
                <a:latin typeface="Libre Baskerville" pitchFamily="18" charset="0"/>
                <a:ea typeface="Libre Baskerville" pitchFamily="18" charset="-122"/>
                <a:cs typeface="Libre Baskerville" pitchFamily="18" charset="-120"/>
              </a:rPr>
              <a:t>Final comparison: test set 2024–2025</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80170"/>
          <a:ext cx="10553700" cy="1437283"/>
        </p:xfrm>
        <a:graphic>
          <a:graphicData uri="http://schemas.openxmlformats.org/drawingml/2006/table">
            <a:tbl>
              <a:tblPr/>
              <a:tblGrid>
                <a:gridCol w="1899666"/>
                <a:gridCol w="2110740"/>
                <a:gridCol w="1688592"/>
                <a:gridCol w="1688592"/>
                <a:gridCol w="1477518"/>
                <a:gridCol w="1688592"/>
              </a:tblGrid>
              <a:tr h="359321">
                <a:tc>
                  <a:txBody>
                    <a:bodyPr/>
                    <a:lstStyle/>
                    <a:p>
                      <a:pPr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Model</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ROC-AUC</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PR-AUC</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Recall @ top 15%</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Lift @ top 15%</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Brier</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r>
              <a:tr h="359321">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Dummy (majority class)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0.500</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0.071</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15.0%</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1.00×</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0.071</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Balanced LR + calibration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0.668</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0.118</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31.1%</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2.07×</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0.065</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Model 1 — Gradient Boosting + calibration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0.673</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0.126</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31.5%</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2.10×</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0.064</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Model 2 — [Nuno]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bl>
          </a:graphicData>
        </a:graphic>
      </p:graphicFrame>
      <p:sp>
        <p:nvSpPr>
          <p:cNvPr id="5" name="Text 2"/>
          <p:cNvSpPr/>
          <p:nvPr/>
        </p:nvSpPr>
        <p:spPr>
          <a:xfrm>
            <a:off x="812800" y="4114800"/>
            <a:ext cx="10566400" cy="1150000"/>
          </a:xfrm>
          <a:prstGeom prst="roundRect">
            <a:avLst>
              <a:gd name="adj" fmla="val 8929"/>
            </a:avLst>
          </a:prstGeom>
          <a:solidFill>
            <a:srgbClr val="15213B"/>
          </a:solidFill>
          <a:ln/>
        </p:spPr>
        <p:txBody>
          <a:bodyPr wrap="square" lIns="206282" tIns="155482" rIns="0" bIns="130082" rtlCol="0" anchor="t">
            <a:normAutofit/>
          </a:bodyPr>
          <a:lstStyle/>
          <a:p>
            <a:pPr algn="l" indent="0" marL="0">
              <a:lnSpc>
                <a:spcPts val="1960"/>
              </a:lnSpc>
              <a:buNone/>
            </a:pPr>
            <a:r>
              <a:rPr lang="en-US" sz="1400" dirty="0">
                <a:solidFill>
                  <a:srgbClr val="F4F1E8"/>
                </a:solidFill>
                <a:latin typeface="Public Sans" pitchFamily="34" charset="0"/>
                <a:ea typeface="Public Sans" pitchFamily="34" charset="-122"/>
                <a:cs typeface="Public Sans" pitchFamily="34" charset="-120"/>
              </a:rPr>
              <a:t>Best so far: Gradient Boosting reaches 31.5% of fatal crashes with 15% of ALS capacity (225 of 715 in 2024–25), 2.1× random, 3 more than the baseline. Small gain: with only road, location and time at t=0, the data limits ranking more than the algorithm. [Nuno: add Model 2 and final winner]</a:t>
            </a:r>
            <a:endParaRPr lang="en-US" sz="1400" dirty="0"/>
          </a:p>
        </p:txBody>
      </p:sp>
      <p:sp>
        <p:nvSpPr>
          <p:cNvPr id="6" name="Text 3"/>
          <p:cNvSpPr/>
          <p:nvPr/>
        </p:nvSpPr>
        <p:spPr>
          <a:xfrm>
            <a:off x="812800" y="6238280"/>
            <a:ext cx="40571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Road Safety Predictive Analytics — Group 6</a:t>
            </a:r>
            <a:endParaRPr lang="en-US" sz="1200" dirty="0"/>
          </a:p>
        </p:txBody>
      </p:sp>
      <p:sp>
        <p:nvSpPr>
          <p:cNvPr id="7" name="Text 4"/>
          <p:cNvSpPr/>
          <p:nvPr/>
        </p:nvSpPr>
        <p:spPr>
          <a:xfrm>
            <a:off x="11223923" y="6238280"/>
            <a:ext cx="2060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7">
    <p:bg>
      <p:bgPr>
        <a:solidFill>
          <a:srgbClr val="15213B"/>
        </a:solidFill>
      </p:bgPr>
    </p:bg>
    <p:spTree>
      <p:nvGrpSpPr>
        <p:cNvPr id="1" name=""/>
        <p:cNvGrpSpPr/>
        <p:nvPr/>
      </p:nvGrpSpPr>
      <p:grpSpPr>
        <a:xfrm>
          <a:off x="0" y="0"/>
          <a:ext cx="0" cy="0"/>
          <a:chOff x="0" y="0"/>
          <a:chExt cx="0" cy="0"/>
        </a:xfrm>
      </p:grpSpPr>
      <p:sp>
        <p:nvSpPr>
          <p:cNvPr id="2" name="Text 0"/>
          <p:cNvSpPr/>
          <p:nvPr/>
        </p:nvSpPr>
        <p:spPr>
          <a:xfrm>
            <a:off x="812800" y="267335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7CCDD"/>
                </a:solidFill>
                <a:latin typeface="Public Sans" pitchFamily="34" charset="0"/>
                <a:ea typeface="Public Sans" pitchFamily="34" charset="-122"/>
                <a:cs typeface="Public Sans" pitchFamily="34" charset="-120"/>
              </a:rPr>
              <a:t>05</a:t>
            </a:r>
            <a:endParaRPr lang="en-US" sz="2000" dirty="0"/>
          </a:p>
        </p:txBody>
      </p:sp>
      <p:sp>
        <p:nvSpPr>
          <p:cNvPr id="3" name="Text 1"/>
          <p:cNvSpPr/>
          <p:nvPr>
            <p:ph type="title"/>
          </p:nvPr>
        </p:nvSpPr>
        <p:spPr>
          <a:xfrm>
            <a:off x="812800" y="3181350"/>
            <a:ext cx="10883392" cy="609600"/>
          </a:xfrm>
          <a:prstGeom prst="rect">
            <a:avLst/>
          </a:prstGeom>
          <a:noFill/>
          <a:ln/>
        </p:spPr>
        <p:txBody>
          <a:bodyPr wrap="square" lIns="0" tIns="0" rIns="0" bIns="0" rtlCol="0" anchor="t">
            <a:normAutofit/>
          </a:bodyPr>
          <a:lstStyle/>
          <a:p>
            <a:pPr algn="l" indent="0" marL="0">
              <a:lnSpc>
                <a:spcPts val="4600"/>
              </a:lnSpc>
              <a:buNone/>
            </a:pPr>
            <a:r>
              <a:rPr lang="en-US" sz="4000" b="1" i="0" dirty="0">
                <a:solidFill>
                  <a:srgbClr val="F4F1E8"/>
                </a:solidFill>
                <a:latin typeface="Libre Baskerville" pitchFamily="18" charset="0"/>
                <a:ea typeface="Libre Baskerville" pitchFamily="18" charset="-122"/>
                <a:cs typeface="Libre Baskerville" pitchFamily="18" charset="-120"/>
              </a:rPr>
              <a:t>Conclusions</a:t>
            </a:r>
            <a:endParaRPr lang="en-US" sz="4000" dirty="0"/>
          </a:p>
        </p:txBody>
      </p:sp>
      <p:sp>
        <p:nvSpPr>
          <p:cNvPr id="4" name="Text 2"/>
          <p:cNvSpPr/>
          <p:nvPr/>
        </p:nvSpPr>
        <p:spPr>
          <a:xfrm>
            <a:off x="812800" y="3917950"/>
            <a:ext cx="850265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7CCDD"/>
                </a:solidFill>
                <a:latin typeface="Public Sans" pitchFamily="34" charset="0"/>
                <a:ea typeface="Public Sans" pitchFamily="34" charset="-122"/>
                <a:cs typeface="Public Sans" pitchFamily="34" charset="-120"/>
              </a:rPr>
              <a:t>What we found, what we'd still need, and what comes next.</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8">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213B"/>
                </a:solidFill>
                <a:latin typeface="Public Sans" pitchFamily="34" charset="0"/>
                <a:ea typeface="Public Sans" pitchFamily="34" charset="-122"/>
                <a:cs typeface="Public Sans" pitchFamily="34" charset="-120"/>
              </a:rPr>
              <a:t>05 · CONCLUSIONS</a:t>
            </a:r>
            <a:endParaRPr lang="en-US" sz="1200" dirty="0"/>
          </a:p>
        </p:txBody>
      </p:sp>
      <p:sp>
        <p:nvSpPr>
          <p:cNvPr id="3" name="Text 1"/>
          <p:cNvSpPr/>
          <p:nvPr>
            <p:ph type="title"/>
          </p:nvPr>
        </p:nvSpPr>
        <p:spPr>
          <a:xfrm>
            <a:off x="812800" y="102612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5213B"/>
                </a:solidFill>
                <a:latin typeface="Libre Baskerville" pitchFamily="18" charset="0"/>
                <a:ea typeface="Libre Baskerville" pitchFamily="18" charset="-122"/>
                <a:cs typeface="Libre Baskerville" pitchFamily="18" charset="-120"/>
              </a:rPr>
              <a:t>Findings, limitations &amp; future work</a:t>
            </a:r>
            <a:endParaRPr lang="en-US" sz="2800" dirty="0"/>
          </a:p>
        </p:txBody>
      </p:sp>
      <p:sp>
        <p:nvSpPr>
          <p:cNvPr id="4" name="Shape 2"/>
          <p:cNvSpPr/>
          <p:nvPr/>
        </p:nvSpPr>
        <p:spPr>
          <a:xfrm>
            <a:off x="815975" y="1552525"/>
            <a:ext cx="10560050" cy="516880"/>
          </a:xfrm>
          <a:prstGeom prst="roundRect">
            <a:avLst>
              <a:gd name="adj" fmla="val 14128"/>
            </a:avLst>
          </a:prstGeom>
          <a:solidFill>
            <a:srgbClr val="FDFDFB"/>
          </a:solidFill>
          <a:ln w="6350">
            <a:solidFill>
              <a:srgbClr val="E2DFD6"/>
            </a:solidFill>
            <a:prstDash val="solid"/>
          </a:ln>
        </p:spPr>
        <p:txBody>
          <a:bodyPr/>
          <a:p/>
        </p:txBody>
      </p:sp>
      <p:sp>
        <p:nvSpPr>
          <p:cNvPr id="5" name="Text 3"/>
          <p:cNvSpPr/>
          <p:nvPr/>
        </p:nvSpPr>
        <p:spPr>
          <a:xfrm>
            <a:off x="1022350" y="1695400"/>
            <a:ext cx="222377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05A26"/>
                </a:solidFill>
                <a:latin typeface="Public Sans" pitchFamily="34" charset="0"/>
                <a:ea typeface="Public Sans" pitchFamily="34" charset="-122"/>
                <a:cs typeface="Public Sans" pitchFamily="34" charset="-120"/>
              </a:rPr>
              <a:t>Key finding</a:t>
            </a:r>
            <a:endParaRPr lang="en-US" sz="1300" dirty="0"/>
          </a:p>
        </p:txBody>
      </p:sp>
      <p:sp>
        <p:nvSpPr>
          <p:cNvPr id="6" name="Text 4"/>
          <p:cNvSpPr/>
          <p:nvPr/>
        </p:nvSpPr>
        <p:spPr>
          <a:xfrm>
            <a:off x="3333750" y="1695400"/>
            <a:ext cx="8070977"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16B"/>
                </a:solidFill>
                <a:latin typeface="Public Sans" pitchFamily="34" charset="0"/>
                <a:ea typeface="Public Sans" pitchFamily="34" charset="-122"/>
                <a:cs typeface="Public Sans" pitchFamily="34" charset="-120"/>
              </a:rPr>
              <a:t>[After the final models — e.g. best model reaches X% of fatal crashes with 15% of ALS capacity]</a:t>
            </a:r>
            <a:endParaRPr lang="en-US" sz="1300" dirty="0"/>
          </a:p>
        </p:txBody>
      </p:sp>
      <p:sp>
        <p:nvSpPr>
          <p:cNvPr id="7" name="Shape 5"/>
          <p:cNvSpPr/>
          <p:nvPr/>
        </p:nvSpPr>
        <p:spPr>
          <a:xfrm>
            <a:off x="815975" y="2151955"/>
            <a:ext cx="10560050" cy="516880"/>
          </a:xfrm>
          <a:prstGeom prst="roundRect">
            <a:avLst>
              <a:gd name="adj" fmla="val 14128"/>
            </a:avLst>
          </a:prstGeom>
          <a:solidFill>
            <a:srgbClr val="FDFDFB"/>
          </a:solidFill>
          <a:ln w="6350">
            <a:solidFill>
              <a:srgbClr val="E2DFD6"/>
            </a:solidFill>
            <a:prstDash val="solid"/>
          </a:ln>
        </p:spPr>
        <p:txBody>
          <a:bodyPr/>
          <a:p/>
        </p:txBody>
      </p:sp>
      <p:sp>
        <p:nvSpPr>
          <p:cNvPr id="8" name="Text 6"/>
          <p:cNvSpPr/>
          <p:nvPr/>
        </p:nvSpPr>
        <p:spPr>
          <a:xfrm>
            <a:off x="1022350" y="2294830"/>
            <a:ext cx="222377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05A26"/>
                </a:solidFill>
                <a:latin typeface="Public Sans" pitchFamily="34" charset="0"/>
                <a:ea typeface="Public Sans" pitchFamily="34" charset="-122"/>
                <a:cs typeface="Public Sans" pitchFamily="34" charset="-120"/>
              </a:rPr>
              <a:t>Actionable insight</a:t>
            </a:r>
            <a:endParaRPr lang="en-US" sz="1300" dirty="0"/>
          </a:p>
        </p:txBody>
      </p:sp>
      <p:sp>
        <p:nvSpPr>
          <p:cNvPr id="9" name="Text 7"/>
          <p:cNvSpPr/>
          <p:nvPr/>
        </p:nvSpPr>
        <p:spPr>
          <a:xfrm>
            <a:off x="3333750" y="2294830"/>
            <a:ext cx="8070977"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16B"/>
                </a:solidFill>
                <a:latin typeface="Public Sans" pitchFamily="34" charset="0"/>
                <a:ea typeface="Public Sans" pitchFamily="34" charset="-122"/>
                <a:cs typeface="Public Sans" pitchFamily="34" charset="-120"/>
              </a:rPr>
              <a:t>[What dispatch should do — e.g. send ALS to the top-15% risk calls]</a:t>
            </a:r>
            <a:endParaRPr lang="en-US" sz="1300" dirty="0"/>
          </a:p>
        </p:txBody>
      </p:sp>
      <p:sp>
        <p:nvSpPr>
          <p:cNvPr id="10" name="Shape 8"/>
          <p:cNvSpPr/>
          <p:nvPr/>
        </p:nvSpPr>
        <p:spPr>
          <a:xfrm>
            <a:off x="815975" y="2751386"/>
            <a:ext cx="10560050" cy="748010"/>
          </a:xfrm>
          <a:prstGeom prst="roundRect">
            <a:avLst>
              <a:gd name="adj" fmla="val 9763"/>
            </a:avLst>
          </a:prstGeom>
          <a:solidFill>
            <a:srgbClr val="FDFDFB"/>
          </a:solidFill>
          <a:ln w="6350">
            <a:solidFill>
              <a:srgbClr val="E2DFD6"/>
            </a:solidFill>
            <a:prstDash val="solid"/>
          </a:ln>
        </p:spPr>
        <p:txBody>
          <a:bodyPr/>
          <a:p/>
        </p:txBody>
      </p:sp>
      <p:sp>
        <p:nvSpPr>
          <p:cNvPr id="11" name="Text 9"/>
          <p:cNvSpPr/>
          <p:nvPr/>
        </p:nvSpPr>
        <p:spPr>
          <a:xfrm>
            <a:off x="1022350" y="2894261"/>
            <a:ext cx="2223770"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05A26"/>
                </a:solidFill>
                <a:latin typeface="Public Sans" pitchFamily="34" charset="0"/>
                <a:ea typeface="Public Sans" pitchFamily="34" charset="-122"/>
                <a:cs typeface="Public Sans" pitchFamily="34" charset="-120"/>
              </a:rPr>
              <a:t>Limitations</a:t>
            </a:r>
            <a:endParaRPr lang="en-US" sz="1300" dirty="0"/>
          </a:p>
        </p:txBody>
      </p:sp>
      <p:sp>
        <p:nvSpPr>
          <p:cNvPr id="12" name="Text 10"/>
          <p:cNvSpPr/>
          <p:nvPr/>
        </p:nvSpPr>
        <p:spPr>
          <a:xfrm>
            <a:off x="3333750" y="2894261"/>
            <a:ext cx="807097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16B"/>
                </a:solidFill>
                <a:latin typeface="Public Sans" pitchFamily="34" charset="0"/>
                <a:ea typeface="Public Sans" pitchFamily="34" charset="-122"/>
                <a:cs typeface="Public Sans" pitchFamily="34" charset="-120"/>
              </a:rPr>
              <a:t>Reporting change in 2015 (e-DAT) limits older data · GPS only from 2017 and no highway ID, so location is approximate · no traffic, weather or caller information · 150,000-row sample</a:t>
            </a:r>
            <a:endParaRPr lang="en-US" sz="1300" dirty="0"/>
          </a:p>
        </p:txBody>
      </p:sp>
      <p:sp>
        <p:nvSpPr>
          <p:cNvPr id="13" name="Shape 11"/>
          <p:cNvSpPr/>
          <p:nvPr/>
        </p:nvSpPr>
        <p:spPr>
          <a:xfrm>
            <a:off x="815975" y="3581946"/>
            <a:ext cx="10560050" cy="516880"/>
          </a:xfrm>
          <a:prstGeom prst="roundRect">
            <a:avLst>
              <a:gd name="adj" fmla="val 14128"/>
            </a:avLst>
          </a:prstGeom>
          <a:solidFill>
            <a:srgbClr val="FDFDFB"/>
          </a:solidFill>
          <a:ln w="6350">
            <a:solidFill>
              <a:srgbClr val="E2DFD6"/>
            </a:solidFill>
            <a:prstDash val="solid"/>
          </a:ln>
        </p:spPr>
        <p:txBody>
          <a:bodyPr/>
          <a:p/>
        </p:txBody>
      </p:sp>
      <p:sp>
        <p:nvSpPr>
          <p:cNvPr id="14" name="Text 12"/>
          <p:cNvSpPr/>
          <p:nvPr/>
        </p:nvSpPr>
        <p:spPr>
          <a:xfrm>
            <a:off x="1022350" y="3724821"/>
            <a:ext cx="222377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05A26"/>
                </a:solidFill>
                <a:latin typeface="Public Sans" pitchFamily="34" charset="0"/>
                <a:ea typeface="Public Sans" pitchFamily="34" charset="-122"/>
                <a:cs typeface="Public Sans" pitchFamily="34" charset="-120"/>
              </a:rPr>
              <a:t>Future work</a:t>
            </a:r>
            <a:endParaRPr lang="en-US" sz="1300" dirty="0"/>
          </a:p>
        </p:txBody>
      </p:sp>
      <p:sp>
        <p:nvSpPr>
          <p:cNvPr id="15" name="Text 13"/>
          <p:cNvSpPr/>
          <p:nvPr/>
        </p:nvSpPr>
        <p:spPr>
          <a:xfrm>
            <a:off x="3333750" y="3724821"/>
            <a:ext cx="8070977"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16B"/>
                </a:solidFill>
                <a:latin typeface="Public Sans" pitchFamily="34" charset="0"/>
                <a:ea typeface="Public Sans" pitchFamily="34" charset="-122"/>
                <a:cs typeface="Public Sans" pitchFamily="34" charset="-120"/>
              </a:rPr>
              <a:t>Add weather, traffic and caller details at call intake · finer location once GPS covers all years · test training on 2015+ only</a:t>
            </a:r>
            <a:endParaRPr lang="en-US" sz="1300" dirty="0"/>
          </a:p>
        </p:txBody>
      </p:sp>
      <p:sp>
        <p:nvSpPr>
          <p:cNvPr id="16" name="Text 14"/>
          <p:cNvSpPr/>
          <p:nvPr/>
        </p:nvSpPr>
        <p:spPr>
          <a:xfrm>
            <a:off x="812800" y="6238280"/>
            <a:ext cx="40571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Road Safety Predictive Analytics — Group 6</a:t>
            </a:r>
            <a:endParaRPr lang="en-US" sz="1200" dirty="0"/>
          </a:p>
        </p:txBody>
      </p:sp>
      <p:sp>
        <p:nvSpPr>
          <p:cNvPr id="17" name="Text 15"/>
          <p:cNvSpPr/>
          <p:nvPr/>
        </p:nvSpPr>
        <p:spPr>
          <a:xfrm>
            <a:off x="11218466" y="6238280"/>
            <a:ext cx="2115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7">
    <p:bg>
      <p:bgPr>
        <a:solidFill>
          <a:srgbClr val="15213B"/>
        </a:solidFill>
      </p:bgPr>
    </p:bg>
    <p:spTree>
      <p:nvGrpSpPr>
        <p:cNvPr id="1" name=""/>
        <p:cNvGrpSpPr/>
        <p:nvPr/>
      </p:nvGrpSpPr>
      <p:grpSpPr>
        <a:xfrm>
          <a:off x="0" y="0"/>
          <a:ext cx="0" cy="0"/>
          <a:chOff x="0" y="0"/>
          <a:chExt cx="0" cy="0"/>
        </a:xfrm>
      </p:grpSpPr>
      <p:sp>
        <p:nvSpPr>
          <p:cNvPr id="2" name="Text 0"/>
          <p:cNvSpPr/>
          <p:nvPr/>
        </p:nvSpPr>
        <p:spPr>
          <a:xfrm>
            <a:off x="812800" y="267335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7CCDD"/>
                </a:solidFill>
                <a:latin typeface="Public Sans" pitchFamily="34" charset="0"/>
                <a:ea typeface="Public Sans" pitchFamily="34" charset="-122"/>
                <a:cs typeface="Public Sans" pitchFamily="34" charset="-120"/>
              </a:rPr>
              <a:t>06</a:t>
            </a:r>
            <a:endParaRPr lang="en-US" sz="2000" dirty="0"/>
          </a:p>
        </p:txBody>
      </p:sp>
      <p:sp>
        <p:nvSpPr>
          <p:cNvPr id="3" name="Text 1"/>
          <p:cNvSpPr/>
          <p:nvPr>
            <p:ph type="title"/>
          </p:nvPr>
        </p:nvSpPr>
        <p:spPr>
          <a:xfrm>
            <a:off x="812800" y="3181350"/>
            <a:ext cx="10883392" cy="609600"/>
          </a:xfrm>
          <a:prstGeom prst="rect">
            <a:avLst/>
          </a:prstGeom>
          <a:noFill/>
          <a:ln/>
        </p:spPr>
        <p:txBody>
          <a:bodyPr wrap="square" lIns="0" tIns="0" rIns="0" bIns="0" rtlCol="0" anchor="t">
            <a:normAutofit/>
          </a:bodyPr>
          <a:lstStyle/>
          <a:p>
            <a:pPr algn="l" indent="0" marL="0">
              <a:lnSpc>
                <a:spcPts val="4600"/>
              </a:lnSpc>
              <a:buNone/>
            </a:pPr>
            <a:r>
              <a:rPr lang="en-US" sz="4000" b="1" i="0" dirty="0">
                <a:solidFill>
                  <a:srgbClr val="F4F1E8"/>
                </a:solidFill>
                <a:latin typeface="Libre Baskerville" pitchFamily="18" charset="0"/>
                <a:ea typeface="Libre Baskerville" pitchFamily="18" charset="-122"/>
                <a:cs typeface="Libre Baskerville" pitchFamily="18" charset="-120"/>
              </a:rPr>
              <a:t>Annexes</a:t>
            </a:r>
            <a:endParaRPr lang="en-US" sz="4000" dirty="0"/>
          </a:p>
        </p:txBody>
      </p:sp>
      <p:sp>
        <p:nvSpPr>
          <p:cNvPr id="4" name="Text 2"/>
          <p:cNvSpPr/>
          <p:nvPr/>
        </p:nvSpPr>
        <p:spPr>
          <a:xfrm>
            <a:off x="812800" y="3917950"/>
            <a:ext cx="850265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7CCDD"/>
                </a:solidFill>
                <a:latin typeface="Public Sans" pitchFamily="34" charset="0"/>
                <a:ea typeface="Public Sans" pitchFamily="34" charset="-122"/>
                <a:cs typeface="Public Sans" pitchFamily="34" charset="-120"/>
              </a:rPr>
              <a:t>Details for questions, not presented in the 10 minutes.</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9">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213B"/>
                </a:solidFill>
                <a:latin typeface="Public Sans" pitchFamily="34" charset="0"/>
                <a:ea typeface="Public Sans" pitchFamily="34" charset="-122"/>
                <a:cs typeface="Public Sans" pitchFamily="34" charset="-120"/>
              </a:rPr>
              <a:t>06 · ANNEX</a:t>
            </a:r>
            <a:endParaRPr lang="en-US" sz="1200" dirty="0"/>
          </a:p>
        </p:txBody>
      </p:sp>
      <p:sp>
        <p:nvSpPr>
          <p:cNvPr id="3" name="Text 1"/>
          <p:cNvSpPr/>
          <p:nvPr>
            <p:ph type="title"/>
          </p:nvPr>
        </p:nvSpPr>
        <p:spPr>
          <a:xfrm>
            <a:off x="812800" y="1026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5213B"/>
                </a:solidFill>
                <a:latin typeface="Libre Baskerville" pitchFamily="18" charset="0"/>
                <a:ea typeface="Libre Baskerville" pitchFamily="18" charset="-122"/>
                <a:cs typeface="Libre Baskerville" pitchFamily="18" charset="-120"/>
              </a:rPr>
              <a:t>How historical segment risk avoids leakage</a:t>
            </a:r>
            <a:endParaRPr lang="en-US" sz="3000" dirty="0"/>
          </a:p>
        </p:txBody>
      </p:sp>
      <p:sp>
        <p:nvSpPr>
          <p:cNvPr id="4" name="Shape 2"/>
          <p:cNvSpPr/>
          <p:nvPr/>
        </p:nvSpPr>
        <p:spPr>
          <a:xfrm>
            <a:off x="815975" y="1670645"/>
            <a:ext cx="10560050" cy="534640"/>
          </a:xfrm>
          <a:prstGeom prst="roundRect">
            <a:avLst>
              <a:gd name="adj" fmla="val 11283"/>
            </a:avLst>
          </a:prstGeom>
          <a:solidFill>
            <a:srgbClr val="FDFDFB"/>
          </a:solidFill>
          <a:ln w="6350">
            <a:solidFill>
              <a:srgbClr val="E2DFD6"/>
            </a:solidFill>
            <a:prstDash val="solid"/>
          </a:ln>
        </p:spPr>
        <p:txBody>
          <a:bodyPr/>
          <a:p/>
        </p:txBody>
      </p:sp>
      <p:sp>
        <p:nvSpPr>
          <p:cNvPr id="5" name="Text 3"/>
          <p:cNvSpPr/>
          <p:nvPr/>
        </p:nvSpPr>
        <p:spPr>
          <a:xfrm>
            <a:off x="1022350" y="1813520"/>
            <a:ext cx="183134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05A26"/>
                </a:solidFill>
                <a:latin typeface="Public Sans" pitchFamily="34" charset="0"/>
                <a:ea typeface="Public Sans" pitchFamily="34" charset="-122"/>
                <a:cs typeface="Public Sans" pitchFamily="34" charset="-120"/>
              </a:rPr>
              <a:t>Segment</a:t>
            </a:r>
            <a:endParaRPr lang="en-US" sz="1400" dirty="0"/>
          </a:p>
        </p:txBody>
      </p:sp>
      <p:sp>
        <p:nvSpPr>
          <p:cNvPr id="6" name="Text 4"/>
          <p:cNvSpPr/>
          <p:nvPr/>
        </p:nvSpPr>
        <p:spPr>
          <a:xfrm>
            <a:off x="2978150" y="1813520"/>
            <a:ext cx="843724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5213B"/>
                </a:solidFill>
                <a:latin typeface="Public Sans" pitchFamily="34" charset="0"/>
                <a:ea typeface="Public Sans" pitchFamily="34" charset="-122"/>
                <a:cs typeface="Public Sans" pitchFamily="34" charset="-120"/>
              </a:rPr>
              <a:t>Highway type × 50-km band × area type (218 segments) — GPS is missing before 2017</a:t>
            </a:r>
            <a:endParaRPr lang="en-US" sz="1400" dirty="0"/>
          </a:p>
        </p:txBody>
      </p:sp>
      <p:sp>
        <p:nvSpPr>
          <p:cNvPr id="7" name="Shape 5"/>
          <p:cNvSpPr/>
          <p:nvPr/>
        </p:nvSpPr>
        <p:spPr>
          <a:xfrm>
            <a:off x="815975" y="2287836"/>
            <a:ext cx="10560050" cy="534640"/>
          </a:xfrm>
          <a:prstGeom prst="roundRect">
            <a:avLst>
              <a:gd name="adj" fmla="val 11283"/>
            </a:avLst>
          </a:prstGeom>
          <a:solidFill>
            <a:srgbClr val="FDFDFB"/>
          </a:solidFill>
          <a:ln w="6350">
            <a:solidFill>
              <a:srgbClr val="E2DFD6"/>
            </a:solidFill>
            <a:prstDash val="solid"/>
          </a:ln>
        </p:spPr>
        <p:txBody>
          <a:bodyPr/>
          <a:p/>
        </p:txBody>
      </p:sp>
      <p:sp>
        <p:nvSpPr>
          <p:cNvPr id="8" name="Text 6"/>
          <p:cNvSpPr/>
          <p:nvPr/>
        </p:nvSpPr>
        <p:spPr>
          <a:xfrm>
            <a:off x="1022350" y="2430711"/>
            <a:ext cx="183134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05A26"/>
                </a:solidFill>
                <a:latin typeface="Public Sans" pitchFamily="34" charset="0"/>
                <a:ea typeface="Public Sans" pitchFamily="34" charset="-122"/>
                <a:cs typeface="Public Sans" pitchFamily="34" charset="-120"/>
              </a:rPr>
              <a:t>Risk</a:t>
            </a:r>
            <a:endParaRPr lang="en-US" sz="1400" dirty="0"/>
          </a:p>
        </p:txBody>
      </p:sp>
      <p:sp>
        <p:nvSpPr>
          <p:cNvPr id="9" name="Text 7"/>
          <p:cNvSpPr/>
          <p:nvPr/>
        </p:nvSpPr>
        <p:spPr>
          <a:xfrm>
            <a:off x="2978150" y="2430711"/>
            <a:ext cx="843724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5213B"/>
                </a:solidFill>
                <a:latin typeface="Public Sans" pitchFamily="34" charset="0"/>
                <a:ea typeface="Public Sans" pitchFamily="34" charset="-122"/>
                <a:cs typeface="Public Sans" pitchFamily="34" charset="-120"/>
              </a:rPr>
              <a:t>Past fatality rate of the segment, computed on train years 2007–2021 only</a:t>
            </a:r>
            <a:endParaRPr lang="en-US" sz="1400" dirty="0"/>
          </a:p>
        </p:txBody>
      </p:sp>
      <p:sp>
        <p:nvSpPr>
          <p:cNvPr id="10" name="Shape 8"/>
          <p:cNvSpPr/>
          <p:nvPr/>
        </p:nvSpPr>
        <p:spPr>
          <a:xfrm>
            <a:off x="815975" y="2905026"/>
            <a:ext cx="10560050" cy="534640"/>
          </a:xfrm>
          <a:prstGeom prst="roundRect">
            <a:avLst>
              <a:gd name="adj" fmla="val 11283"/>
            </a:avLst>
          </a:prstGeom>
          <a:solidFill>
            <a:srgbClr val="FDFDFB"/>
          </a:solidFill>
          <a:ln w="6350">
            <a:solidFill>
              <a:srgbClr val="E2DFD6"/>
            </a:solidFill>
            <a:prstDash val="solid"/>
          </a:ln>
        </p:spPr>
        <p:txBody>
          <a:bodyPr/>
          <a:p/>
        </p:txBody>
      </p:sp>
      <p:sp>
        <p:nvSpPr>
          <p:cNvPr id="11" name="Text 9"/>
          <p:cNvSpPr/>
          <p:nvPr/>
        </p:nvSpPr>
        <p:spPr>
          <a:xfrm>
            <a:off x="1022350" y="3047901"/>
            <a:ext cx="183134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05A26"/>
                </a:solidFill>
                <a:latin typeface="Public Sans" pitchFamily="34" charset="0"/>
                <a:ea typeface="Public Sans" pitchFamily="34" charset="-122"/>
                <a:cs typeface="Public Sans" pitchFamily="34" charset="-120"/>
              </a:rPr>
              <a:t>Out-of-fold</a:t>
            </a:r>
            <a:endParaRPr lang="en-US" sz="1400" dirty="0"/>
          </a:p>
        </p:txBody>
      </p:sp>
      <p:sp>
        <p:nvSpPr>
          <p:cNvPr id="12" name="Text 10"/>
          <p:cNvSpPr/>
          <p:nvPr/>
        </p:nvSpPr>
        <p:spPr>
          <a:xfrm>
            <a:off x="2978150" y="3047901"/>
            <a:ext cx="843724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5213B"/>
                </a:solidFill>
                <a:latin typeface="Public Sans" pitchFamily="34" charset="0"/>
                <a:ea typeface="Public Sans" pitchFamily="34" charset="-122"/>
                <a:cs typeface="Public Sans" pitchFamily="34" charset="-120"/>
              </a:rPr>
              <a:t>Each train crash gets the rate from the other 4 folds — it never sees its own label</a:t>
            </a:r>
            <a:endParaRPr lang="en-US" sz="1400" dirty="0"/>
          </a:p>
        </p:txBody>
      </p:sp>
      <p:sp>
        <p:nvSpPr>
          <p:cNvPr id="13" name="Shape 11"/>
          <p:cNvSpPr/>
          <p:nvPr/>
        </p:nvSpPr>
        <p:spPr>
          <a:xfrm>
            <a:off x="812800" y="3519041"/>
            <a:ext cx="10566400" cy="528290"/>
          </a:xfrm>
          <a:prstGeom prst="roundRect">
            <a:avLst>
              <a:gd name="adj" fmla="val 12020"/>
            </a:avLst>
          </a:prstGeom>
          <a:solidFill>
            <a:srgbClr val="15213B"/>
          </a:solidFill>
          <a:ln/>
        </p:spPr>
        <p:txBody>
          <a:bodyPr/>
          <a:p/>
        </p:txBody>
      </p:sp>
      <p:sp>
        <p:nvSpPr>
          <p:cNvPr id="14" name="Text 12"/>
          <p:cNvSpPr/>
          <p:nvPr/>
        </p:nvSpPr>
        <p:spPr>
          <a:xfrm>
            <a:off x="1016000" y="3658741"/>
            <a:ext cx="183134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F1E8"/>
                </a:solidFill>
                <a:latin typeface="Public Sans" pitchFamily="34" charset="0"/>
                <a:ea typeface="Public Sans" pitchFamily="34" charset="-122"/>
                <a:cs typeface="Public Sans" pitchFamily="34" charset="-120"/>
              </a:rPr>
              <a:t>Smoothing</a:t>
            </a:r>
            <a:endParaRPr lang="en-US" sz="1400" dirty="0"/>
          </a:p>
        </p:txBody>
      </p:sp>
      <p:sp>
        <p:nvSpPr>
          <p:cNvPr id="15" name="Text 13"/>
          <p:cNvSpPr/>
          <p:nvPr/>
        </p:nvSpPr>
        <p:spPr>
          <a:xfrm>
            <a:off x="2971800" y="3658741"/>
            <a:ext cx="845032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1E8"/>
                </a:solidFill>
                <a:latin typeface="Public Sans" pitchFamily="34" charset="0"/>
                <a:ea typeface="Public Sans" pitchFamily="34" charset="-122"/>
                <a:cs typeface="Public Sans" pitchFamily="34" charset="-120"/>
              </a:rPr>
              <a:t>Small segments are pulled toward the overall train rate (weight of 50 crashes)</a:t>
            </a:r>
            <a:endParaRPr lang="en-US" sz="1400" dirty="0"/>
          </a:p>
        </p:txBody>
      </p:sp>
      <p:sp>
        <p:nvSpPr>
          <p:cNvPr id="16" name="Shape 14"/>
          <p:cNvSpPr/>
          <p:nvPr/>
        </p:nvSpPr>
        <p:spPr>
          <a:xfrm>
            <a:off x="812800" y="4123531"/>
            <a:ext cx="10566400" cy="528290"/>
          </a:xfrm>
          <a:prstGeom prst="roundRect">
            <a:avLst>
              <a:gd name="adj" fmla="val 12020"/>
            </a:avLst>
          </a:prstGeom>
          <a:solidFill>
            <a:srgbClr val="15213B"/>
          </a:solidFill>
          <a:ln/>
        </p:spPr>
        <p:txBody>
          <a:bodyPr/>
          <a:p/>
        </p:txBody>
      </p:sp>
      <p:sp>
        <p:nvSpPr>
          <p:cNvPr id="17" name="Text 15"/>
          <p:cNvSpPr/>
          <p:nvPr/>
        </p:nvSpPr>
        <p:spPr>
          <a:xfrm>
            <a:off x="1016000" y="4263231"/>
            <a:ext cx="183134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F1E8"/>
                </a:solidFill>
                <a:latin typeface="Public Sans" pitchFamily="34" charset="0"/>
                <a:ea typeface="Public Sans" pitchFamily="34" charset="-122"/>
                <a:cs typeface="Public Sans" pitchFamily="34" charset="-120"/>
              </a:rPr>
              <a:t>Limitation</a:t>
            </a:r>
            <a:endParaRPr lang="en-US" sz="1400" dirty="0"/>
          </a:p>
        </p:txBody>
      </p:sp>
      <p:sp>
        <p:nvSpPr>
          <p:cNvPr id="18" name="Text 16"/>
          <p:cNvSpPr/>
          <p:nvPr/>
        </p:nvSpPr>
        <p:spPr>
          <a:xfrm>
            <a:off x="2971800" y="4263231"/>
            <a:ext cx="845032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1E8"/>
                </a:solidFill>
                <a:latin typeface="Public Sans" pitchFamily="34" charset="0"/>
                <a:ea typeface="Public Sans" pitchFamily="34" charset="-122"/>
                <a:cs typeface="Public Sans" pitchFamily="34" charset="-120"/>
              </a:rPr>
              <a:t>No highway ID: a segment pools the same km band of all highways of one type</a:t>
            </a:r>
            <a:endParaRPr lang="en-US" sz="1400" dirty="0"/>
          </a:p>
        </p:txBody>
      </p:sp>
      <p:sp>
        <p:nvSpPr>
          <p:cNvPr id="19" name="Text 17"/>
          <p:cNvSpPr/>
          <p:nvPr/>
        </p:nvSpPr>
        <p:spPr>
          <a:xfrm>
            <a:off x="812800" y="6238280"/>
            <a:ext cx="40571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Road Safety Predictive Analytics — Group 6</a:t>
            </a:r>
            <a:endParaRPr lang="en-US" sz="1200" dirty="0"/>
          </a:p>
        </p:txBody>
      </p:sp>
      <p:sp>
        <p:nvSpPr>
          <p:cNvPr id="20" name="Text 18"/>
          <p:cNvSpPr/>
          <p:nvPr/>
        </p:nvSpPr>
        <p:spPr>
          <a:xfrm>
            <a:off x="11222038" y="6238280"/>
            <a:ext cx="2079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0">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213B"/>
                </a:solidFill>
                <a:latin typeface="Public Sans" pitchFamily="34" charset="0"/>
                <a:ea typeface="Public Sans" pitchFamily="34" charset="-122"/>
                <a:cs typeface="Public Sans" pitchFamily="34" charset="-120"/>
              </a:rPr>
              <a:t>06 · ANNEX</a:t>
            </a:r>
            <a:endParaRPr lang="en-US" sz="1200" dirty="0"/>
          </a:p>
        </p:txBody>
      </p:sp>
      <p:sp>
        <p:nvSpPr>
          <p:cNvPr id="3" name="Text 1"/>
          <p:cNvSpPr/>
          <p:nvPr>
            <p:ph type="title"/>
          </p:nvPr>
        </p:nvSpPr>
        <p:spPr>
          <a:xfrm>
            <a:off x="812800" y="1026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5213B"/>
                </a:solidFill>
                <a:latin typeface="Libre Baskerville" pitchFamily="18" charset="0"/>
                <a:ea typeface="Libre Baskerville" pitchFamily="18" charset="-122"/>
                <a:cs typeface="Libre Baskerville" pitchFamily="18" charset="-120"/>
              </a:rPr>
              <a:t>Out-of-time split</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80170"/>
          <a:ext cx="10553700" cy="2476500"/>
        </p:xfrm>
        <a:graphic>
          <a:graphicData uri="http://schemas.openxmlformats.org/drawingml/2006/table">
            <a:tbl>
              <a:tblPr/>
              <a:tblGrid>
                <a:gridCol w="7387590"/>
                <a:gridCol w="3166110"/>
              </a:tblGrid>
              <a:tr h="412750">
                <a:tc>
                  <a:txBody>
                    <a:bodyPr/>
                    <a:lstStyle/>
                    <a:p>
                      <a:pPr indent="0" marL="0">
                        <a:lnSpc>
                          <a:spcPts val="2100"/>
                        </a:lnSpc>
                        <a:buNone/>
                      </a:pPr>
                      <a:r>
                        <a:rPr lang="en-US" sz="1500" b="1" dirty="0">
                          <a:solidFill>
                            <a:srgbClr val="15213B"/>
                          </a:solidFill>
                          <a:latin typeface="Public Sans" pitchFamily="34" charset="0"/>
                          <a:ea typeface="Public Sans" pitchFamily="34" charset="-122"/>
                          <a:cs typeface="Public Sans" pitchFamily="34" charset="-120"/>
                        </a:rPr>
                        <a:t>Set · years · crashes</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2100"/>
                        </a:lnSpc>
                        <a:buNone/>
                      </a:pPr>
                      <a:r>
                        <a:rPr lang="en-US" sz="1500" b="1" dirty="0">
                          <a:solidFill>
                            <a:srgbClr val="15213B"/>
                          </a:solidFill>
                          <a:latin typeface="Public Sans" pitchFamily="34" charset="0"/>
                          <a:ea typeface="Public Sans" pitchFamily="34" charset="-122"/>
                          <a:cs typeface="Public Sans" pitchFamily="34" charset="-120"/>
                        </a:rPr>
                        <a:t>Fatal rate</a:t>
                      </a:r>
                      <a:endParaRPr lang="en-US" sz="1500" dirty="0">
                        <a:latin typeface="Public Sans" charset="0"/>
                        <a:ea typeface="Public Sans" charset="0"/>
                        <a:cs typeface="Public Sans" charset="0"/>
                      </a:endParaRPr>
                    </a:p>
                  </a:txBody>
                  <a:tcPr marL="66675" marR="66675" marT="66675" marB="6667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r>
              <a:tr h="412750">
                <a:tc>
                  <a:txBody>
                    <a:bodyPr/>
                    <a:lstStyle/>
                    <a:p>
                      <a:pPr indent="0" marL="0">
                        <a:lnSpc>
                          <a:spcPts val="2100"/>
                        </a:lnSpc>
                        <a:buNone/>
                      </a:pPr>
                      <a:r>
                        <a:rPr lang="en-US" sz="1500" dirty="0">
                          <a:solidFill>
                            <a:srgbClr val="15213B"/>
                          </a:solidFill>
                          <a:latin typeface="Public Sans" pitchFamily="34" charset="0"/>
                          <a:ea typeface="Public Sans" pitchFamily="34" charset="-122"/>
                          <a:cs typeface="Public Sans" pitchFamily="34" charset="-120"/>
                        </a:rPr>
                        <a:t>Train · 2007–2021 · 130,870 crashes</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2100"/>
                        </a:lnSpc>
                        <a:buNone/>
                      </a:pPr>
                      <a:r>
                        <a:rPr lang="en-US" sz="1500" dirty="0">
                          <a:solidFill>
                            <a:srgbClr val="15213B"/>
                          </a:solidFill>
                          <a:latin typeface="Public Sans" pitchFamily="34" charset="0"/>
                          <a:ea typeface="Public Sans" pitchFamily="34" charset="-122"/>
                          <a:cs typeface="Public Sans" pitchFamily="34" charset="-120"/>
                        </a:rPr>
                        <a:t>4.49%</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412750">
                <a:tc>
                  <a:txBody>
                    <a:bodyPr/>
                    <a:lstStyle/>
                    <a:p>
                      <a:pPr indent="0" marL="0">
                        <a:lnSpc>
                          <a:spcPts val="2100"/>
                        </a:lnSpc>
                        <a:buNone/>
                      </a:pPr>
                      <a:r>
                        <a:rPr lang="en-US" sz="1500" dirty="0">
                          <a:solidFill>
                            <a:srgbClr val="15213B"/>
                          </a:solidFill>
                          <a:latin typeface="Public Sans" pitchFamily="34" charset="0"/>
                          <a:ea typeface="Public Sans" pitchFamily="34" charset="-122"/>
                          <a:cs typeface="Public Sans" pitchFamily="34" charset="-120"/>
                        </a:rPr>
                        <a:t>Validation · 2022–2023 · 9,073 crashes</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2100"/>
                        </a:lnSpc>
                        <a:buNone/>
                      </a:pPr>
                      <a:r>
                        <a:rPr lang="en-US" sz="1500" dirty="0">
                          <a:solidFill>
                            <a:srgbClr val="15213B"/>
                          </a:solidFill>
                          <a:latin typeface="Public Sans" pitchFamily="34" charset="0"/>
                          <a:ea typeface="Public Sans" pitchFamily="34" charset="-122"/>
                          <a:cs typeface="Public Sans" pitchFamily="34" charset="-120"/>
                        </a:rPr>
                        <a:t>6.97%</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412750">
                <a:tc>
                  <a:txBody>
                    <a:bodyPr/>
                    <a:lstStyle/>
                    <a:p>
                      <a:pPr indent="0" marL="0">
                        <a:lnSpc>
                          <a:spcPts val="2100"/>
                        </a:lnSpc>
                        <a:buNone/>
                      </a:pPr>
                      <a:r>
                        <a:rPr lang="en-US" sz="1500" dirty="0">
                          <a:solidFill>
                            <a:srgbClr val="15213B"/>
                          </a:solidFill>
                          <a:latin typeface="Public Sans" pitchFamily="34" charset="0"/>
                          <a:ea typeface="Public Sans" pitchFamily="34" charset="-122"/>
                          <a:cs typeface="Public Sans" pitchFamily="34" charset="-120"/>
                        </a:rPr>
                        <a:t>Test · 2024–2025 · 10,056 crashes</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2100"/>
                        </a:lnSpc>
                        <a:buNone/>
                      </a:pPr>
                      <a:r>
                        <a:rPr lang="en-US" sz="1500" dirty="0">
                          <a:solidFill>
                            <a:srgbClr val="15213B"/>
                          </a:solidFill>
                          <a:latin typeface="Public Sans" pitchFamily="34" charset="0"/>
                          <a:ea typeface="Public Sans" pitchFamily="34" charset="-122"/>
                          <a:cs typeface="Public Sans" pitchFamily="34" charset="-120"/>
                        </a:rPr>
                        <a:t>7.11%</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bl>
          </a:graphicData>
        </a:graphic>
      </p:graphicFrame>
      <p:sp>
        <p:nvSpPr>
          <p:cNvPr id="5" name="Text 2"/>
          <p:cNvSpPr/>
          <p:nvPr/>
        </p:nvSpPr>
        <p:spPr>
          <a:xfrm>
            <a:off x="812800" y="3511296"/>
            <a:ext cx="10566400" cy="868680"/>
          </a:xfrm>
          <a:prstGeom prst="roundRect">
            <a:avLst>
              <a:gd name="adj" fmla="val 12606"/>
            </a:avLst>
          </a:prstGeom>
          <a:solidFill>
            <a:srgbClr val="15213B"/>
          </a:solidFill>
          <a:ln/>
        </p:spPr>
        <p:txBody>
          <a:bodyPr wrap="square" lIns="206282" tIns="155482" rIns="0" bIns="130082" rtlCol="0" anchor="t">
            <a:normAutofit/>
          </a:bodyPr>
          <a:lstStyle/>
          <a:p>
            <a:pPr algn="l" indent="0" marL="0">
              <a:lnSpc>
                <a:spcPts val="1960"/>
              </a:lnSpc>
              <a:buNone/>
            </a:pPr>
            <a:r>
              <a:rPr lang="en-US" sz="1400" dirty="0">
                <a:solidFill>
                  <a:srgbClr val="F4F1E8"/>
                </a:solidFill>
                <a:latin typeface="Public Sans" pitchFamily="34" charset="0"/>
                <a:ea typeface="Public Sans" pitchFamily="34" charset="-122"/>
                <a:cs typeface="Public Sans" pitchFamily="34" charset="-120"/>
              </a:rPr>
              <a:t>No random shuffling: models learn from the past and are judged on the most recent years, as they would be used. The higher fatal rate in recent years comes from the 2015 reporting change — handled by calibrating on validation.</a:t>
            </a:r>
            <a:endParaRPr lang="en-US" sz="1400" dirty="0"/>
          </a:p>
        </p:txBody>
      </p:sp>
      <p:sp>
        <p:nvSpPr>
          <p:cNvPr id="6" name="Text 3"/>
          <p:cNvSpPr/>
          <p:nvPr/>
        </p:nvSpPr>
        <p:spPr>
          <a:xfrm>
            <a:off x="812800" y="6238280"/>
            <a:ext cx="40571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Road Safety Predictive Analytics — Group 6</a:t>
            </a:r>
            <a:endParaRPr lang="en-US" sz="1200" dirty="0"/>
          </a:p>
        </p:txBody>
      </p:sp>
      <p:sp>
        <p:nvSpPr>
          <p:cNvPr id="7" name="Text 4"/>
          <p:cNvSpPr/>
          <p:nvPr/>
        </p:nvSpPr>
        <p:spPr>
          <a:xfrm>
            <a:off x="11195100" y="6238280"/>
            <a:ext cx="234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1">
    <p:bg>
      <p:bgPr>
        <a:solidFill>
          <a:srgbClr val="15213B"/>
        </a:solidFill>
      </p:bgPr>
    </p:bg>
    <p:spTree>
      <p:nvGrpSpPr>
        <p:cNvPr id="1" name=""/>
        <p:cNvGrpSpPr/>
        <p:nvPr/>
      </p:nvGrpSpPr>
      <p:grpSpPr>
        <a:xfrm>
          <a:off x="0" y="0"/>
          <a:ext cx="0" cy="0"/>
          <a:chOff x="0" y="0"/>
          <a:chExt cx="0" cy="0"/>
        </a:xfrm>
      </p:grpSpPr>
      <p:sp>
        <p:nvSpPr>
          <p:cNvPr id="2" name="Text 0"/>
          <p:cNvSpPr/>
          <p:nvPr>
            <p:ph type="title"/>
          </p:nvPr>
        </p:nvSpPr>
        <p:spPr>
          <a:xfrm>
            <a:off x="3915494" y="2644180"/>
            <a:ext cx="4360962" cy="723900"/>
          </a:xfrm>
          <a:prstGeom prst="rect">
            <a:avLst/>
          </a:prstGeom>
          <a:noFill/>
          <a:ln/>
        </p:spPr>
        <p:txBody>
          <a:bodyPr wrap="square" lIns="0" tIns="0" rIns="0" bIns="0" rtlCol="0" anchor="t">
            <a:normAutofit/>
          </a:bodyPr>
          <a:lstStyle/>
          <a:p>
            <a:pPr algn="ctr" indent="0" marL="0">
              <a:lnSpc>
                <a:spcPts val="5500"/>
              </a:lnSpc>
              <a:buNone/>
            </a:pPr>
            <a:r>
              <a:rPr lang="en-US" sz="5000" b="1" i="0" dirty="0">
                <a:solidFill>
                  <a:srgbClr val="F4F1E8"/>
                </a:solidFill>
                <a:latin typeface="Libre Baskerville" pitchFamily="18" charset="0"/>
                <a:ea typeface="Libre Baskerville" pitchFamily="18" charset="-122"/>
                <a:cs typeface="Libre Baskerville" pitchFamily="18" charset="-120"/>
              </a:rPr>
              <a:t>Thank you</a:t>
            </a:r>
            <a:endParaRPr lang="en-US" sz="5000" dirty="0"/>
          </a:p>
        </p:txBody>
      </p:sp>
      <p:sp>
        <p:nvSpPr>
          <p:cNvPr id="3" name="Text 1"/>
          <p:cNvSpPr/>
          <p:nvPr/>
        </p:nvSpPr>
        <p:spPr>
          <a:xfrm>
            <a:off x="4707081" y="3520480"/>
            <a:ext cx="2777788" cy="327620"/>
          </a:xfrm>
          <a:prstGeom prst="rect">
            <a:avLst/>
          </a:prstGeom>
          <a:noFill/>
          <a:ln/>
        </p:spPr>
        <p:txBody>
          <a:bodyPr wrap="square" lIns="0" tIns="0" rIns="0" bIns="0" rtlCol="0" anchor="t">
            <a:normAutofit/>
          </a:bodyPr>
          <a:lstStyle/>
          <a:p>
            <a:pPr algn="ctr" indent="0" marL="0">
              <a:lnSpc>
                <a:spcPts val="2380"/>
              </a:lnSpc>
              <a:buNone/>
            </a:pPr>
            <a:r>
              <a:rPr lang="en-US" sz="1700" dirty="0">
                <a:solidFill>
                  <a:srgbClr val="C7CCDD"/>
                </a:solidFill>
                <a:latin typeface="Public Sans" pitchFamily="34" charset="0"/>
                <a:ea typeface="Public Sans" pitchFamily="34" charset="-122"/>
                <a:cs typeface="Public Sans" pitchFamily="34" charset="-120"/>
              </a:rPr>
              <a:t>Questions &amp; discussion</a:t>
            </a:r>
            <a:endParaRPr lang="en-US" sz="1700" dirty="0"/>
          </a:p>
        </p:txBody>
      </p:sp>
      <p:sp>
        <p:nvSpPr>
          <p:cNvPr id="4" name="Text 2"/>
          <p:cNvSpPr/>
          <p:nvPr/>
        </p:nvSpPr>
        <p:spPr>
          <a:xfrm>
            <a:off x="1527048" y="4000500"/>
            <a:ext cx="91440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B93AC"/>
                </a:solidFill>
                <a:latin typeface="Public Sans" pitchFamily="34" charset="0"/>
                <a:ea typeface="Public Sans" pitchFamily="34" charset="-122"/>
                <a:cs typeface="Public Sans" pitchFamily="34" charset="-120"/>
              </a:rPr>
              <a:t>Group 6 · Joao · Olena · Samuel · Nuno · Pedro · Predictive Analytics &amp; Forecasting · EMBAAI</a:t>
            </a:r>
            <a:endParaRPr lang="en-US" sz="1200" dirty="0"/>
          </a:p>
        </p:txBody>
      </p:sp>
    </p:spTree>
  </p:cSld>
  <p:clrMapOvr>
    <a:masterClrMapping/>
  </p:clrMapOvr>
</p:sld>
</file>

<file path=ppt/theme/theme1.xml><?xml version="1.0" encoding="utf-8"?>
<a:theme xmlns:a="http://schemas.openxmlformats.org/drawingml/2006/main" name="Road Safety Predictive Analytics — Group Project Outline">
  <a:themeElements>
    <a:clrScheme name="Road Safety Predictive Analytics — Group Project Outline">
      <a:dk1>
        <a:srgbClr val="15213B"/>
      </a:dk1>
      <a:lt1>
        <a:srgbClr val="FBFBF8"/>
      </a:lt1>
      <a:dk2>
        <a:srgbClr val="4F586A"/>
      </a:dk2>
      <a:lt2>
        <a:srgbClr val="E4E5E5"/>
      </a:lt2>
      <a:accent1>
        <a:srgbClr val="B05A26"/>
      </a:accent1>
      <a:accent2>
        <a:srgbClr val="8B9099"/>
      </a:accent2>
      <a:accent3>
        <a:srgbClr val="46516B"/>
      </a:accent3>
      <a:accent4>
        <a:srgbClr val="C7CCDD"/>
      </a:accent4>
      <a:accent5>
        <a:srgbClr val="8B93AC"/>
      </a:accent5>
      <a:accent6>
        <a:srgbClr val="9AA0A6"/>
      </a:accent6>
      <a:hlink>
        <a:srgbClr val="0563C1"/>
      </a:hlink>
      <a:folHlink>
        <a:srgbClr val="954F72"/>
      </a:folHlink>
    </a:clrScheme>
    <a:fontScheme name="Road Safety Predictive Analytics — Group Project Outline">
      <a:majorFont>
        <a:latin typeface="Libre Baskervil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Road Safety Predictive Analytics — Group Project Outline</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Public Sans
Copyright 2015 The Public Sans Project Authors (https://github.com/uswds/public-sans)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2026-10-24T14:21:49Z</dcterms:created>
  <dcterms:modified xsi:type="dcterms:W3CDTF">2026-10-24T14:21:49Z</dcterms:modified>
</cp:coreProperties>
</file>