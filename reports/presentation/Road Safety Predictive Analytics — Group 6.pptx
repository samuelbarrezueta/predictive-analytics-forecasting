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32"/>
    <p:sldId id="263" r:id="rId9"/>
    <p:sldId id="264" r:id="rId10"/>
    <p:sldId id="265" r:id="rId11"/>
    <p:sldId id="266" r:id="rId12"/>
    <p:sldId id="267" r:id="rId13"/>
    <p:sldId id="268" r:id="rId14"/>
    <p:sldId id="278" r:id="rId33"/>
    <p:sldId id="269" r:id="rId15"/>
    <p:sldId id="270" r:id="rId16"/>
    <p:sldId id="271" r:id="rId17"/>
    <p:sldId id="279" r:id="rId34"/>
    <p:sldId id="280" r:id="rId35"/>
    <p:sldId id="281" r:id="rId36"/>
    <p:sldId id="282" r:id="rId37"/>
    <p:sldId id="284" r:id="rId39"/>
    <p:sldId id="285" r:id="rId40"/>
    <p:sldId id="272" r:id="rId18"/>
    <p:sldId id="273" r:id="rId19"/>
    <p:sldId id="283" r:id="rId38"/>
    <p:sldId id="274" r:id="rId20"/>
    <p:sldId id="275" r:id="rId21"/>
    <p:sldId id="276" r:id="rId22"/>
  </p:sldIdLst>
  <p:notesMasterIdLst>
    <p:notesMasterId r:id="rId23"/>
  </p:notesMasterIdLst>
  <p:sldSz cx="12192000" cy="6858000"/>
  <p:notesSz cx="6858000" cy="12192000"/>
  <p:embeddedFontLst>
    <p:embeddedFont>
      <p:font typeface="Public Sans" pitchFamily="34" charset="0"/>
      <p:regular r:id="rId28"/>
      <p:bold r:id="rId29"/>
      <p:italic r:id="rId30"/>
      <p:boldItalic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slide" Target="slides/slide8.xml"/><Relationship Id="rId33" Type="http://schemas.openxmlformats.org/officeDocument/2006/relationships/slide" Target="slides/slide15.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5.xml"/><Relationship Id="rId39" Type="http://schemas.openxmlformats.org/officeDocument/2006/relationships/slide" Target="slides/slide29.xml"/><Relationship Id="rId4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C7CCDD"/>
                </a:solidFill>
                <a:latin typeface="Public Sans" pitchFamily="34" charset="0"/>
                <a:ea typeface="Public Sans" pitchFamily="34" charset="-122"/>
                <a:cs typeface="Public Sans" pitchFamily="34" charset="-120"/>
              </a:rPr>
              <a:t>PORTO BUSINESS SCHOOL · EMBAAI · PREDICTIVE ANALYTICS &amp; FORECASTING</a:t>
            </a:r>
            <a:endParaRPr lang="en-US" sz="1400" dirty="0"/>
          </a:p>
        </p:txBody>
      </p:sp>
      <p:sp>
        <p:nvSpPr>
          <p:cNvPr id="3" name="Text 1"/>
          <p:cNvSpPr/>
          <p:nvPr>
            <p:ph type="title"/>
          </p:nvPr>
        </p:nvSpPr>
        <p:spPr>
          <a:xfrm>
            <a:off x="812800" y="2529880"/>
            <a:ext cx="10883392" cy="1422400"/>
          </a:xfrm>
          <a:prstGeom prst="rect">
            <a:avLst/>
          </a:prstGeom>
          <a:noFill/>
          <a:ln/>
        </p:spPr>
        <p:txBody>
          <a:bodyPr wrap="square" lIns="0" tIns="0" rIns="0" bIns="0" rtlCol="0" anchor="t">
            <a:normAutofit/>
          </a:bodyPr>
          <a:lstStyle/>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Predictive Analytics</a:t>
            </a:r>
            <a:endParaRPr lang="en-US" sz="5000" dirty="0"/>
          </a:p>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for Road Safety</a:t>
            </a:r>
            <a:endParaRPr lang="en-US" sz="5000" dirty="0"/>
          </a:p>
        </p:txBody>
      </p:sp>
      <p:sp>
        <p:nvSpPr>
          <p:cNvPr id="4" name="Text 2"/>
          <p:cNvSpPr/>
          <p:nvPr/>
        </p:nvSpPr>
        <p:spPr>
          <a:xfrm>
            <a:off x="812800" y="40792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7CCDD"/>
                </a:solidFill>
                <a:latin typeface="Public Sans" pitchFamily="34" charset="0"/>
                <a:ea typeface="Public Sans" pitchFamily="34" charset="-122"/>
                <a:cs typeface="Public Sans" pitchFamily="34" charset="-120"/>
              </a:rPr>
              <a:t>Golden Hour triage: which crash needs Advanced Life Support?</a:t>
            </a:r>
            <a:endParaRPr lang="en-US" sz="1600" dirty="0"/>
          </a:p>
        </p:txBody>
      </p:sp>
      <p:sp>
        <p:nvSpPr>
          <p:cNvPr id="5" name="Text 3"/>
          <p:cNvSpPr/>
          <p:nvPr/>
        </p:nvSpPr>
        <p:spPr>
          <a:xfrm>
            <a:off x="812800" y="5831880"/>
            <a:ext cx="5943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a:t>
            </a:r>
            <a:endParaRPr lang="en-US" sz="1200" dirty="0"/>
          </a:p>
        </p:txBody>
      </p:sp>
      <p:sp>
        <p:nvSpPr>
          <p:cNvPr id="6" name="Text 4"/>
          <p:cNvSpPr/>
          <p:nvPr/>
        </p:nvSpPr>
        <p:spPr>
          <a:xfrm>
            <a:off x="6995795" y="5831880"/>
            <a:ext cx="438340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Presentation 20 Oct 2026 · Submission 27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5213B"/>
                </a:solidFill>
                <a:latin typeface="Libre Baskerville" pitchFamily="18" charset="0"/>
                <a:ea typeface="Libre Baskerville" pitchFamily="18" charset="-122"/>
                <a:cs typeface="Libre Baskerville" pitchFamily="18" charset="-120"/>
              </a:rPr>
              <a:t>Agenda — 10 minutes</a:t>
            </a:r>
            <a:endParaRPr lang="en-US" sz="3200" dirty="0"/>
          </a:p>
        </p:txBody>
      </p:sp>
      <p:sp>
        <p:nvSpPr>
          <p:cNvPr id="3" name="Shape 1"/>
          <p:cNvSpPr/>
          <p:nvPr/>
        </p:nvSpPr>
        <p:spPr>
          <a:xfrm>
            <a:off x="815975" y="151189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4" name="Text 2"/>
          <p:cNvSpPr/>
          <p:nvPr/>
        </p:nvSpPr>
        <p:spPr>
          <a:xfrm>
            <a:off x="1073150" y="166747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01</a:t>
            </a:r>
            <a:endParaRPr lang="en-US" sz="1800" dirty="0"/>
          </a:p>
        </p:txBody>
      </p:sp>
      <p:sp>
        <p:nvSpPr>
          <p:cNvPr id="5" name="Text 3"/>
          <p:cNvSpPr/>
          <p:nvPr/>
        </p:nvSpPr>
        <p:spPr>
          <a:xfrm>
            <a:off x="1784350" y="170304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Problem definition</a:t>
            </a:r>
            <a:endParaRPr lang="en-US" sz="1400" dirty="0"/>
          </a:p>
        </p:txBody>
      </p:sp>
      <p:sp>
        <p:nvSpPr>
          <p:cNvPr id="6" name="Text 4"/>
          <p:cNvSpPr/>
          <p:nvPr/>
        </p:nvSpPr>
        <p:spPr>
          <a:xfrm>
            <a:off x="10542984" y="1720800"/>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7" name="Shape 5"/>
          <p:cNvSpPr/>
          <p:nvPr/>
        </p:nvSpPr>
        <p:spPr>
          <a:xfrm>
            <a:off x="815975" y="223832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8" name="Text 6"/>
          <p:cNvSpPr/>
          <p:nvPr/>
        </p:nvSpPr>
        <p:spPr>
          <a:xfrm>
            <a:off x="1073150" y="239390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02</a:t>
            </a:r>
            <a:endParaRPr lang="en-US" sz="1800" dirty="0"/>
          </a:p>
        </p:txBody>
      </p:sp>
      <p:sp>
        <p:nvSpPr>
          <p:cNvPr id="9" name="Text 7"/>
          <p:cNvSpPr/>
          <p:nvPr/>
        </p:nvSpPr>
        <p:spPr>
          <a:xfrm>
            <a:off x="1784350" y="2429470"/>
            <a:ext cx="891817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understanding</a:t>
            </a:r>
            <a:endParaRPr lang="en-US" sz="1400" dirty="0"/>
          </a:p>
        </p:txBody>
      </p:sp>
      <p:sp>
        <p:nvSpPr>
          <p:cNvPr id="10" name="Text 8"/>
          <p:cNvSpPr/>
          <p:nvPr/>
        </p:nvSpPr>
        <p:spPr>
          <a:xfrm>
            <a:off x="10645973" y="2447230"/>
            <a:ext cx="5674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 min</a:t>
            </a:r>
            <a:endParaRPr lang="en-US" sz="1200" dirty="0"/>
          </a:p>
        </p:txBody>
      </p:sp>
      <p:sp>
        <p:nvSpPr>
          <p:cNvPr id="11" name="Shape 9"/>
          <p:cNvSpPr/>
          <p:nvPr/>
        </p:nvSpPr>
        <p:spPr>
          <a:xfrm>
            <a:off x="815975" y="296475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2" name="Text 10"/>
          <p:cNvSpPr/>
          <p:nvPr/>
        </p:nvSpPr>
        <p:spPr>
          <a:xfrm>
            <a:off x="1073150" y="312033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03</a:t>
            </a:r>
            <a:endParaRPr lang="en-US" sz="1800" dirty="0"/>
          </a:p>
        </p:txBody>
      </p:sp>
      <p:sp>
        <p:nvSpPr>
          <p:cNvPr id="13" name="Text 11"/>
          <p:cNvSpPr/>
          <p:nvPr/>
        </p:nvSpPr>
        <p:spPr>
          <a:xfrm>
            <a:off x="1784350" y="315590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preparation</a:t>
            </a:r>
            <a:endParaRPr lang="en-US" sz="1400" dirty="0"/>
          </a:p>
        </p:txBody>
      </p:sp>
      <p:sp>
        <p:nvSpPr>
          <p:cNvPr id="14" name="Text 12"/>
          <p:cNvSpPr/>
          <p:nvPr/>
        </p:nvSpPr>
        <p:spPr>
          <a:xfrm>
            <a:off x="10542984" y="317366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15" name="Shape 13"/>
          <p:cNvSpPr/>
          <p:nvPr/>
        </p:nvSpPr>
        <p:spPr>
          <a:xfrm>
            <a:off x="815975" y="369118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6" name="Text 14"/>
          <p:cNvSpPr/>
          <p:nvPr/>
        </p:nvSpPr>
        <p:spPr>
          <a:xfrm>
            <a:off x="1073150" y="384676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04</a:t>
            </a:r>
            <a:endParaRPr lang="en-US" sz="1800" dirty="0"/>
          </a:p>
        </p:txBody>
      </p:sp>
      <p:sp>
        <p:nvSpPr>
          <p:cNvPr id="17" name="Text 15"/>
          <p:cNvSpPr/>
          <p:nvPr/>
        </p:nvSpPr>
        <p:spPr>
          <a:xfrm>
            <a:off x="1784350" y="3882330"/>
            <a:ext cx="89128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Predictive modelling &amp; results</a:t>
            </a:r>
            <a:endParaRPr lang="en-US" sz="1400" dirty="0"/>
          </a:p>
        </p:txBody>
      </p:sp>
      <p:sp>
        <p:nvSpPr>
          <p:cNvPr id="18" name="Text 16"/>
          <p:cNvSpPr/>
          <p:nvPr/>
        </p:nvSpPr>
        <p:spPr>
          <a:xfrm>
            <a:off x="10640814" y="3900091"/>
            <a:ext cx="5736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~3 min</a:t>
            </a:r>
            <a:endParaRPr lang="en-US" sz="1200" dirty="0"/>
          </a:p>
        </p:txBody>
      </p:sp>
      <p:sp>
        <p:nvSpPr>
          <p:cNvPr id="19" name="Shape 17"/>
          <p:cNvSpPr/>
          <p:nvPr/>
        </p:nvSpPr>
        <p:spPr>
          <a:xfrm>
            <a:off x="815975" y="441761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0" name="Text 18"/>
          <p:cNvSpPr/>
          <p:nvPr/>
        </p:nvSpPr>
        <p:spPr>
          <a:xfrm>
            <a:off x="1073150" y="457319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05</a:t>
            </a:r>
            <a:endParaRPr lang="en-US" sz="1800" dirty="0"/>
          </a:p>
        </p:txBody>
      </p:sp>
      <p:sp>
        <p:nvSpPr>
          <p:cNvPr id="21" name="Text 19"/>
          <p:cNvSpPr/>
          <p:nvPr/>
        </p:nvSpPr>
        <p:spPr>
          <a:xfrm>
            <a:off x="1784350" y="4608761"/>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Conclusions, limitations &amp; future work</a:t>
            </a:r>
            <a:endParaRPr lang="en-US" sz="1400" dirty="0"/>
          </a:p>
        </p:txBody>
      </p:sp>
      <p:sp>
        <p:nvSpPr>
          <p:cNvPr id="22" name="Text 20"/>
          <p:cNvSpPr/>
          <p:nvPr/>
        </p:nvSpPr>
        <p:spPr>
          <a:xfrm>
            <a:off x="10542984" y="462652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23" name="Shape 21"/>
          <p:cNvSpPr/>
          <p:nvPr/>
        </p:nvSpPr>
        <p:spPr>
          <a:xfrm>
            <a:off x="815975" y="514404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4" name="Text 22"/>
          <p:cNvSpPr/>
          <p:nvPr/>
        </p:nvSpPr>
        <p:spPr>
          <a:xfrm>
            <a:off x="1073150" y="529962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06</a:t>
            </a:r>
            <a:endParaRPr lang="en-US" sz="1800" dirty="0"/>
          </a:p>
        </p:txBody>
      </p:sp>
      <p:sp>
        <p:nvSpPr>
          <p:cNvPr id="25" name="Text 23"/>
          <p:cNvSpPr/>
          <p:nvPr/>
        </p:nvSpPr>
        <p:spPr>
          <a:xfrm>
            <a:off x="1784350" y="5335191"/>
            <a:ext cx="922992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Annexes (on request only)</a:t>
            </a:r>
            <a:endParaRPr lang="en-US" sz="1400" dirty="0"/>
          </a:p>
        </p:txBody>
      </p:sp>
      <p:sp>
        <p:nvSpPr>
          <p:cNvPr id="26" name="Text 24"/>
          <p:cNvSpPr/>
          <p:nvPr/>
        </p:nvSpPr>
        <p:spPr>
          <a:xfrm>
            <a:off x="10948640" y="5352951"/>
            <a:ext cx="2210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a:t>
            </a:r>
            <a:endParaRPr lang="en-US" sz="1200" dirty="0"/>
          </a:p>
        </p:txBody>
      </p:sp>
      <p:sp>
        <p:nvSpPr>
          <p:cNvPr id="27" name="Text 2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8" name="Text 26"/>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THE BRIEF</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A road-safety authority, learning from the past</a:t>
            </a:r>
            <a:endParaRPr lang="en-US" sz="3000" dirty="0"/>
          </a:p>
        </p:txBody>
      </p:sp>
      <p:sp>
        <p:nvSpPr>
          <p:cNvPr id="4" name="Text 2"/>
          <p:cNvSpPr/>
          <p:nvPr/>
        </p:nvSpPr>
        <p:spPr>
          <a:xfrm>
            <a:off x="896620" y="1718270"/>
            <a:ext cx="6815328" cy="414913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A national road-safety authority wants to use historical accident data to support better decisions</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Our group acts as its analytics team</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The prediction task is intentionally not given to us — we define it ourselves (Task 1)</a:t>
            </a:r>
            <a:endParaRPr lang="en-US" sz="1500" dirty="0"/>
          </a:p>
        </p:txBody>
      </p:sp>
      <p:sp>
        <p:nvSpPr>
          <p:cNvPr id="5" name="Shape 3"/>
          <p:cNvSpPr/>
          <p:nvPr/>
        </p:nvSpPr>
        <p:spPr>
          <a:xfrm>
            <a:off x="7826375" y="1721445"/>
            <a:ext cx="3549650" cy="966391"/>
          </a:xfrm>
          <a:prstGeom prst="roundRect">
            <a:avLst>
              <a:gd name="adj" fmla="val 7556"/>
            </a:avLst>
          </a:prstGeom>
          <a:solidFill>
            <a:srgbClr val="FDFDFB"/>
          </a:solidFill>
          <a:ln w="6350">
            <a:solidFill>
              <a:srgbClr val="E2DFD6"/>
            </a:solidFill>
            <a:prstDash val="solid"/>
          </a:ln>
        </p:spPr>
        <p:txBody>
          <a:bodyPr/>
          <a:p/>
        </p:txBody>
      </p:sp>
      <p:sp>
        <p:nvSpPr>
          <p:cNvPr id="6" name="Text 4"/>
          <p:cNvSpPr/>
          <p:nvPr/>
        </p:nvSpPr>
        <p:spPr>
          <a:xfrm>
            <a:off x="8058150" y="1902420"/>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150,000</a:t>
            </a:r>
            <a:endParaRPr lang="en-US" sz="2200" dirty="0"/>
          </a:p>
        </p:txBody>
      </p:sp>
      <p:sp>
        <p:nvSpPr>
          <p:cNvPr id="7" name="Text 5"/>
          <p:cNvSpPr/>
          <p:nvPr/>
        </p:nvSpPr>
        <p:spPr>
          <a:xfrm>
            <a:off x="8058150" y="2293541"/>
            <a:ext cx="31786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highway accidents, Brazil, 2007–2025</a:t>
            </a:r>
            <a:endParaRPr lang="en-US" sz="1200" dirty="0"/>
          </a:p>
        </p:txBody>
      </p:sp>
      <p:sp>
        <p:nvSpPr>
          <p:cNvPr id="8" name="Shape 6"/>
          <p:cNvSpPr/>
          <p:nvPr/>
        </p:nvSpPr>
        <p:spPr>
          <a:xfrm>
            <a:off x="7826375" y="2795786"/>
            <a:ext cx="3549650" cy="1179711"/>
          </a:xfrm>
          <a:prstGeom prst="roundRect">
            <a:avLst>
              <a:gd name="adj" fmla="val 6190"/>
            </a:avLst>
          </a:prstGeom>
          <a:solidFill>
            <a:srgbClr val="FDFDFB"/>
          </a:solidFill>
          <a:ln w="6350">
            <a:solidFill>
              <a:srgbClr val="E2DFD6"/>
            </a:solidFill>
            <a:prstDash val="solid"/>
          </a:ln>
        </p:spPr>
        <p:txBody>
          <a:bodyPr/>
          <a:p/>
        </p:txBody>
      </p:sp>
      <p:sp>
        <p:nvSpPr>
          <p:cNvPr id="9" name="Text 7"/>
          <p:cNvSpPr/>
          <p:nvPr/>
        </p:nvSpPr>
        <p:spPr>
          <a:xfrm>
            <a:off x="8058150" y="2976761"/>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23</a:t>
            </a:r>
            <a:endParaRPr lang="en-US" sz="2200" dirty="0"/>
          </a:p>
        </p:txBody>
      </p:sp>
      <p:sp>
        <p:nvSpPr>
          <p:cNvPr id="10" name="Text 8"/>
          <p:cNvSpPr/>
          <p:nvPr/>
        </p:nvSpPr>
        <p:spPr>
          <a:xfrm>
            <a:off x="8058150" y="3367881"/>
            <a:ext cx="31786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 per accident — date, location, road infrastructure, severity</a:t>
            </a:r>
            <a:endParaRPr lang="en-US" sz="1200" dirty="0"/>
          </a:p>
        </p:txBody>
      </p:sp>
      <p:sp>
        <p:nvSpPr>
          <p:cNvPr id="11" name="Text 9"/>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2" name="Text 10"/>
          <p:cNvSpPr/>
          <p:nvPr/>
        </p:nvSpPr>
        <p:spPr>
          <a:xfrm>
            <a:off x="11190883" y="6238280"/>
            <a:ext cx="2391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01</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Problem definition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1 — 10% of the grade. Start from the decision, not the dataset.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problem passes the five gates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2387054"/>
        </p:xfrm>
        <a:graphic>
          <a:graphicData uri="http://schemas.openxmlformats.org/drawingml/2006/table">
            <a:tbl>
              <a:tblPr/>
              <a:tblGrid>
                <a:gridCol w="3166110"/>
                <a:gridCol w="738759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Does our chosen problem pass?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Repeated decision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every emergency call: standard patrol / basic ambulance, or an ALS unit / helicopter?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Actionable score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the dispatcher sends ALS to the 15% of calls with the highest predicted fatality risk</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Past outcomes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150,000 labelled accidents, 7,222 fatal (4.8%): enough positives, but heavily imbalanced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9045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Stable world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Partly — reporting changed in 2015 (e-DAT): logged fatal share 3.8% → 7.0%; we split by time and re-calibrate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Positive balance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ALS dispatch ≈ €2,500 vs. ≈ €50,000 per prevented death: worth it above 5% risk (p*)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3"/>
          <p:cNvSpPr/>
          <p:nvPr/>
        </p:nvSpPr>
        <p:spPr>
          <a:xfrm>
            <a:off x="11188353" y="6238280"/>
            <a:ext cx="2416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Candidate problem framings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Framing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Target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Type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 it supports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Severity prediction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 injuries / injuries / fatalities, per accident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3-class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Prioritise enforcement &amp; infrastructure fixes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Severe-accident hotspots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Share of injury or fatal accidents per highway-km stretch &amp;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Regression / ranking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Where to invest in infrastructure first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Fatality risk given accident ✓ our choice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Probability an accident, once it happens, is fatal</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Binary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Emergency response prioritisation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904853"/>
            <a:ext cx="10566400" cy="53593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The data holds only accidents — we can predict how severe an accident is, not whether one will happen.</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chosen problem: Golden Hour triage</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Business question</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Which crashes need Advanced Life Support (ALS) within the Golden Hour?</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Decision supported</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At the emergency call, the dispatcher sends ALS / helicopter or a standard patrol</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Target definition</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is_fatal = 1 when accident_classification = 2 · 4.8% overall, 7.1% in 2024–25</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Unit of analysis</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One collision · all federal highway crashes</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Prediction horizon</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Real time, at call intake (t=0): only road, location and time are known</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Metrics: why 93% accuracy is a trap</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Accuracy (rejected)</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“No fatality, ever” scores 92.9% on 2024–25 and catches 0% of deaths</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PR-AUC</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Ranking quality on a rare event — random scores 0.071 on the test set</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Recall &amp; lift @ top 15%</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ALS can serve 15% of calls: share of fatal crashes in that slice, vs. random</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Brier score</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Are the predicted probabilities trustworthy? Lower is better</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Threshold p* = 5%</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€2,500 ALS cost ÷ €50,000 benefit · test base rate 7.1% &gt; p*, so capacity binds</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02</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understanding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 15% of the grade. Know your data before you touch an algorithm.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Dataset at a glance</a:t>
            </a:r>
            <a:endParaRPr lang="en-US" sz="3000" dirty="0"/>
          </a:p>
        </p:txBody>
      </p:sp>
      <p:sp>
        <p:nvSpPr>
          <p:cNvPr id="4" name="Shape 2"/>
          <p:cNvSpPr/>
          <p:nvPr/>
        </p:nvSpPr>
        <p:spPr>
          <a:xfrm>
            <a:off x="8159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5" name="Text 3"/>
          <p:cNvSpPr/>
          <p:nvPr/>
        </p:nvSpPr>
        <p:spPr>
          <a:xfrm>
            <a:off x="10223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150,000</a:t>
            </a:r>
            <a:endParaRPr lang="en-US" sz="2000" dirty="0"/>
          </a:p>
        </p:txBody>
      </p:sp>
      <p:sp>
        <p:nvSpPr>
          <p:cNvPr id="6" name="Text 4"/>
          <p:cNvSpPr/>
          <p:nvPr/>
        </p:nvSpPr>
        <p:spPr>
          <a:xfrm>
            <a:off x="10223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accidents</a:t>
            </a:r>
            <a:endParaRPr lang="en-US" sz="1200" dirty="0"/>
          </a:p>
        </p:txBody>
      </p:sp>
      <p:sp>
        <p:nvSpPr>
          <p:cNvPr id="7" name="Shape 5"/>
          <p:cNvSpPr/>
          <p:nvPr/>
        </p:nvSpPr>
        <p:spPr>
          <a:xfrm>
            <a:off x="34956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8" name="Text 6"/>
          <p:cNvSpPr/>
          <p:nvPr/>
        </p:nvSpPr>
        <p:spPr>
          <a:xfrm>
            <a:off x="37020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2007–2025</a:t>
            </a:r>
            <a:endParaRPr lang="en-US" sz="2000" dirty="0"/>
          </a:p>
        </p:txBody>
      </p:sp>
      <p:sp>
        <p:nvSpPr>
          <p:cNvPr id="9" name="Text 7"/>
          <p:cNvSpPr/>
          <p:nvPr/>
        </p:nvSpPr>
        <p:spPr>
          <a:xfrm>
            <a:off x="37020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time span</a:t>
            </a:r>
            <a:endParaRPr lang="en-US" sz="1200" dirty="0"/>
          </a:p>
        </p:txBody>
      </p:sp>
      <p:sp>
        <p:nvSpPr>
          <p:cNvPr id="10" name="Shape 8"/>
          <p:cNvSpPr/>
          <p:nvPr/>
        </p:nvSpPr>
        <p:spPr>
          <a:xfrm>
            <a:off x="61753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1" name="Text 9"/>
          <p:cNvSpPr/>
          <p:nvPr/>
        </p:nvSpPr>
        <p:spPr>
          <a:xfrm>
            <a:off x="63817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23</a:t>
            </a:r>
            <a:endParaRPr lang="en-US" sz="2000" dirty="0"/>
          </a:p>
        </p:txBody>
      </p:sp>
      <p:sp>
        <p:nvSpPr>
          <p:cNvPr id="12" name="Text 10"/>
          <p:cNvSpPr/>
          <p:nvPr/>
        </p:nvSpPr>
        <p:spPr>
          <a:xfrm>
            <a:off x="63817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a:t>
            </a:r>
            <a:endParaRPr lang="en-US" sz="1200" dirty="0"/>
          </a:p>
        </p:txBody>
      </p:sp>
      <p:sp>
        <p:nvSpPr>
          <p:cNvPr id="13" name="Shape 11"/>
          <p:cNvSpPr/>
          <p:nvPr/>
        </p:nvSpPr>
        <p:spPr>
          <a:xfrm>
            <a:off x="88550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4" name="Text 12"/>
          <p:cNvSpPr/>
          <p:nvPr/>
        </p:nvSpPr>
        <p:spPr>
          <a:xfrm>
            <a:off x="90614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4.8%</a:t>
            </a:r>
            <a:endParaRPr lang="en-US" sz="2000" dirty="0"/>
          </a:p>
        </p:txBody>
      </p:sp>
      <p:sp>
        <p:nvSpPr>
          <p:cNvPr id="15" name="Text 13"/>
          <p:cNvSpPr/>
          <p:nvPr/>
        </p:nvSpPr>
        <p:spPr>
          <a:xfrm>
            <a:off x="90614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fatal accidents</a:t>
            </a:r>
            <a:endParaRPr lang="en-US" sz="1200" dirty="0"/>
          </a:p>
        </p:txBody>
      </p:sp>
      <p:sp>
        <p:nvSpPr>
          <p:cNvPr id="16" name="Text 14"/>
          <p:cNvSpPr/>
          <p:nvPr/>
        </p:nvSpPr>
        <p:spPr>
          <a:xfrm>
            <a:off x="910844" y="2757091"/>
            <a:ext cx="10777728" cy="126365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Target: </a:t>
            </a:r>
            <a:r>
              <a:rPr lang="en-US" sz="1300" dirty="0" b="0">
                <a:solidFill>
                  <a:srgbClr val="46516B"/>
                </a:solidFill>
                <a:latin typeface="Public Sans" pitchFamily="34" charset="0"/>
                <a:ea typeface="Public Sans" pitchFamily="34" charset="-122"/>
                <a:cs typeface="Public Sans" pitchFamily="34" charset="-120"/>
              </a:rPr>
              <a:t>47.3% no injuries · 47.9% injuries · 4.8% fatalities — fatal is rare, so accuracy is useless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Missing: </a:t>
            </a:r>
            <a:r>
              <a:rPr lang="en-US" sz="1300" dirty="0" b="0">
                <a:solidFill>
                  <a:srgbClr val="46516B"/>
                </a:solidFill>
                <a:latin typeface="Public Sans" pitchFamily="34" charset="0"/>
                <a:ea typeface="Public Sans" pitchFamily="34" charset="-122"/>
                <a:cs typeface="Public Sans" pitchFamily="34" charset="-120"/>
              </a:rPr>
              <a:t>latitude/longitude 71% missing (none 2007–2016, all from 2017: the “GPS cliff”); road_direction 90 rows; 1 corrupted row</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Unusual: </a:t>
            </a:r>
            <a:r>
              <a:rPr lang="en-US" sz="1300" dirty="0" b="0">
                <a:solidFill>
                  <a:srgbClr val="46516B"/>
                </a:solidFill>
                <a:latin typeface="Public Sans" pitchFamily="34" charset="0"/>
                <a:ea typeface="Public Sans" pitchFamily="34" charset="-122"/>
                <a:cs typeface="Public Sans" pitchFamily="34" charset="-120"/>
              </a:rPr>
              <a:t>6 accidents beyond 4,700 km (max 8,280), longer than any Brazilian highway; 3 coordinates outside Brazil; 49 exact duplicate rows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Risk signals: </a:t>
            </a:r>
            <a:r>
              <a:rPr lang="en-US" sz="1300" dirty="0" b="0">
                <a:solidFill>
                  <a:srgbClr val="46516B"/>
                </a:solidFill>
                <a:latin typeface="Public Sans" pitchFamily="34" charset="0"/>
                <a:ea typeface="Public Sans" pitchFamily="34" charset="-122"/>
                <a:cs typeface="Public Sans" pitchFamily="34" charset="-120"/>
              </a:rPr>
              <a:t>rural 6.5% vs. urban 3.1% fatal · morning 8.5% · downhill 9.3% · bridge 10.8%</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Near-empty: </a:t>
            </a:r>
            <a:r>
              <a:rPr lang="en-US" sz="1300" dirty="0" b="0">
                <a:solidFill>
                  <a:srgbClr val="46516B"/>
                </a:solidFill>
                <a:latin typeface="Public Sans" pitchFamily="34" charset="0"/>
                <a:ea typeface="Public Sans" pitchFamily="34" charset="-122"/>
                <a:cs typeface="Public Sans" pitchFamily="34" charset="-120"/>
              </a:rPr>
              <a:t>Tunnel (22 accidents), Temporary_Detour (144), Bridge (379)</a:t>
            </a:r>
            <a:endParaRPr lang="en-US" sz="1300" dirty="0"/>
          </a:p>
        </p:txBody>
      </p:sp>
      <p:sp>
        <p:nvSpPr>
          <p:cNvPr id="17" name="Text 1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8" name="Text 16"/>
          <p:cNvSpPr/>
          <p:nvPr/>
        </p:nvSpPr>
        <p:spPr>
          <a:xfrm>
            <a:off x="11191776" y="6238280"/>
            <a:ext cx="2382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Reporting changed in 2015, not road safety</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Period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Accidents / year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No 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Fatal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GPS coords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2007–2014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~11,400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35.2%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2015–2016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43.2%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2017–2025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~4,900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72.9%</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320653"/>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Online self-reporting (e-DAT, 2015) moved minor crashes out of police logs: the logged fatal share rose from 3.8% to 7.0%, but among crashes with victims it stayed around 9%. We split by time, re-calibrate on recent years, and never use year as a feature.</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Leakage check — the one test</a:t>
            </a:r>
            <a:endParaRPr lang="en-US" sz="3000" dirty="0"/>
          </a:p>
        </p:txBody>
      </p:sp>
      <p:sp>
        <p:nvSpPr>
          <p:cNvPr id="4" name="Text 2"/>
          <p:cNvSpPr/>
          <p:nvPr/>
        </p:nvSpPr>
        <p:spPr>
          <a:xfrm>
            <a:off x="812800" y="1642070"/>
            <a:ext cx="10566400" cy="640060"/>
          </a:xfrm>
          <a:prstGeom prst="roundRect">
            <a:avLst>
              <a:gd name="adj" fmla="val 11905"/>
            </a:avLst>
          </a:prstGeom>
          <a:solidFill>
            <a:srgbClr val="15213B"/>
          </a:solidFill>
          <a:ln/>
        </p:spPr>
        <p:txBody>
          <a:bodyPr wrap="square" lIns="231682" tIns="155482" rIns="0" bIns="130082" rtlCol="0" anchor="t">
            <a:normAutofit/>
          </a:bodyPr>
          <a:lstStyle/>
          <a:p>
            <a:pPr algn="l" indent="0" marL="0">
              <a:lnSpc>
                <a:spcPts val="2240"/>
              </a:lnSpc>
              <a:buNone/>
            </a:pPr>
            <a:r>
              <a:rPr lang="en-US" sz="1600" b="1" dirty="0">
                <a:solidFill>
                  <a:srgbClr val="F4F1E8"/>
                </a:solidFill>
                <a:latin typeface="Public Sans" pitchFamily="34" charset="0"/>
                <a:ea typeface="Public Sans" pitchFamily="34" charset="-122"/>
                <a:cs typeface="Public Sans" pitchFamily="34" charset="-120"/>
              </a:rPr>
              <a:t>Would I know this value on the date the score is used?</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472630"/>
          <a:ext cx="10553700" cy="2090043"/>
        </p:xfrm>
        <a:graphic>
          <a:graphicData uri="http://schemas.openxmlformats.org/drawingml/2006/table">
            <a:tbl>
              <a:tblPr/>
              <a:tblGrid>
                <a:gridCol w="3166110"/>
                <a:gridCol w="2955036"/>
                <a:gridCol w="4432554"/>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Candidate feature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Known at prediction time?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Verdict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Road &amp; infrastructure flags, km, highway type, area, time of day</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Latitude / longitude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 but only from 2017</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Drop — its missingness is a calendar flag that leaks the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Date / year</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Split only, never a feature — year encodes the recording regime; day of week &amp; month kept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Post-accident details (victims, vehicles)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Not in this dataset — no direct target leakage found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55177" y="6238280"/>
            <a:ext cx="1748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03</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preparation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continued. Turn raw rows into a trainable, leakage-free table.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we did: leakage-free by design</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Cleaned: </a:t>
            </a:r>
            <a:r>
              <a:rPr lang="en-US" sz="1300" dirty="0" b="0">
                <a:solidFill>
                  <a:srgbClr val="46516B"/>
                </a:solidFill>
                <a:latin typeface="Public Sans" pitchFamily="34" charset="0"/>
                <a:ea typeface="Public Sans" pitchFamily="34" charset="-122"/>
                <a:cs typeface="Public Sans" pitchFamily="34" charset="-120"/>
              </a:rPr>
              <a:t>dropped corrupted row 57163; excluded latitude/longitude (GPS cliff) and date/year (reporting drift)</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Split by time, </a:t>
            </a:r>
            <a:r>
              <a:rPr lang="en-US" sz="1300" dirty="0" b="0">
                <a:solidFill>
                  <a:srgbClr val="46516B"/>
                </a:solidFill>
                <a:latin typeface="Public Sans" pitchFamily="34" charset="0"/>
                <a:ea typeface="Public Sans" pitchFamily="34" charset="-122"/>
                <a:cs typeface="Public Sans" pitchFamily="34" charset="-120"/>
              </a:rPr>
              <a:t>not randomly: train 2007–2021 · validate 2022–2023 · test 2024–2025</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Fitted on train only: </a:t>
            </a:r>
            <a:r>
              <a:rPr lang="en-US" sz="1300" dirty="0" b="0">
                <a:solidFill>
                  <a:srgbClr val="46516B"/>
                </a:solidFill>
                <a:latin typeface="Public Sans" pitchFamily="34" charset="0"/>
                <a:ea typeface="Public Sans" pitchFamily="34" charset="-122"/>
                <a:cs typeface="Public Sans" pitchFamily="34" charset="-120"/>
              </a:rPr>
              <a:t>imputation, km cap, segment risk, encoders and scalers — no information from the future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road_direction: </a:t>
            </a:r>
            <a:r>
              <a:rPr lang="en-US" sz="1300" dirty="0" b="0">
                <a:solidFill>
                  <a:srgbClr val="46516B"/>
                </a:solidFill>
                <a:latin typeface="Public Sans" pitchFamily="34" charset="0"/>
                <a:ea typeface="Public Sans" pitchFamily="34" charset="-122"/>
                <a:cs typeface="Public Sans" pitchFamily="34" charset="-120"/>
              </a:rPr>
              <a:t>90 missing (0.06%) filled with the train mode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km: </a:t>
            </a:r>
            <a:r>
              <a:rPr lang="en-US" sz="1300" dirty="0" b="0">
                <a:solidFill>
                  <a:srgbClr val="46516B"/>
                </a:solidFill>
                <a:latin typeface="Public Sans" pitchFamily="34" charset="0"/>
                <a:ea typeface="Public Sans" pitchFamily="34" charset="-122"/>
                <a:cs typeface="Public Sans" pitchFamily="34" charset="-120"/>
              </a:rPr>
              <a:t>6 impossible values (&gt; 4,700 km) capped; all plausible values untouched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Calendar features: </a:t>
            </a:r>
            <a:r>
              <a:rPr lang="en-US" sz="1300" dirty="0" b="0">
                <a:solidFill>
                  <a:srgbClr val="46516B"/>
                </a:solidFill>
                <a:latin typeface="Public Sans" pitchFamily="34" charset="0"/>
                <a:ea typeface="Public Sans" pitchFamily="34" charset="-122"/>
                <a:cs typeface="Public Sans" pitchFamily="34" charset="-120"/>
              </a:rPr>
              <a:t>day of week, weekend flag, cyclical month — Sunday crashes 6.6% fatal vs. ~4.1% on weekdays</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Historical segment risk: </a:t>
            </a:r>
            <a:r>
              <a:rPr lang="en-US" sz="1300" dirty="0" b="0">
                <a:solidFill>
                  <a:srgbClr val="46516B"/>
                </a:solidFill>
                <a:latin typeface="Public Sans" pitchFamily="34" charset="0"/>
                <a:ea typeface="Public Sans" pitchFamily="34" charset="-122"/>
                <a:cs typeface="Public Sans" pitchFamily="34" charset="-120"/>
              </a:rPr>
              <a:t>past fatality rate of highway type × 50-km band × area (out-of-fold, smoothed)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Encoding: </a:t>
            </a:r>
            <a:r>
              <a:rPr lang="en-US" sz="1300" dirty="0" b="0">
                <a:solidFill>
                  <a:srgbClr val="46516B"/>
                </a:solidFill>
                <a:latin typeface="Public Sans" pitchFamily="34" charset="0"/>
                <a:ea typeface="Public Sans" pitchFamily="34" charset="-122"/>
                <a:cs typeface="Public Sans" pitchFamily="34" charset="-120"/>
              </a:rPr>
              <a:t>coded categories one-hot encoded, numeric features scaled; rare fatal class handled with class weights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New features earn their place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Feature set (balanced logistic regression)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PR-AUC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ROC-AUC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Baseline features (19)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0.1234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0.6705</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Reference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day of week, weekend flag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0.6711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historical segment risk</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0.6751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All engineered features (24)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0.1273</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0.6739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Used for the Task 3 models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572000"/>
            <a:ext cx="10566400" cy="77724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Scored on validation 2022–2023 only; the test set stays untouched. Cyclical month and grouped rare flags added nothing for a linear model — month is kept for tree models.</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04</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Predictive modelling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3 — 25% of the grade. Beat a baseline, on data the model has never seen.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Benchmark ladder — what must we beat?</a:t>
            </a:r>
            <a:endParaRPr lang="en-US" sz="3000" dirty="0"/>
          </a:p>
        </p:txBody>
      </p:sp>
      <p:sp>
        <p:nvSpPr>
          <p:cNvPr id="4" name="Shape 2"/>
          <p:cNvSpPr/>
          <p:nvPr/>
        </p:nvSpPr>
        <p:spPr>
          <a:xfrm>
            <a:off x="812800" y="1642070"/>
            <a:ext cx="10566400" cy="485130"/>
          </a:xfrm>
          <a:prstGeom prst="roundRect">
            <a:avLst>
              <a:gd name="adj" fmla="val 13089"/>
            </a:avLst>
          </a:prstGeom>
          <a:solidFill>
            <a:srgbClr val="15213B"/>
          </a:solidFill>
          <a:ln/>
        </p:spPr>
        <p:txBody>
          <a:bodyPr/>
          <a:p/>
        </p:txBody>
      </p:sp>
      <p:sp>
        <p:nvSpPr>
          <p:cNvPr id="5" name="Text 3"/>
          <p:cNvSpPr/>
          <p:nvPr/>
        </p:nvSpPr>
        <p:spPr>
          <a:xfrm>
            <a:off x="1016000" y="176907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F1E8"/>
                </a:solidFill>
                <a:latin typeface="Public Sans" pitchFamily="34" charset="0"/>
                <a:ea typeface="Public Sans" pitchFamily="34" charset="-122"/>
                <a:cs typeface="Public Sans" pitchFamily="34" charset="-120"/>
              </a:rPr>
              <a:t>Our model (target)</a:t>
            </a:r>
            <a:endParaRPr lang="en-US" sz="1300" dirty="0"/>
          </a:p>
        </p:txBody>
      </p:sp>
      <p:sp>
        <p:nvSpPr>
          <p:cNvPr id="6" name="Text 4"/>
          <p:cNvSpPr/>
          <p:nvPr/>
        </p:nvSpPr>
        <p:spPr>
          <a:xfrm>
            <a:off x="4114800" y="1777950"/>
            <a:ext cx="72730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7CCDD"/>
                </a:solidFill>
                <a:latin typeface="Public Sans" pitchFamily="34" charset="0"/>
                <a:ea typeface="Public Sans" pitchFamily="34" charset="-122"/>
                <a:cs typeface="Public Sans" pitchFamily="34" charset="-120"/>
              </a:rPr>
              <a:t>Gradient Boosting (Pedro): PR-AUC 0.126, lift 2.10× · MLP (Nuno): PR-AUC 0.118, lift 2.08×</a:t>
            </a:r>
            <a:endParaRPr lang="en-US" sz="1200" dirty="0"/>
          </a:p>
        </p:txBody>
      </p:sp>
      <p:sp>
        <p:nvSpPr>
          <p:cNvPr id="7" name="Shape 5"/>
          <p:cNvSpPr/>
          <p:nvPr/>
        </p:nvSpPr>
        <p:spPr>
          <a:xfrm>
            <a:off x="815975" y="219387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8" name="Text 6"/>
          <p:cNvSpPr/>
          <p:nvPr/>
        </p:nvSpPr>
        <p:spPr>
          <a:xfrm>
            <a:off x="1022350" y="232405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Business rule / expert heuristic</a:t>
            </a:r>
            <a:endParaRPr lang="en-US" sz="1300" dirty="0"/>
          </a:p>
        </p:txBody>
      </p:sp>
      <p:sp>
        <p:nvSpPr>
          <p:cNvPr id="9" name="Text 7"/>
          <p:cNvSpPr/>
          <p:nvPr/>
        </p:nvSpPr>
        <p:spPr>
          <a:xfrm>
            <a:off x="4121150" y="2332930"/>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e.g. send ALS to every rural, night-time or downhill crash [to test]</a:t>
            </a:r>
            <a:endParaRPr lang="en-US" sz="1200" dirty="0"/>
          </a:p>
        </p:txBody>
      </p:sp>
      <p:sp>
        <p:nvSpPr>
          <p:cNvPr id="10" name="Shape 8"/>
          <p:cNvSpPr/>
          <p:nvPr/>
        </p:nvSpPr>
        <p:spPr>
          <a:xfrm>
            <a:off x="815975" y="275520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1" name="Text 9"/>
          <p:cNvSpPr/>
          <p:nvPr/>
        </p:nvSpPr>
        <p:spPr>
          <a:xfrm>
            <a:off x="1022350" y="288538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Minimally viable</a:t>
            </a:r>
            <a:endParaRPr lang="en-US" sz="1300" dirty="0"/>
          </a:p>
        </p:txBody>
      </p:sp>
      <p:sp>
        <p:nvSpPr>
          <p:cNvPr id="12" name="Text 10"/>
          <p:cNvSpPr/>
          <p:nvPr/>
        </p:nvSpPr>
        <p:spPr>
          <a:xfrm>
            <a:off x="4121150" y="289426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Balanced logistic regression: PR-AUC 0.122, finds fatal crashes 2.08× better than random</a:t>
            </a:r>
            <a:endParaRPr lang="en-US" sz="1200" dirty="0"/>
          </a:p>
        </p:txBody>
      </p:sp>
      <p:sp>
        <p:nvSpPr>
          <p:cNvPr id="13" name="Shape 11"/>
          <p:cNvSpPr/>
          <p:nvPr/>
        </p:nvSpPr>
        <p:spPr>
          <a:xfrm>
            <a:off x="815975" y="331653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4" name="Text 12"/>
          <p:cNvSpPr/>
          <p:nvPr/>
        </p:nvSpPr>
        <p:spPr>
          <a:xfrm>
            <a:off x="1022350" y="344671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Dumb baseline</a:t>
            </a:r>
            <a:endParaRPr lang="en-US" sz="1300" dirty="0"/>
          </a:p>
        </p:txBody>
      </p:sp>
      <p:sp>
        <p:nvSpPr>
          <p:cNvPr id="15" name="Text 13"/>
          <p:cNvSpPr/>
          <p:nvPr/>
        </p:nvSpPr>
        <p:spPr>
          <a:xfrm>
            <a:off x="4121150" y="345559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Majority class: 92.9% accuracy, catches 0% of fatal crashes</a:t>
            </a:r>
            <a:endParaRPr lang="en-US" sz="1200" dirty="0"/>
          </a:p>
        </p:txBody>
      </p:sp>
      <p:sp>
        <p:nvSpPr>
          <p:cNvPr id="16" name="Shape 14"/>
          <p:cNvSpPr/>
          <p:nvPr/>
        </p:nvSpPr>
        <p:spPr>
          <a:xfrm>
            <a:off x="815975" y="387786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7" name="Text 15"/>
          <p:cNvSpPr/>
          <p:nvPr/>
        </p:nvSpPr>
        <p:spPr>
          <a:xfrm>
            <a:off x="1022350" y="400804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Random</a:t>
            </a:r>
            <a:endParaRPr lang="en-US" sz="1300" dirty="0"/>
          </a:p>
        </p:txBody>
      </p:sp>
      <p:sp>
        <p:nvSpPr>
          <p:cNvPr id="18" name="Text 16"/>
          <p:cNvSpPr/>
          <p:nvPr/>
        </p:nvSpPr>
        <p:spPr>
          <a:xfrm>
            <a:off x="4121150" y="401692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Top-15% pick catches 15% of fatal crashes (lift 1.00×) · PR-AUC 0.071</a:t>
            </a:r>
            <a:endParaRPr lang="en-US" sz="12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19607" y="6238280"/>
            <a:ext cx="2103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Models to compare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2743962"/>
                <a:gridCol w="4643628"/>
                <a:gridCol w="316611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Approach</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Why include it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Status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Baseline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Establishes the floor every model must beat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Simple, interpretable, fast to explain to the authority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Learns interactions of road, place and time (e.g. rural × night × downhill); Random Forest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network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Different bias from trees: smooth combinations of all features; bag of 5 networks on undersampled data; LDA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85032"/>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16B"/>
                </a:solidFill>
                <a:latin typeface="Public Sans" pitchFamily="34" charset="0"/>
                <a:ea typeface="Public Sans" pitchFamily="34" charset="-122"/>
                <a:cs typeface="Public Sans" pitchFamily="34" charset="-120"/>
              </a:rPr>
              <a:t>Same rules for every model: out-of-time split, tuned on validation only, probabilities re-calibrated, scored once on test 2024–25 with PR-AUC, recall &amp; lift @ top 15% and Brier.</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2286" y="6238280"/>
            <a:ext cx="2077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Baseline results: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0.255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isotonic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11880"/>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The baseline finds fatal crashes 2× better than chance. Class balancing inflates probabilities (Brier 0.255); calibrating on validation fixes it (0.065) without hurting ranking. At p* = 5%, 63% of calls qualify but ALS serves 15%: capacity, not the threshold, is the limit.</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1 — Gradient Boosting (tree ensemble)</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Histogram Gradient Boosting, compared with a Random Forest; class weights for the 5% fatal rate, no scaling needed.</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Why: fatality risk comes from combinations (rural × night × downhill); trees learn these interactions without hand-crafting.</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Tuning on validation 2022–23: 13 configs. Small, regularised trees won (lr 0.03, 15 leaves, 150 trees); training on 2015+ only gave no gain.</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Validation: PR-AUC 0.134, lift 2.24×. Test 2024–25: PR-AUC 0.126, recall 31.5%, lift 2.10×, Brier 0.064 after sigmoid calibration.</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Top drivers: time of day, roadway type, historical segment risk, then downhill, rural area and day of week (matches the EDA).</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20</a:t>
            </a:r>
            <a:endParaRPr lang="en-US" sz="1200" dirty="0"/>
          </a:p>
        </p:txBody>
      </p:sp>
      <p:pic>
        <p:nvPicPr>
          <p:cNvPr id="7" name="Picture 6" descr="task3_trees_feature_importance.png"/>
          <p:cNvPicPr>
            <a:picLocks noChangeAspect="1"/>
          </p:cNvPicPr>
          <p:nvPr/>
        </p:nvPicPr>
        <p:blipFill>
          <a:blip r:embed="rId2"/>
          <a:stretch>
            <a:fillRect/>
          </a:stretch>
        </p:blipFill>
        <p:spPr>
          <a:xfrm>
            <a:off x="910844" y="3500000"/>
            <a:ext cx="3290000" cy="2350000"/>
          </a:xfrm>
          <a:prstGeom prst="rect">
            <a:avLst/>
          </a:prstGeom>
        </p:spPr>
      </p:pic>
      <p:pic>
        <p:nvPicPr>
          <p:cNvPr id="8" name="Picture 7" descr="task3_trees_pr_curve.png"/>
          <p:cNvPicPr>
            <a:picLocks noChangeAspect="1"/>
          </p:cNvPicPr>
          <p:nvPr/>
        </p:nvPicPr>
        <p:blipFill>
          <a:blip r:embed="rId3"/>
          <a:stretch>
            <a:fillRect/>
          </a:stretch>
        </p:blipFill>
        <p:spPr>
          <a:xfrm>
            <a:off x="4500844" y="3500000"/>
            <a:ext cx="3290000" cy="235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2 — MLP neural network (non-tree)</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Bag of 5 MLPs (32 → 16 neurons) on the one-hot encoded, scaled features; compared with LDA (linear discriminant analysis).</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Why: a different bias from trees (smooth combinations of all features), so it tests whether the ceiling is the algorithm or the data.</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Imbalance &amp; tuning on validation 2022–23: each network sees all fatal crashes + an equal random sample of non-fatal ones; 8 configs. One network varied 0.115–0.125 PR-AUC by seed alone; the average of 5 gave 0.130.</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Validation: PR-AUC 0.130, lift 2.17×. Test 2024–25: PR-AUC 0.118, recall 31.2%, lift 2.08×, Brier 0.065 after sigmoid calibration. LDA: lift 1.88×.</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Top drivers: time of day, roadway type, segment risk, downhill / uphill — the same as Gradient Boosting.</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21</a:t>
            </a:r>
            <a:endParaRPr lang="en-US" sz="1200" dirty="0"/>
          </a:p>
        </p:txBody>
      </p:sp>
      <p:pic>
        <p:nvPicPr>
          <p:cNvPr id="7" name="Picture 6" descr="task3_nontree_pr_curve.png"/>
          <p:cNvPicPr>
            <a:picLocks noChangeAspect="1"/>
          </p:cNvPicPr>
          <p:nvPr/>
        </p:nvPicPr>
        <p:blipFill>
          <a:blip r:embed="rId2"/>
          <a:stretch>
            <a:fillRect/>
          </a:stretch>
        </p:blipFill>
        <p:spPr>
          <a:xfrm>
            <a:off x="910844" y="3500000"/>
            <a:ext cx="3309184" cy="2350000"/>
          </a:xfrm>
          <a:prstGeom prst="rect">
            <a:avLst/>
          </a:prstGeom>
        </p:spPr>
      </p:pic>
      <p:pic>
        <p:nvPicPr>
          <p:cNvPr id="8" name="Picture 7" descr="task3_nontree_feature_importance.png"/>
          <p:cNvPicPr>
            <a:picLocks noChangeAspect="1"/>
          </p:cNvPicPr>
          <p:nvPr/>
        </p:nvPicPr>
        <p:blipFill>
          <a:blip r:embed="rId3"/>
          <a:stretch>
            <a:fillRect/>
          </a:stretch>
        </p:blipFill>
        <p:spPr>
          <a:xfrm>
            <a:off x="4500844" y="3500000"/>
            <a:ext cx="5702347" cy="2350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Final comparison: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LR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0.673</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 (5-bag)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114800"/>
            <a:ext cx="10566400" cy="115000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Winner, chosen on validation 2022–23 and confirmed on test: Gradient Boosting reaches 31.5% of fatal crashes with 15% of ALS capacity (225 of 715 in 2024–25), 2.1× random. The MLP reaches 223 and the baseline 222: three model families hit the same ceiling — with only road, location and time at t=0, the data limits ranking, not the algorithm. Random Forest (2.08×) and LDA (1.88×) are in the notebook.</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05</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Conclusions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What we found, what we'd still need, and what comes next.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05 · CONCLUSIONS</a:t>
            </a:r>
            <a:endParaRPr lang="en-US" sz="1200" dirty="0"/>
          </a:p>
        </p:txBody>
      </p:sp>
      <p:sp>
        <p:nvSpPr>
          <p:cNvPr id="3" name="Text 1"/>
          <p:cNvSpPr/>
          <p:nvPr>
            <p:ph type="title"/>
          </p:nvPr>
        </p:nvSpPr>
        <p:spPr>
          <a:xfrm>
            <a:off x="812800" y="10261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13B"/>
                </a:solidFill>
                <a:latin typeface="Libre Baskerville" pitchFamily="18" charset="0"/>
                <a:ea typeface="Libre Baskerville" pitchFamily="18" charset="-122"/>
                <a:cs typeface="Libre Baskerville" pitchFamily="18" charset="-120"/>
              </a:rPr>
              <a:t>Findings, limitations &amp; future work</a:t>
            </a:r>
            <a:endParaRPr lang="en-US" sz="2800" dirty="0"/>
          </a:p>
        </p:txBody>
      </p:sp>
      <p:sp>
        <p:nvSpPr>
          <p:cNvPr id="4" name="Shape 2"/>
          <p:cNvSpPr/>
          <p:nvPr/>
        </p:nvSpPr>
        <p:spPr>
          <a:xfrm>
            <a:off x="815975" y="155252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5" name="Text 3"/>
          <p:cNvSpPr/>
          <p:nvPr/>
        </p:nvSpPr>
        <p:spPr>
          <a:xfrm>
            <a:off x="1022350" y="169540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Key finding</a:t>
            </a:r>
            <a:endParaRPr lang="en-US" sz="1300" dirty="0"/>
          </a:p>
        </p:txBody>
      </p:sp>
      <p:sp>
        <p:nvSpPr>
          <p:cNvPr id="6" name="Text 4"/>
          <p:cNvSpPr/>
          <p:nvPr/>
        </p:nvSpPr>
        <p:spPr>
          <a:xfrm>
            <a:off x="3333750" y="169540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Gradient Boosting: 31.5% of fatal crashes with 15% of ALS capacity (2.1× random); MLP &amp; LR within 3 crashes</a:t>
            </a:r>
            <a:endParaRPr lang="en-US" sz="1300" dirty="0"/>
          </a:p>
        </p:txBody>
      </p:sp>
      <p:sp>
        <p:nvSpPr>
          <p:cNvPr id="7" name="Shape 5"/>
          <p:cNvSpPr/>
          <p:nvPr/>
        </p:nvSpPr>
        <p:spPr>
          <a:xfrm>
            <a:off x="815975" y="215195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8" name="Text 6"/>
          <p:cNvSpPr/>
          <p:nvPr/>
        </p:nvSpPr>
        <p:spPr>
          <a:xfrm>
            <a:off x="1022350" y="229483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Actionable insight</a:t>
            </a:r>
            <a:endParaRPr lang="en-US" sz="1300" dirty="0"/>
          </a:p>
        </p:txBody>
      </p:sp>
      <p:sp>
        <p:nvSpPr>
          <p:cNvPr id="9" name="Text 7"/>
          <p:cNvSpPr/>
          <p:nvPr/>
        </p:nvSpPr>
        <p:spPr>
          <a:xfrm>
            <a:off x="3333750" y="229483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Send ALS to the top-15% risk calls (≈ €585k per 1,000 calls vs. random) · base ALS near North-East hotspots</a:t>
            </a:r>
            <a:endParaRPr lang="en-US" sz="1300" dirty="0"/>
          </a:p>
        </p:txBody>
      </p:sp>
      <p:sp>
        <p:nvSpPr>
          <p:cNvPr id="10" name="Shape 8"/>
          <p:cNvSpPr/>
          <p:nvPr/>
        </p:nvSpPr>
        <p:spPr>
          <a:xfrm>
            <a:off x="815975" y="2751386"/>
            <a:ext cx="10560050" cy="748010"/>
          </a:xfrm>
          <a:prstGeom prst="roundRect">
            <a:avLst>
              <a:gd name="adj" fmla="val 9763"/>
            </a:avLst>
          </a:prstGeom>
          <a:solidFill>
            <a:srgbClr val="FDFDFB"/>
          </a:solidFill>
          <a:ln w="6350">
            <a:solidFill>
              <a:srgbClr val="E2DFD6"/>
            </a:solidFill>
            <a:prstDash val="solid"/>
          </a:ln>
        </p:spPr>
        <p:txBody>
          <a:bodyPr/>
          <a:p/>
        </p:txBody>
      </p:sp>
      <p:sp>
        <p:nvSpPr>
          <p:cNvPr id="11" name="Text 9"/>
          <p:cNvSpPr/>
          <p:nvPr/>
        </p:nvSpPr>
        <p:spPr>
          <a:xfrm>
            <a:off x="1022350" y="2894261"/>
            <a:ext cx="2223770"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Limitations</a:t>
            </a:r>
            <a:endParaRPr lang="en-US" sz="1300" dirty="0"/>
          </a:p>
        </p:txBody>
      </p:sp>
      <p:sp>
        <p:nvSpPr>
          <p:cNvPr id="12" name="Text 10"/>
          <p:cNvSpPr/>
          <p:nvPr/>
        </p:nvSpPr>
        <p:spPr>
          <a:xfrm>
            <a:off x="3333750" y="2894261"/>
            <a:ext cx="8070977"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Reporting change in 2015 (e-DAT) limits older data · GPS only from 2017 and no highway ID, so location is approximate · no traffic, weather or caller information · 150,000-row sample</a:t>
            </a:r>
            <a:endParaRPr lang="en-US" sz="1300" dirty="0"/>
          </a:p>
        </p:txBody>
      </p:sp>
      <p:sp>
        <p:nvSpPr>
          <p:cNvPr id="13" name="Shape 11"/>
          <p:cNvSpPr/>
          <p:nvPr/>
        </p:nvSpPr>
        <p:spPr>
          <a:xfrm>
            <a:off x="815975" y="3581946"/>
            <a:ext cx="10560050" cy="516880"/>
          </a:xfrm>
          <a:prstGeom prst="roundRect">
            <a:avLst>
              <a:gd name="adj" fmla="val 14128"/>
            </a:avLst>
          </a:prstGeom>
          <a:solidFill>
            <a:srgbClr val="FDFDFB"/>
          </a:solidFill>
          <a:ln w="6350">
            <a:solidFill>
              <a:srgbClr val="E2DFD6"/>
            </a:solidFill>
            <a:prstDash val="solid"/>
          </a:ln>
        </p:spPr>
        <p:txBody>
          <a:bodyPr/>
          <a:p/>
        </p:txBody>
      </p:sp>
      <p:sp>
        <p:nvSpPr>
          <p:cNvPr id="14" name="Text 12"/>
          <p:cNvSpPr/>
          <p:nvPr/>
        </p:nvSpPr>
        <p:spPr>
          <a:xfrm>
            <a:off x="1022350" y="3724821"/>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Future work</a:t>
            </a:r>
            <a:endParaRPr lang="en-US" sz="1300" dirty="0"/>
          </a:p>
        </p:txBody>
      </p:sp>
      <p:sp>
        <p:nvSpPr>
          <p:cNvPr id="15" name="Text 13"/>
          <p:cNvSpPr/>
          <p:nvPr/>
        </p:nvSpPr>
        <p:spPr>
          <a:xfrm>
            <a:off x="3333750" y="3724821"/>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Collect GPS at every call and retrain with location risk (test PR-AUC 0.131 → 0.141) · add weather, traffic &amp; caller details</a:t>
            </a:r>
            <a:endParaRPr lang="en-US" sz="1300" dirty="0"/>
          </a:p>
        </p:txBody>
      </p:sp>
      <p:sp>
        <p:nvSpPr>
          <p:cNvPr id="16" name="Text 14"/>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7" name="Text 15"/>
          <p:cNvSpPr/>
          <p:nvPr/>
        </p:nvSpPr>
        <p:spPr>
          <a:xfrm>
            <a:off x="11218466" y="6238280"/>
            <a:ext cx="2115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06</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Annexes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Details for questions, not presented in the 10 minutes.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How historical segment risk avoids leakage</a:t>
            </a:r>
            <a:endParaRPr lang="en-US" sz="3000" dirty="0"/>
          </a:p>
        </p:txBody>
      </p:sp>
      <p:sp>
        <p:nvSpPr>
          <p:cNvPr id="4" name="Shape 2"/>
          <p:cNvSpPr/>
          <p:nvPr/>
        </p:nvSpPr>
        <p:spPr>
          <a:xfrm>
            <a:off x="815975" y="1670645"/>
            <a:ext cx="10560050" cy="534640"/>
          </a:xfrm>
          <a:prstGeom prst="roundRect">
            <a:avLst>
              <a:gd name="adj" fmla="val 11283"/>
            </a:avLst>
          </a:prstGeom>
          <a:solidFill>
            <a:srgbClr val="FDFDFB"/>
          </a:solidFill>
          <a:ln w="6350">
            <a:solidFill>
              <a:srgbClr val="E2DFD6"/>
            </a:solidFill>
            <a:prstDash val="solid"/>
          </a:ln>
        </p:spPr>
        <p:txBody>
          <a:bodyPr/>
          <a:p/>
        </p:txBody>
      </p:sp>
      <p:sp>
        <p:nvSpPr>
          <p:cNvPr id="5" name="Text 3"/>
          <p:cNvSpPr/>
          <p:nvPr/>
        </p:nvSpPr>
        <p:spPr>
          <a:xfrm>
            <a:off x="1022350" y="1813520"/>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Segment</a:t>
            </a:r>
            <a:endParaRPr lang="en-US" sz="1400" dirty="0"/>
          </a:p>
        </p:txBody>
      </p:sp>
      <p:sp>
        <p:nvSpPr>
          <p:cNvPr id="6" name="Text 4"/>
          <p:cNvSpPr/>
          <p:nvPr/>
        </p:nvSpPr>
        <p:spPr>
          <a:xfrm>
            <a:off x="2978150" y="1813520"/>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Highway type × 50-km band × area type (218 segments) — GPS is missing before 2017</a:t>
            </a:r>
            <a:endParaRPr lang="en-US" sz="1400" dirty="0"/>
          </a:p>
        </p:txBody>
      </p:sp>
      <p:sp>
        <p:nvSpPr>
          <p:cNvPr id="7" name="Shape 5"/>
          <p:cNvSpPr/>
          <p:nvPr/>
        </p:nvSpPr>
        <p:spPr>
          <a:xfrm>
            <a:off x="815975" y="228783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8" name="Text 6"/>
          <p:cNvSpPr/>
          <p:nvPr/>
        </p:nvSpPr>
        <p:spPr>
          <a:xfrm>
            <a:off x="1022350" y="243071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Risk</a:t>
            </a:r>
            <a:endParaRPr lang="en-US" sz="1400" dirty="0"/>
          </a:p>
        </p:txBody>
      </p:sp>
      <p:sp>
        <p:nvSpPr>
          <p:cNvPr id="9" name="Text 7"/>
          <p:cNvSpPr/>
          <p:nvPr/>
        </p:nvSpPr>
        <p:spPr>
          <a:xfrm>
            <a:off x="2978150" y="243071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Past fatality rate of the segment, computed on train years 2007–2021 only</a:t>
            </a:r>
            <a:endParaRPr lang="en-US" sz="1400" dirty="0"/>
          </a:p>
        </p:txBody>
      </p:sp>
      <p:sp>
        <p:nvSpPr>
          <p:cNvPr id="10" name="Shape 8"/>
          <p:cNvSpPr/>
          <p:nvPr/>
        </p:nvSpPr>
        <p:spPr>
          <a:xfrm>
            <a:off x="815975" y="290502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11" name="Text 9"/>
          <p:cNvSpPr/>
          <p:nvPr/>
        </p:nvSpPr>
        <p:spPr>
          <a:xfrm>
            <a:off x="1022350" y="304790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Out-of-fold</a:t>
            </a:r>
            <a:endParaRPr lang="en-US" sz="1400" dirty="0"/>
          </a:p>
        </p:txBody>
      </p:sp>
      <p:sp>
        <p:nvSpPr>
          <p:cNvPr id="12" name="Text 10"/>
          <p:cNvSpPr/>
          <p:nvPr/>
        </p:nvSpPr>
        <p:spPr>
          <a:xfrm>
            <a:off x="2978150" y="304790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Each train crash gets the rate from the other 4 folds — it never sees its own label</a:t>
            </a:r>
            <a:endParaRPr lang="en-US" sz="1400" dirty="0"/>
          </a:p>
        </p:txBody>
      </p:sp>
      <p:sp>
        <p:nvSpPr>
          <p:cNvPr id="13" name="Shape 11"/>
          <p:cNvSpPr/>
          <p:nvPr/>
        </p:nvSpPr>
        <p:spPr>
          <a:xfrm>
            <a:off x="812800" y="3519041"/>
            <a:ext cx="10566400" cy="528290"/>
          </a:xfrm>
          <a:prstGeom prst="roundRect">
            <a:avLst>
              <a:gd name="adj" fmla="val 12020"/>
            </a:avLst>
          </a:prstGeom>
          <a:solidFill>
            <a:srgbClr val="15213B"/>
          </a:solidFill>
          <a:ln/>
        </p:spPr>
        <p:txBody>
          <a:bodyPr/>
          <a:p/>
        </p:txBody>
      </p:sp>
      <p:sp>
        <p:nvSpPr>
          <p:cNvPr id="14" name="Text 12"/>
          <p:cNvSpPr/>
          <p:nvPr/>
        </p:nvSpPr>
        <p:spPr>
          <a:xfrm>
            <a:off x="1016000" y="365874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Smoothing</a:t>
            </a:r>
            <a:endParaRPr lang="en-US" sz="1400" dirty="0"/>
          </a:p>
        </p:txBody>
      </p:sp>
      <p:sp>
        <p:nvSpPr>
          <p:cNvPr id="15" name="Text 13"/>
          <p:cNvSpPr/>
          <p:nvPr/>
        </p:nvSpPr>
        <p:spPr>
          <a:xfrm>
            <a:off x="2971800" y="365874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Small segments are pulled toward the overall train rate (weight of 50 crashes)</a:t>
            </a:r>
            <a:endParaRPr lang="en-US" sz="1400" dirty="0"/>
          </a:p>
        </p:txBody>
      </p:sp>
      <p:sp>
        <p:nvSpPr>
          <p:cNvPr id="16" name="Shape 14"/>
          <p:cNvSpPr/>
          <p:nvPr/>
        </p:nvSpPr>
        <p:spPr>
          <a:xfrm>
            <a:off x="812800" y="4123531"/>
            <a:ext cx="10566400" cy="528290"/>
          </a:xfrm>
          <a:prstGeom prst="roundRect">
            <a:avLst>
              <a:gd name="adj" fmla="val 12020"/>
            </a:avLst>
          </a:prstGeom>
          <a:solidFill>
            <a:srgbClr val="15213B"/>
          </a:solidFill>
          <a:ln/>
        </p:spPr>
        <p:txBody>
          <a:bodyPr/>
          <a:p/>
        </p:txBody>
      </p:sp>
      <p:sp>
        <p:nvSpPr>
          <p:cNvPr id="17" name="Text 15"/>
          <p:cNvSpPr/>
          <p:nvPr/>
        </p:nvSpPr>
        <p:spPr>
          <a:xfrm>
            <a:off x="1016000" y="426323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Limitation</a:t>
            </a:r>
            <a:endParaRPr lang="en-US" sz="1400" dirty="0"/>
          </a:p>
        </p:txBody>
      </p:sp>
      <p:sp>
        <p:nvSpPr>
          <p:cNvPr id="18" name="Text 16"/>
          <p:cNvSpPr/>
          <p:nvPr/>
        </p:nvSpPr>
        <p:spPr>
          <a:xfrm>
            <a:off x="2971800" y="426323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highway ID: a segment pools the same km band of all highways of one type</a:t>
            </a:r>
            <a:endParaRPr lang="en-US" sz="14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22038" y="6238280"/>
            <a:ext cx="207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28</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Out-of-time split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2476500"/>
        </p:xfrm>
        <a:graphic>
          <a:graphicData uri="http://schemas.openxmlformats.org/drawingml/2006/table">
            <a:tbl>
              <a:tblPr/>
              <a:tblGrid>
                <a:gridCol w="7387590"/>
                <a:gridCol w="3166110"/>
              </a:tblGrid>
              <a:tr h="412750">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Set · years ·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Fatal rate</a:t>
                      </a:r>
                      <a:endParaRPr lang="en-US" sz="1500" dirty="0">
                        <a:latin typeface="Public Sans" charset="0"/>
                        <a:ea typeface="Public Sans" charset="0"/>
                        <a:cs typeface="Public Sans" charset="0"/>
                      </a:endParaRPr>
                    </a:p>
                  </a:txBody>
                  <a:tcPr marL="66675" marR="66675" marT="66675" marB="6667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Train · 2007–2021 · 130,870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4.49%</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Validation · 2022–2023 · 9,073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6.97%</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Test · 2024–2025 · 10,056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7.11%</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511296"/>
            <a:ext cx="10566400" cy="868680"/>
          </a:xfrm>
          <a:prstGeom prst="roundRect">
            <a:avLst>
              <a:gd name="adj" fmla="val 12606"/>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random shuffling: models learn from the past and are judged on the most recent years, as they would be used. The higher fatal rate in recent years comes from the 2015 reporting change — handled by calibrating on validation.</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29</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15213B"/>
        </a:solidFill>
      </p:bgPr>
    </p:bg>
    <p:spTree>
      <p:nvGrpSpPr>
        <p:cNvPr id="1" name=""/>
        <p:cNvGrpSpPr/>
        <p:nvPr/>
      </p:nvGrpSpPr>
      <p:grpSpPr>
        <a:xfrm>
          <a:off x="0" y="0"/>
          <a:ext cx="0" cy="0"/>
          <a:chOff x="0" y="0"/>
          <a:chExt cx="0" cy="0"/>
        </a:xfrm>
      </p:grpSpPr>
      <p:sp>
        <p:nvSpPr>
          <p:cNvPr id="2" name="Text 0"/>
          <p:cNvSpPr/>
          <p:nvPr>
            <p:ph type="title"/>
          </p:nvPr>
        </p:nvSpPr>
        <p:spPr>
          <a:xfrm>
            <a:off x="3915494" y="2644180"/>
            <a:ext cx="4360962" cy="723900"/>
          </a:xfrm>
          <a:prstGeom prst="rect">
            <a:avLst/>
          </a:prstGeom>
          <a:noFill/>
          <a:ln/>
        </p:spPr>
        <p:txBody>
          <a:bodyPr wrap="square" lIns="0" tIns="0" rIns="0" bIns="0" rtlCol="0" anchor="t">
            <a:normAutofit/>
          </a:bodyPr>
          <a:lstStyle/>
          <a:p>
            <a:pPr algn="ctr"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Thank you</a:t>
            </a:r>
            <a:endParaRPr lang="en-US" sz="5000" dirty="0"/>
          </a:p>
        </p:txBody>
      </p:sp>
      <p:sp>
        <p:nvSpPr>
          <p:cNvPr id="3" name="Text 1"/>
          <p:cNvSpPr/>
          <p:nvPr/>
        </p:nvSpPr>
        <p:spPr>
          <a:xfrm>
            <a:off x="4707081" y="3520480"/>
            <a:ext cx="2777788" cy="327620"/>
          </a:xfrm>
          <a:prstGeom prst="rect">
            <a:avLst/>
          </a:prstGeom>
          <a:noFill/>
          <a:ln/>
        </p:spPr>
        <p:txBody>
          <a:bodyPr wrap="square" lIns="0" tIns="0" rIns="0" bIns="0" rtlCol="0" anchor="t">
            <a:normAutofit/>
          </a:bodyPr>
          <a:lstStyle/>
          <a:p>
            <a:pPr algn="ctr" indent="0" marL="0">
              <a:lnSpc>
                <a:spcPts val="2380"/>
              </a:lnSpc>
              <a:buNone/>
            </a:pPr>
            <a:r>
              <a:rPr lang="en-US" sz="1700" dirty="0">
                <a:solidFill>
                  <a:srgbClr val="C7CCDD"/>
                </a:solidFill>
                <a:latin typeface="Public Sans" pitchFamily="34" charset="0"/>
                <a:ea typeface="Public Sans" pitchFamily="34" charset="-122"/>
                <a:cs typeface="Public Sans" pitchFamily="34" charset="-120"/>
              </a:rPr>
              <a:t>Questions &amp; discussion</a:t>
            </a:r>
            <a:endParaRPr lang="en-US" sz="1700" dirty="0"/>
          </a:p>
        </p:txBody>
      </p:sp>
      <p:sp>
        <p:nvSpPr>
          <p:cNvPr id="4" name="Text 2"/>
          <p:cNvSpPr/>
          <p:nvPr/>
        </p:nvSpPr>
        <p:spPr>
          <a:xfrm>
            <a:off x="1527048" y="4000500"/>
            <a:ext cx="91440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 · Predictive Analytics &amp; Forecasting · EMBAAI</a:t>
            </a:r>
            <a:endParaRPr lang="en-US" sz="12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is the model worth? Cost-benefit of ALS capacity</a:t>
            </a:r>
            <a:endParaRPr lang="en-US" sz="3000" dirty="0"/>
          </a:p>
        </p:txBody>
      </p:sp>
      <p:sp>
        <p:nvSpPr>
          <p:cNvPr id="4" name="Text 2"/>
          <p:cNvSpPr/>
          <p:nvPr/>
        </p:nvSpPr>
        <p:spPr>
          <a:xfrm>
            <a:off x="6400000" y="1642070"/>
            <a:ext cx="5288572" cy="43000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At 15% capacity, an ALS unit sent by the model reaches a fatal crash 14.9% of the time — vs. 7.1% when sent at random.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 €585k of value added per 1,000 calls vs. random dispatch (€2,500 per ALS, €50,000 per fatal crash reached).</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Robust to the €50k assumption: dispatch pays off once reaching a fatal crash is worth &gt; €16.8k with the model, vs. &gt; €35.2k at random.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Net benefit peaks at ~64% capacity: ALS is undersized, with diminishing returns — the first 15% is worth €743k per 1,000 calls, the next 10% only €278k more.</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23</a:t>
            </a:r>
            <a:endParaRPr lang="en-US" sz="1200" dirty="0"/>
          </a:p>
        </p:txBody>
      </p:sp>
      <p:pic>
        <p:nvPicPr>
          <p:cNvPr id="7" name="Picture 6" descr="task3_value_vs_capacity.png"/>
          <p:cNvPicPr>
            <a:picLocks noChangeAspect="1"/>
          </p:cNvPicPr>
          <p:nvPr/>
        </p:nvPicPr>
        <p:blipFill>
          <a:blip r:embed="rId2"/>
          <a:stretch>
            <a:fillRect/>
          </a:stretch>
        </p:blipFill>
        <p:spPr>
          <a:xfrm>
            <a:off x="812800" y="1642070"/>
            <a:ext cx="5400000" cy="3349367"/>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Fatal hotspots persist — and GPS is the missing signal</a:t>
            </a:r>
            <a:endParaRPr lang="en-US" sz="3000" dirty="0"/>
          </a:p>
        </p:txBody>
      </p:sp>
      <p:sp>
        <p:nvSpPr>
          <p:cNvPr id="4" name="Text 2"/>
          <p:cNvSpPr/>
          <p:nvPr/>
        </p:nvSpPr>
        <p:spPr>
          <a:xfrm>
            <a:off x="6400000" y="1642070"/>
            <a:ext cx="5288572" cy="43000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1° grid (≈ 110 km) on the GPS years 2017–2023; hotspots = riskiest cells holding 15% of crashes (109 cells).</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Checked on 2024–25, never seen: 14% of crashes but 25.5% of deaths; fatal rate 12.6% vs. 6.2% elsewhere.</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Highest risk in the North-East (Pernambuco, Bahia): candidate ALS / helicopter bases and inspections.</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Adding GPS cell risk to Gradient Boosting (train 2017–21): test PR-AUC 0.131 → 0.141, validation 0.132 → 0.153 — more than any change of algorithm.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Interactive Folium map: reports/figures/task3_hotspot_map.html</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24</a:t>
            </a:r>
            <a:endParaRPr lang="en-US" sz="1200" dirty="0"/>
          </a:p>
        </p:txBody>
      </p:sp>
      <p:pic>
        <p:nvPicPr>
          <p:cNvPr id="7" name="Picture 6" descr="task3_hotspots.png"/>
          <p:cNvPicPr>
            <a:picLocks noChangeAspect="1"/>
          </p:cNvPicPr>
          <p:nvPr/>
        </p:nvPicPr>
        <p:blipFill>
          <a:blip r:embed="rId2"/>
          <a:stretch>
            <a:fillRect/>
          </a:stretch>
        </p:blipFill>
        <p:spPr>
          <a:xfrm>
            <a:off x="812800" y="1642070"/>
            <a:ext cx="4416202" cy="4450000"/>
          </a:xfrm>
          <a:prstGeom prst="rect">
            <a:avLst/>
          </a:prstGeom>
        </p:spPr>
      </p:pic>
    </p:spTree>
  </p:cSld>
  <p:clrMapOvr>
    <a:masterClrMapping/>
  </p:clrMapOvr>
</p:sld>
</file>

<file path=ppt/theme/theme1.xml><?xml version="1.0" encoding="utf-8"?>
<a:theme xmlns:a="http://schemas.openxmlformats.org/drawingml/2006/main" name="Road Safety Predictive Analytics — Group Project Outline">
  <a:themeElements>
    <a:clrScheme name="Road Safety Predictive Analytics — Group Project Outline">
      <a:dk1>
        <a:srgbClr val="15213B"/>
      </a:dk1>
      <a:lt1>
        <a:srgbClr val="FBFBF8"/>
      </a:lt1>
      <a:dk2>
        <a:srgbClr val="4F586A"/>
      </a:dk2>
      <a:lt2>
        <a:srgbClr val="E4E5E5"/>
      </a:lt2>
      <a:accent1>
        <a:srgbClr val="B05A26"/>
      </a:accent1>
      <a:accent2>
        <a:srgbClr val="8B9099"/>
      </a:accent2>
      <a:accent3>
        <a:srgbClr val="46516B"/>
      </a:accent3>
      <a:accent4>
        <a:srgbClr val="C7CCDD"/>
      </a:accent4>
      <a:accent5>
        <a:srgbClr val="8B93AC"/>
      </a:accent5>
      <a:accent6>
        <a:srgbClr val="9AA0A6"/>
      </a:accent6>
      <a:hlink>
        <a:srgbClr val="0563C1"/>
      </a:hlink>
      <a:folHlink>
        <a:srgbClr val="954F72"/>
      </a:folHlink>
    </a:clrScheme>
    <a:fontScheme name="Road Safety Predictive Analytics — Group Project Outlin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 Safety Predictive Analytics — Group Project Outline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2026-10-24T14:21:49Z</dcterms:created>
  <dcterms:modified xsi:type="dcterms:W3CDTF">2026-10-24T14:21:49Z</dcterms:modified>
</cp:coreProperties>
</file>