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minute counts in the Golden Hour. At call intake, the dispatcher must choose between a standard response and advanced life support. We predict the probability that the crash is fatal, using only information known at that moment. Fatal crashes are rare, 4.8 percent overall and 7.1 percent recently, so choosing well is the whole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a trap: a model that never predicts a fatality is 93 percent accurate and useless. So we judge ranking quality with PR-AUC, and how many deaths we catch in the 15 percent of calls we can serve with ALS. The economic threshold is 2,500 euros divided by 50,000 euros, or 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2024 to 2025 test set, a random baseline captures 15 percent of fatal crashes in the top 15 percent of calls (7.11 percent precision, 1.00x lift). Our balanced logistic regression baseline captures 28.95 percent of fatal crashes in the top 15 percent of calls (13.72 percent precision, 1.93x lift)—nearly doubling triage efficiency. That is our benchmark to beat. The Brier score is higher (0.2499 vs. 0.0711) because class balancing inflates raw probabilities, so re-calibration is required before applying the 5 percent threshold.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5" y="812786"/>
            <a:ext cx="10566357" cy="475001"/>
          </a:xfrm>
          <a:prstGeom prst="rect">
            <a:avLst/>
          </a:prstGeom>
          <a:noFill/>
          <a:ln/>
        </p:spPr>
        <p:txBody>
          <a:bodyPr wrap="square" lIns="0" tIns="0" rIns="0" bIns="0" rtlCol="0" anchor="t"/>
          <a:lstStyle>
            <a:lvl1pPr algn="l" indent="0" marL="0">
              <a:lnSpc>
                <a:spcPct val="115000"/>
              </a:lnSpc>
              <a:buNone/>
              <a:defRPr lang="en-US" sz="34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785" y="1592586"/>
            <a:ext cx="10566415" cy="4452614"/>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5" y="812786"/>
            <a:ext cx="10566357" cy="475001"/>
          </a:xfrm>
          <a:prstGeom prst="rect">
            <a:avLst/>
          </a:prstGeom>
          <a:noFill/>
          <a:ln/>
        </p:spPr>
        <p:txBody>
          <a:bodyPr wrap="square" lIns="0" tIns="0" rIns="0" bIns="0" rtlCol="0" anchor="t"/>
          <a:lstStyle>
            <a:lvl1pPr algn="l" indent="0" marL="0">
              <a:lnSpc>
                <a:spcPct val="115000"/>
              </a:lnSpc>
              <a:buNone/>
              <a:defRPr lang="en-US" sz="34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785" y="1592586"/>
            <a:ext cx="10566415" cy="4452614"/>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785" y="812785"/>
            <a:ext cx="10883348" cy="1031258"/>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F0"/>
                </a:solidFill>
                <a:latin typeface="Arial" pitchFamily="34" charset="0"/>
                <a:ea typeface="Arial" pitchFamily="34" charset="-122"/>
                <a:cs typeface="Arial" pitchFamily="34" charset="-120"/>
              </a:rPr>
              <a:t>Golden Hour Triage: Which Crash Needs Advanced Life Support?</a:t>
            </a:r>
            <a:endParaRPr lang="en-US" sz="3600" dirty="0"/>
          </a:p>
        </p:txBody>
      </p:sp>
      <p:sp>
        <p:nvSpPr>
          <p:cNvPr id="3" name="Shape 1"/>
          <p:cNvSpPr/>
          <p:nvPr/>
        </p:nvSpPr>
        <p:spPr>
          <a:xfrm>
            <a:off x="812785" y="3485151"/>
            <a:ext cx="3386667" cy="2356850"/>
          </a:xfrm>
          <a:prstGeom prst="roundRect">
            <a:avLst>
              <a:gd name="adj" fmla="val 4311"/>
            </a:avLst>
          </a:prstGeom>
          <a:solidFill>
            <a:srgbClr val="1F3159"/>
          </a:solidFill>
          <a:ln/>
        </p:spPr>
      </p:sp>
      <p:sp>
        <p:nvSpPr>
          <p:cNvPr id="4" name="Text 2"/>
          <p:cNvSpPr/>
          <p:nvPr/>
        </p:nvSpPr>
        <p:spPr>
          <a:xfrm>
            <a:off x="1066712" y="3739078"/>
            <a:ext cx="2965178"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A54A"/>
                </a:solidFill>
                <a:latin typeface="Arial" pitchFamily="34" charset="0"/>
                <a:ea typeface="Arial" pitchFamily="34" charset="-122"/>
                <a:cs typeface="Arial" pitchFamily="34" charset="-120"/>
              </a:rPr>
              <a:t>THE DECISION</a:t>
            </a:r>
            <a:endParaRPr lang="en-US" sz="1600" dirty="0"/>
          </a:p>
        </p:txBody>
      </p:sp>
      <p:sp>
        <p:nvSpPr>
          <p:cNvPr id="5" name="Text 3"/>
          <p:cNvSpPr/>
          <p:nvPr/>
        </p:nvSpPr>
        <p:spPr>
          <a:xfrm>
            <a:off x="1066712" y="4084506"/>
            <a:ext cx="2965178" cy="108197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7F5F0"/>
                </a:solidFill>
                <a:latin typeface="Arial" pitchFamily="34" charset="0"/>
                <a:ea typeface="Arial" pitchFamily="34" charset="-122"/>
                <a:cs typeface="Arial" pitchFamily="34" charset="-120"/>
              </a:rPr>
              <a:t>At the emergency call (t=0): standard patrol and basic ambulance, or immediate ALS unit or helicopter?</a:t>
            </a:r>
            <a:endParaRPr lang="en-US" sz="1600" dirty="0"/>
          </a:p>
        </p:txBody>
      </p:sp>
      <p:sp>
        <p:nvSpPr>
          <p:cNvPr id="6" name="Shape 4"/>
          <p:cNvSpPr/>
          <p:nvPr/>
        </p:nvSpPr>
        <p:spPr>
          <a:xfrm>
            <a:off x="4402594" y="3485151"/>
            <a:ext cx="3386741" cy="2356850"/>
          </a:xfrm>
          <a:prstGeom prst="roundRect">
            <a:avLst>
              <a:gd name="adj" fmla="val 4311"/>
            </a:avLst>
          </a:prstGeom>
          <a:solidFill>
            <a:srgbClr val="1F3159"/>
          </a:solidFill>
          <a:ln/>
        </p:spPr>
      </p:sp>
      <p:sp>
        <p:nvSpPr>
          <p:cNvPr id="7" name="Text 5"/>
          <p:cNvSpPr/>
          <p:nvPr/>
        </p:nvSpPr>
        <p:spPr>
          <a:xfrm>
            <a:off x="4656520" y="3739078"/>
            <a:ext cx="2965254"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A54A"/>
                </a:solidFill>
                <a:latin typeface="Arial" pitchFamily="34" charset="0"/>
                <a:ea typeface="Arial" pitchFamily="34" charset="-122"/>
                <a:cs typeface="Arial" pitchFamily="34" charset="-120"/>
              </a:rPr>
              <a:t>THE PREDICTION</a:t>
            </a:r>
            <a:endParaRPr lang="en-US" sz="1600" dirty="0"/>
          </a:p>
        </p:txBody>
      </p:sp>
      <p:sp>
        <p:nvSpPr>
          <p:cNvPr id="8" name="Text 6"/>
          <p:cNvSpPr/>
          <p:nvPr/>
        </p:nvSpPr>
        <p:spPr>
          <a:xfrm>
            <a:off x="4656520" y="4084506"/>
            <a:ext cx="2965254" cy="817827"/>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7F5F0"/>
                </a:solidFill>
                <a:latin typeface="Arial" pitchFamily="34" charset="0"/>
                <a:ea typeface="Arial" pitchFamily="34" charset="-122"/>
                <a:cs typeface="Arial" pitchFamily="34" charset="-120"/>
              </a:rPr>
              <a:t>Probability that the crash is fatal (is_fatal = 1), using only what is known at call intake.</a:t>
            </a:r>
            <a:endParaRPr lang="en-US" sz="1600" dirty="0"/>
          </a:p>
        </p:txBody>
      </p:sp>
      <p:sp>
        <p:nvSpPr>
          <p:cNvPr id="9" name="Shape 7"/>
          <p:cNvSpPr/>
          <p:nvPr/>
        </p:nvSpPr>
        <p:spPr>
          <a:xfrm>
            <a:off x="7992476" y="3485151"/>
            <a:ext cx="3386667" cy="2356850"/>
          </a:xfrm>
          <a:prstGeom prst="roundRect">
            <a:avLst>
              <a:gd name="adj" fmla="val 4311"/>
            </a:avLst>
          </a:prstGeom>
          <a:solidFill>
            <a:srgbClr val="1F3159"/>
          </a:solidFill>
          <a:ln/>
        </p:spPr>
      </p:sp>
      <p:sp>
        <p:nvSpPr>
          <p:cNvPr id="10" name="Text 8"/>
          <p:cNvSpPr/>
          <p:nvPr/>
        </p:nvSpPr>
        <p:spPr>
          <a:xfrm>
            <a:off x="8246402" y="3739078"/>
            <a:ext cx="2965178"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A54A"/>
                </a:solidFill>
                <a:latin typeface="Arial" pitchFamily="34" charset="0"/>
                <a:ea typeface="Arial" pitchFamily="34" charset="-122"/>
                <a:cs typeface="Arial" pitchFamily="34" charset="-120"/>
              </a:rPr>
              <a:t>WHY IT MATTERS</a:t>
            </a:r>
            <a:endParaRPr lang="en-US" sz="1600" dirty="0"/>
          </a:p>
        </p:txBody>
      </p:sp>
      <p:sp>
        <p:nvSpPr>
          <p:cNvPr id="11" name="Text 9"/>
          <p:cNvSpPr/>
          <p:nvPr/>
        </p:nvSpPr>
        <p:spPr>
          <a:xfrm>
            <a:off x="8246402" y="4084506"/>
            <a:ext cx="2965178" cy="634971"/>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7F5F0"/>
                </a:solidFill>
                <a:latin typeface="Arial" pitchFamily="34" charset="0"/>
                <a:ea typeface="Arial" pitchFamily="34" charset="-122"/>
                <a:cs typeface="Arial" pitchFamily="34" charset="-120"/>
              </a:rPr>
              <a:t>7.11%</a:t>
            </a:r>
            <a:endParaRPr lang="en-US" sz="4800" dirty="0"/>
          </a:p>
        </p:txBody>
      </p:sp>
      <p:sp>
        <p:nvSpPr>
          <p:cNvPr id="12" name="Text 10"/>
          <p:cNvSpPr/>
          <p:nvPr/>
        </p:nvSpPr>
        <p:spPr>
          <a:xfrm>
            <a:off x="8246402" y="4795647"/>
            <a:ext cx="2965178" cy="817827"/>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7F5F0"/>
                </a:solidFill>
                <a:latin typeface="Arial" pitchFamily="34" charset="0"/>
                <a:ea typeface="Arial" pitchFamily="34" charset="-122"/>
                <a:cs typeface="Arial" pitchFamily="34" charset="-120"/>
              </a:rPr>
              <a:t>of 2024–2025 crashes are fatal (4.81% overall). Rare, so we must pick well.</a:t>
            </a:r>
            <a:endParaRPr lang="en-US" sz="1600" dirty="0"/>
          </a:p>
        </p:txBody>
      </p:sp>
      <p:sp>
        <p:nvSpPr>
          <p:cNvPr id="13" name="Text 11"/>
          <p:cNvSpPr/>
          <p:nvPr/>
        </p:nvSpPr>
        <p:spPr>
          <a:xfrm>
            <a:off x="812785" y="6238214"/>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AB4C8"/>
                </a:solidFill>
                <a:latin typeface="Arial" pitchFamily="34" charset="0"/>
                <a:ea typeface="Arial" pitchFamily="34" charset="-122"/>
                <a:cs typeface="Arial" pitchFamily="34" charset="-120"/>
              </a:rPr>
              <a:t>Target: is_fatal = 1 when accident_classification = 2 · Unit: one collision · Segment: all federal highway crashes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785" y="812785"/>
            <a:ext cx="10883348" cy="52832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Metrics: Why 93% Accuracy Is a Trap</a:t>
            </a:r>
            <a:endParaRPr lang="en-US" sz="3600" dirty="0"/>
          </a:p>
        </p:txBody>
      </p:sp>
      <p:sp>
        <p:nvSpPr>
          <p:cNvPr id="3" name="Shape 1"/>
          <p:cNvSpPr/>
          <p:nvPr/>
        </p:nvSpPr>
        <p:spPr>
          <a:xfrm>
            <a:off x="815960" y="2423231"/>
            <a:ext cx="5175221" cy="1603052"/>
          </a:xfrm>
          <a:prstGeom prst="roundRect">
            <a:avLst>
              <a:gd name="adj" fmla="val 6140"/>
            </a:avLst>
          </a:prstGeom>
          <a:solidFill>
            <a:srgbClr val="FFFFFF"/>
          </a:solidFill>
          <a:ln w="6350">
            <a:solidFill>
              <a:srgbClr val="D9D6CC"/>
            </a:solidFill>
            <a:prstDash val="solid"/>
          </a:ln>
        </p:spPr>
      </p:sp>
      <p:sp>
        <p:nvSpPr>
          <p:cNvPr id="4" name="Text 2"/>
          <p:cNvSpPr/>
          <p:nvPr/>
        </p:nvSpPr>
        <p:spPr>
          <a:xfrm>
            <a:off x="1071416" y="2678686"/>
            <a:ext cx="4804240" cy="513115"/>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C8641A"/>
                </a:solidFill>
                <a:latin typeface="Arial" pitchFamily="34" charset="0"/>
                <a:ea typeface="Arial" pitchFamily="34" charset="-122"/>
                <a:cs typeface="Arial" pitchFamily="34" charset="-120"/>
              </a:rPr>
              <a:t>93% accuracy</a:t>
            </a:r>
            <a:endParaRPr lang="en-US" sz="3200" dirty="0"/>
          </a:p>
        </p:txBody>
      </p:sp>
      <p:sp>
        <p:nvSpPr>
          <p:cNvPr id="5" name="Text 3"/>
          <p:cNvSpPr/>
          <p:nvPr/>
        </p:nvSpPr>
        <p:spPr>
          <a:xfrm>
            <a:off x="1071416" y="3242543"/>
            <a:ext cx="4804240" cy="553685"/>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213D"/>
                </a:solidFill>
                <a:latin typeface="Arial" pitchFamily="34" charset="0"/>
                <a:ea typeface="Arial" pitchFamily="34" charset="-122"/>
                <a:cs typeface="Arial" pitchFamily="34" charset="-120"/>
              </a:rPr>
              <a:t>“No fatality, ever” scores 92.89% and catches 0% of deaths.</a:t>
            </a:r>
            <a:endParaRPr lang="en-US" sz="1600" dirty="0"/>
          </a:p>
        </p:txBody>
      </p:sp>
      <p:sp>
        <p:nvSpPr>
          <p:cNvPr id="6" name="Shape 4"/>
          <p:cNvSpPr/>
          <p:nvPr/>
        </p:nvSpPr>
        <p:spPr>
          <a:xfrm>
            <a:off x="6200673" y="2423231"/>
            <a:ext cx="5175295" cy="1603052"/>
          </a:xfrm>
          <a:prstGeom prst="roundRect">
            <a:avLst>
              <a:gd name="adj" fmla="val 6140"/>
            </a:avLst>
          </a:prstGeom>
          <a:solidFill>
            <a:srgbClr val="FFFFFF"/>
          </a:solidFill>
          <a:ln w="6350">
            <a:solidFill>
              <a:srgbClr val="D9D6CC"/>
            </a:solidFill>
            <a:prstDash val="solid"/>
          </a:ln>
        </p:spPr>
      </p:sp>
      <p:sp>
        <p:nvSpPr>
          <p:cNvPr id="7" name="Text 5"/>
          <p:cNvSpPr/>
          <p:nvPr/>
        </p:nvSpPr>
        <p:spPr>
          <a:xfrm>
            <a:off x="6456128" y="2678686"/>
            <a:ext cx="4804316" cy="513115"/>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1D6F6B"/>
                </a:solidFill>
                <a:latin typeface="Arial" pitchFamily="34" charset="0"/>
                <a:ea typeface="Arial" pitchFamily="34" charset="-122"/>
                <a:cs typeface="Arial" pitchFamily="34" charset="-120"/>
              </a:rPr>
              <a:t>PR-AUC</a:t>
            </a:r>
            <a:endParaRPr lang="en-US" sz="3200" dirty="0"/>
          </a:p>
        </p:txBody>
      </p:sp>
      <p:sp>
        <p:nvSpPr>
          <p:cNvPr id="8" name="Text 6"/>
          <p:cNvSpPr/>
          <p:nvPr/>
        </p:nvSpPr>
        <p:spPr>
          <a:xfrm>
            <a:off x="6456128" y="3242543"/>
            <a:ext cx="4804316" cy="553685"/>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213D"/>
                </a:solidFill>
                <a:latin typeface="Arial" pitchFamily="34" charset="0"/>
                <a:ea typeface="Arial" pitchFamily="34" charset="-122"/>
                <a:cs typeface="Arial" pitchFamily="34" charset="-120"/>
              </a:rPr>
              <a:t>Ranking quality on a rare event. Random scores 0.0711 on the test set.</a:t>
            </a:r>
            <a:endParaRPr lang="en-US" sz="1600" dirty="0"/>
          </a:p>
        </p:txBody>
      </p:sp>
      <p:sp>
        <p:nvSpPr>
          <p:cNvPr id="9" name="Shape 7"/>
          <p:cNvSpPr/>
          <p:nvPr/>
        </p:nvSpPr>
        <p:spPr>
          <a:xfrm>
            <a:off x="815960" y="4235774"/>
            <a:ext cx="5175221" cy="1603052"/>
          </a:xfrm>
          <a:prstGeom prst="roundRect">
            <a:avLst>
              <a:gd name="adj" fmla="val 6140"/>
            </a:avLst>
          </a:prstGeom>
          <a:solidFill>
            <a:srgbClr val="FFFFFF"/>
          </a:solidFill>
          <a:ln w="6350">
            <a:solidFill>
              <a:srgbClr val="D9D6CC"/>
            </a:solidFill>
            <a:prstDash val="solid"/>
          </a:ln>
        </p:spPr>
      </p:sp>
      <p:sp>
        <p:nvSpPr>
          <p:cNvPr id="10" name="Text 8"/>
          <p:cNvSpPr/>
          <p:nvPr/>
        </p:nvSpPr>
        <p:spPr>
          <a:xfrm>
            <a:off x="1071416" y="4491230"/>
            <a:ext cx="4804240" cy="513115"/>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1D6F6B"/>
                </a:solidFill>
                <a:latin typeface="Arial" pitchFamily="34" charset="0"/>
                <a:ea typeface="Arial" pitchFamily="34" charset="-122"/>
                <a:cs typeface="Arial" pitchFamily="34" charset="-120"/>
              </a:rPr>
              <a:t>Top-15% rule</a:t>
            </a:r>
            <a:endParaRPr lang="en-US" sz="3200" dirty="0"/>
          </a:p>
        </p:txBody>
      </p:sp>
      <p:sp>
        <p:nvSpPr>
          <p:cNvPr id="11" name="Text 9"/>
          <p:cNvSpPr/>
          <p:nvPr/>
        </p:nvSpPr>
        <p:spPr>
          <a:xfrm>
            <a:off x="1071416" y="5055086"/>
            <a:ext cx="4804240" cy="553685"/>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213D"/>
                </a:solidFill>
                <a:latin typeface="Arial" pitchFamily="34" charset="0"/>
                <a:ea typeface="Arial" pitchFamily="34" charset="-122"/>
                <a:cs typeface="Arial" pitchFamily="34" charset="-120"/>
              </a:rPr>
              <a:t>ALS can serve 15% of calls. We measure recall and lift inside that slice.</a:t>
            </a:r>
            <a:endParaRPr lang="en-US" sz="1600" dirty="0"/>
          </a:p>
        </p:txBody>
      </p:sp>
      <p:sp>
        <p:nvSpPr>
          <p:cNvPr id="12" name="Shape 10"/>
          <p:cNvSpPr/>
          <p:nvPr/>
        </p:nvSpPr>
        <p:spPr>
          <a:xfrm>
            <a:off x="6197498" y="4232599"/>
            <a:ext cx="5181645" cy="1609402"/>
          </a:xfrm>
          <a:prstGeom prst="roundRect">
            <a:avLst>
              <a:gd name="adj" fmla="val 6313"/>
            </a:avLst>
          </a:prstGeom>
          <a:solidFill>
            <a:srgbClr val="14213D"/>
          </a:solidFill>
          <a:ln/>
        </p:spPr>
      </p:sp>
      <p:sp>
        <p:nvSpPr>
          <p:cNvPr id="13" name="Text 11"/>
          <p:cNvSpPr/>
          <p:nvPr/>
        </p:nvSpPr>
        <p:spPr>
          <a:xfrm>
            <a:off x="6451424" y="4486525"/>
            <a:ext cx="4814006" cy="513115"/>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5A54A"/>
                </a:solidFill>
                <a:latin typeface="Arial" pitchFamily="34" charset="0"/>
                <a:ea typeface="Arial" pitchFamily="34" charset="-122"/>
                <a:cs typeface="Arial" pitchFamily="34" charset="-120"/>
              </a:rPr>
              <a:t>p* = 5.0%</a:t>
            </a:r>
            <a:endParaRPr lang="en-US" sz="3200" dirty="0"/>
          </a:p>
        </p:txBody>
      </p:sp>
      <p:sp>
        <p:nvSpPr>
          <p:cNvPr id="14" name="Text 12"/>
          <p:cNvSpPr/>
          <p:nvPr/>
        </p:nvSpPr>
        <p:spPr>
          <a:xfrm>
            <a:off x="6451424" y="5050382"/>
            <a:ext cx="4814006" cy="553685"/>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7F5F0"/>
                </a:solidFill>
                <a:latin typeface="Arial" pitchFamily="34" charset="0"/>
                <a:ea typeface="Arial" pitchFamily="34" charset="-122"/>
                <a:cs typeface="Arial" pitchFamily="34" charset="-120"/>
              </a:rPr>
              <a:t>€2,500 ALS cost ÷ €50,000 prevented-death benefit. Dispatch above 5% risk.</a:t>
            </a:r>
            <a:endParaRPr lang="en-US" sz="1600" dirty="0"/>
          </a:p>
        </p:txBody>
      </p:sp>
      <p:sp>
        <p:nvSpPr>
          <p:cNvPr id="15" name="Text 13"/>
          <p:cNvSpPr/>
          <p:nvPr/>
        </p:nvSpPr>
        <p:spPr>
          <a:xfrm>
            <a:off x="812785" y="6238215"/>
            <a:ext cx="1088334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Arial" pitchFamily="34" charset="0"/>
                <a:ea typeface="Arial" pitchFamily="34" charset="-122"/>
                <a:cs typeface="Arial" pitchFamily="34" charset="-120"/>
              </a:rPr>
              <a:t>Brier Score checks that predicted probabilities are trustworthy (lower is better).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785" y="812786"/>
            <a:ext cx="10883348"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Arial" pitchFamily="34" charset="0"/>
                <a:ea typeface="Arial" pitchFamily="34" charset="-122"/>
                <a:cs typeface="Arial" pitchFamily="34" charset="-120"/>
              </a:rPr>
              <a:t>Baseline Results: Out-of-Time Test Set (2024–2025)</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193" y="1640858"/>
          <a:ext cx="10556950" cy="3301339"/>
        </p:xfrm>
        <a:graphic>
          <a:graphicData uri="http://schemas.openxmlformats.org/drawingml/2006/table">
            <a:tbl>
              <a:tblPr/>
              <a:tblGrid>
                <a:gridCol w="3518983"/>
                <a:gridCol w="3518983"/>
                <a:gridCol w="3518983"/>
              </a:tblGrid>
              <a:tr h="471620">
                <a:tc>
                  <a:txBody>
                    <a:bodyPr/>
                    <a:lstStyle/>
                    <a:p>
                      <a:pPr indent="0" marL="0">
                        <a:lnSpc>
                          <a:spcPts val="2240"/>
                        </a:lnSpc>
                        <a:buNone/>
                      </a:pPr>
                      <a:r>
                        <a:rPr lang="en-US" sz="1600" b="1" dirty="0">
                          <a:solidFill>
                            <a:srgbClr val="F7F5F0"/>
                          </a:solidFill>
                          <a:latin typeface="Arial" pitchFamily="34" charset="0"/>
                          <a:ea typeface="Arial" pitchFamily="34" charset="-122"/>
                          <a:cs typeface="Arial" pitchFamily="34" charset="-120"/>
                        </a:rPr>
                        <a:t>Metric</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240"/>
                        </a:lnSpc>
                        <a:buNone/>
                      </a:pPr>
                      <a:r>
                        <a:rPr lang="en-US" sz="1600" b="1" dirty="0">
                          <a:solidFill>
                            <a:srgbClr val="F7F5F0"/>
                          </a:solidFill>
                          <a:latin typeface="Arial" pitchFamily="34" charset="0"/>
                          <a:ea typeface="Arial" pitchFamily="34" charset="-122"/>
                          <a:cs typeface="Arial" pitchFamily="34" charset="-120"/>
                        </a:rPr>
                        <a:t>Dummy (Baseline)</a:t>
                      </a:r>
                      <a:endParaRPr lang="en-US" sz="1600" dirty="0">
                        <a:latin typeface="Arial" charset="0"/>
                        <a:ea typeface="Arial" charset="0"/>
                        <a:cs typeface="Arial" charset="0"/>
                      </a:endParaRPr>
                    </a:p>
                  </a:txBody>
                  <a:tcPr marL="127000" marR="127000" marT="88900" marB="889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240"/>
                        </a:lnSpc>
                        <a:buNone/>
                      </a:pPr>
                      <a:r>
                        <a:rPr lang="en-US" sz="1600" b="1" dirty="0">
                          <a:solidFill>
                            <a:srgbClr val="F5A54A"/>
                          </a:solidFill>
                          <a:latin typeface="Arial" pitchFamily="34" charset="0"/>
                          <a:ea typeface="Arial" pitchFamily="34" charset="-122"/>
                          <a:cs typeface="Arial" pitchFamily="34" charset="-120"/>
                        </a:rPr>
                        <a:t>Balanced Logistic Regression</a:t>
                      </a:r>
                      <a:endParaRPr lang="en-US" sz="1600" dirty="0">
                        <a:latin typeface="Arial" charset="0"/>
                        <a:ea typeface="Arial" charset="0"/>
                        <a:cs typeface="Arial" charset="0"/>
                      </a:endParaRPr>
                    </a:p>
                  </a:txBody>
                  <a:tcPr marL="127000" marR="127000" marT="88900" marB="8890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71620">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ROC-AUC</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0.5000</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0.6643</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71620">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PR-AUC</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0.0711</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0.1158</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71620">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Recall @ Top 15%</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15.00%</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28.95%</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71620">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Precision @ Top 15%</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7.11%</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13.72%</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71620">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Lift @ Top 15%</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1.00x</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D6F6B"/>
                          </a:solidFill>
                          <a:latin typeface="Arial" pitchFamily="34" charset="0"/>
                          <a:ea typeface="Arial" pitchFamily="34" charset="-122"/>
                          <a:cs typeface="Arial" pitchFamily="34" charset="-120"/>
                        </a:rPr>
                        <a:t>1.93x</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71620">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Brier Score</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0.0711</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240"/>
                        </a:lnSpc>
                        <a:buNone/>
                      </a:pPr>
                      <a:r>
                        <a:rPr lang="en-US" sz="1600" dirty="0">
                          <a:solidFill>
                            <a:srgbClr val="C8641A"/>
                          </a:solidFill>
                          <a:latin typeface="Arial" pitchFamily="34" charset="0"/>
                          <a:ea typeface="Arial" pitchFamily="34" charset="-122"/>
                          <a:cs typeface="Arial" pitchFamily="34" charset="-120"/>
                        </a:rPr>
                        <a:t>0.2499</a:t>
                      </a:r>
                      <a:endParaRPr lang="en-US" sz="1600" dirty="0">
                        <a:latin typeface="Arial" charset="0"/>
                        <a:ea typeface="Arial" charset="0"/>
                        <a:cs typeface="Arial" charset="0"/>
                      </a:endParaRPr>
                    </a:p>
                  </a:txBody>
                  <a:tcPr marL="127000" marR="127000" marT="88900" marB="889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4" name="Text 1"/>
          <p:cNvSpPr/>
          <p:nvPr/>
        </p:nvSpPr>
        <p:spPr>
          <a:xfrm>
            <a:off x="812785" y="5313716"/>
            <a:ext cx="10883348" cy="553685"/>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213D"/>
                </a:solidFill>
                <a:latin typeface="Arial" pitchFamily="34" charset="0"/>
                <a:ea typeface="Arial" pitchFamily="34" charset="-122"/>
                <a:cs typeface="Arial" pitchFamily="34" charset="-120"/>
              </a:rPr>
              <a:t>Takeaway:</a:t>
            </a:r>
            <a:r>
              <a:rPr lang="en-US" sz="1600" dirty="0">
                <a:solidFill>
                  <a:srgbClr val="14213D"/>
                </a:solidFill>
                <a:latin typeface="Arial" pitchFamily="34" charset="0"/>
                <a:ea typeface="Arial" pitchFamily="34" charset="-122"/>
                <a:cs typeface="Arial" pitchFamily="34" charset="-120"/>
              </a:rPr>
              <a:t> The baseline finds fatal crashes 1.93x better than chance. Its probabilities need re-calibration before the 5% threshold is applied.</a:t>
            </a:r>
            <a:endParaRPr lang="en-US" sz="1600" dirty="0"/>
          </a:p>
        </p:txBody>
      </p:sp>
    </p:spTree>
  </p:cSld>
  <p:clrMapOvr>
    <a:masterClrMapping/>
  </p:clrMapOvr>
</p:sld>
</file>

<file path=ppt/theme/theme1.xml><?xml version="1.0" encoding="utf-8"?>
<a:theme xmlns:a="http://schemas.openxmlformats.org/drawingml/2006/main" name="Golden Hour Triage: Problem, Metrics &amp; Baseline">
  <a:themeElements>
    <a:clrScheme name="Golden Hour Triage: Problem, Metrics &amp; Baseline">
      <a:dk1>
        <a:srgbClr val="14213D"/>
      </a:dk1>
      <a:lt1>
        <a:srgbClr val="F7F5F0"/>
      </a:lt1>
      <a:dk2>
        <a:srgbClr val="4D566A"/>
      </a:dk2>
      <a:lt2>
        <a:srgbClr val="E0E0DE"/>
      </a:lt2>
      <a:accent1>
        <a:srgbClr val="F5A54A"/>
      </a:accent1>
      <a:accent2>
        <a:srgbClr val="1F3159"/>
      </a:accent2>
      <a:accent3>
        <a:srgbClr val="1D6F6B"/>
      </a:accent3>
      <a:accent4>
        <a:srgbClr val="C8641A"/>
      </a:accent4>
      <a:accent5>
        <a:srgbClr val="AAB4C8"/>
      </a:accent5>
      <a:accent6>
        <a:srgbClr val="5B6577"/>
      </a:accent6>
      <a:hlink>
        <a:srgbClr val="0563C1"/>
      </a:hlink>
      <a:folHlink>
        <a:srgbClr val="954F72"/>
      </a:folHlink>
    </a:clrScheme>
    <a:fontScheme name="Golden Hour Triage: Problem, Metrics &amp; Baseli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Golden Hour Triage: Problem, Metrics &amp; Baseline</dc:title>
  <dc:subject/>
  <dc:creator/>
  <cp:lastModifiedBy/>
  <cp:revision>1</cp:revision>
  <dcterms:created xsi:type="dcterms:W3CDTF">2026-10-22T23:43:48Z</dcterms:created>
  <dcterms:modified xsi:type="dcterms:W3CDTF">2026-10-22T23:43:48Z</dcterms:modified>
</cp:coreProperties>
</file>